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sldIdLst>
    <p:sldId id="256" r:id="rId2"/>
    <p:sldId id="276" r:id="rId3"/>
    <p:sldId id="319" r:id="rId4"/>
    <p:sldId id="320" r:id="rId5"/>
    <p:sldId id="321" r:id="rId6"/>
    <p:sldId id="317" r:id="rId7"/>
    <p:sldId id="313" r:id="rId8"/>
    <p:sldId id="316" r:id="rId9"/>
    <p:sldId id="315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CD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658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177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401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27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61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109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560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485584D-7D79-4248-9986-4CA35242F94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227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62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92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99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485584D-7D79-4248-9986-4CA35242F94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02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3B3B6C5-748F-437C-AE76-DB11FEA99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7CEB5D-9BB2-475C-BA8D-AC88BB8C9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2"/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F5B4BB-0353-E5E5-2D0A-D974D46FC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12470" y="965199"/>
            <a:ext cx="8079530" cy="49276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b="1" dirty="0">
                <a:latin typeface="Bell MT" panose="02020503060305020303" pitchFamily="18" charset="0"/>
              </a:rPr>
              <a:t>Communication Skills Lab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7F7701-EEBA-1EBF-B523-19206EE6108A}"/>
              </a:ext>
            </a:extLst>
          </p:cNvPr>
          <p:cNvSpPr txBox="1"/>
          <p:nvPr/>
        </p:nvSpPr>
        <p:spPr>
          <a:xfrm>
            <a:off x="378143" y="965198"/>
            <a:ext cx="3621170" cy="4927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sz="2000" b="1" cap="all" spc="200" dirty="0">
                <a:solidFill>
                  <a:schemeClr val="tx2"/>
                </a:solidFill>
                <a:latin typeface="+mj-lt"/>
              </a:rPr>
              <a:t>Practice session on Pronunciation, Consonant Clusters,  Syllables, Stress and Intonation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B14AD1F-ADD5-46E7-966F-4C0290232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891" y="2057399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38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230A27-1553-42F8-99D7-829868E13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72232D-B4D6-429F-B3D1-2D9891B85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2"/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C2392C-FA33-DE1E-247F-80FB1E21B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61" y="963997"/>
            <a:ext cx="3875663" cy="4938361"/>
          </a:xfrm>
        </p:spPr>
        <p:txBody>
          <a:bodyPr anchor="ctr">
            <a:normAutofit/>
          </a:bodyPr>
          <a:lstStyle/>
          <a:p>
            <a:pPr algn="ctr"/>
            <a:r>
              <a:rPr lang="en-IN" sz="4400" b="1" dirty="0">
                <a:latin typeface="Bell MT" panose="02020503060305020303" pitchFamily="18" charset="0"/>
              </a:rPr>
              <a:t>Practice Session on Pronunciation</a:t>
            </a:r>
            <a:br>
              <a:rPr lang="en-IN" sz="4400" b="1" dirty="0">
                <a:latin typeface="Bell MT" panose="02020503060305020303" pitchFamily="18" charset="0"/>
              </a:rPr>
            </a:br>
            <a:endParaRPr lang="en-IN" sz="4400" b="1" dirty="0">
              <a:latin typeface="Bell MT" panose="02020503060305020303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CC3441-26B3-4381-B3DF-8AE3C288B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251" y="2057399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2B677-1703-8F2D-82BC-08FD25029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882" y="963507"/>
            <a:ext cx="6135097" cy="4938851"/>
          </a:xfrm>
        </p:spPr>
        <p:txBody>
          <a:bodyPr anchor="ctr"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endParaRPr lang="en-IN" sz="1800" b="1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IN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85800"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EAB66AD-1F13-1F57-39E2-32149B4F9765}"/>
              </a:ext>
            </a:extLst>
          </p:cNvPr>
          <p:cNvSpPr txBox="1">
            <a:spLocks/>
          </p:cNvSpPr>
          <p:nvPr/>
        </p:nvSpPr>
        <p:spPr>
          <a:xfrm>
            <a:off x="5080782" y="345112"/>
            <a:ext cx="7197804" cy="639225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lnSpc>
                <a:spcPct val="107000"/>
              </a:lnSpc>
              <a:buFont typeface="+mj-lt"/>
              <a:buAutoNum type="romanLcPeriod"/>
            </a:pPr>
            <a:endParaRPr lang="en-IN" sz="25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buFont typeface="+mj-lt"/>
              <a:buAutoNum type="romanLcPeriod"/>
            </a:pPr>
            <a:endParaRPr lang="en-IN" sz="25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41D3998-7EDE-FBC9-6AB2-4A3E2564A0F2}"/>
              </a:ext>
            </a:extLst>
          </p:cNvPr>
          <p:cNvSpPr txBox="1">
            <a:spLocks/>
          </p:cNvSpPr>
          <p:nvPr/>
        </p:nvSpPr>
        <p:spPr>
          <a:xfrm>
            <a:off x="5233182" y="497513"/>
            <a:ext cx="6583155" cy="571078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</a:pPr>
            <a:r>
              <a:rPr lang="en-IN" sz="2500" b="1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Vowel sounds (IPA)</a:t>
            </a:r>
          </a:p>
          <a:p>
            <a:pPr>
              <a:lnSpc>
                <a:spcPct val="107000"/>
              </a:lnSpc>
            </a:pPr>
            <a:r>
              <a:rPr lang="en-IN" sz="2500" b="1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Short vowels</a:t>
            </a:r>
          </a:p>
          <a:p>
            <a:pPr>
              <a:lnSpc>
                <a:spcPct val="107000"/>
              </a:lnSpc>
            </a:pPr>
            <a:r>
              <a:rPr lang="en-IN" sz="25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/I/ : kit, hymn, minute, win, the</a:t>
            </a:r>
          </a:p>
          <a:p>
            <a:pPr>
              <a:lnSpc>
                <a:spcPct val="107000"/>
              </a:lnSpc>
            </a:pPr>
            <a:r>
              <a:rPr lang="en-IN" sz="25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/e/: pet, vent, pest</a:t>
            </a:r>
          </a:p>
          <a:p>
            <a:pPr>
              <a:lnSpc>
                <a:spcPct val="107000"/>
              </a:lnSpc>
            </a:pPr>
            <a:r>
              <a:rPr lang="en-IN" sz="25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æ/: pat, flat, family</a:t>
            </a:r>
          </a:p>
          <a:p>
            <a:pPr>
              <a:lnSpc>
                <a:spcPct val="107000"/>
              </a:lnSpc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/ʌ/: cut, jump, cover</a:t>
            </a:r>
          </a:p>
          <a:p>
            <a:pPr>
              <a:lnSpc>
                <a:spcPct val="107000"/>
              </a:lnSpc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/ʊ/: put, book, cushion</a:t>
            </a:r>
          </a:p>
          <a:p>
            <a:pPr>
              <a:lnSpc>
                <a:spcPct val="107000"/>
              </a:lnSpc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/ɒ/: pot, dog, blot</a:t>
            </a:r>
          </a:p>
          <a:p>
            <a:pPr>
              <a:lnSpc>
                <a:spcPct val="107000"/>
              </a:lnSpc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/ə/: About, the   (used in case of unstressed syllables)</a:t>
            </a:r>
            <a:endParaRPr lang="en-IN" sz="25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buFont typeface="+mj-lt"/>
              <a:buAutoNum type="romanLcPeriod"/>
            </a:pPr>
            <a:endParaRPr lang="en-IN" sz="25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buFont typeface="+mj-lt"/>
              <a:buAutoNum type="romanLcPeriod"/>
            </a:pPr>
            <a:endParaRPr lang="en-IN" sz="25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909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C0B42C-8976-DD2F-0E0F-2FA98C457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43B409F-214C-3BB6-345B-C172ACE5A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EE8C17-D4D9-96F3-9CEB-11FD61797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2"/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E3AC1-6072-0EB9-F1A8-5D0197072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61" y="963997"/>
            <a:ext cx="3875663" cy="4938361"/>
          </a:xfrm>
        </p:spPr>
        <p:txBody>
          <a:bodyPr anchor="ctr">
            <a:normAutofit/>
          </a:bodyPr>
          <a:lstStyle/>
          <a:p>
            <a:pPr algn="ctr"/>
            <a:r>
              <a:rPr lang="en-IN" sz="4400" b="1" dirty="0">
                <a:latin typeface="Bell MT" panose="02020503060305020303" pitchFamily="18" charset="0"/>
              </a:rPr>
              <a:t>Practice Session on Pronunciation</a:t>
            </a:r>
            <a:br>
              <a:rPr lang="en-IN" sz="4400" b="1" dirty="0">
                <a:latin typeface="Bell MT" panose="02020503060305020303" pitchFamily="18" charset="0"/>
              </a:rPr>
            </a:br>
            <a:endParaRPr lang="en-IN" sz="4400" b="1" dirty="0">
              <a:latin typeface="Bell MT" panose="02020503060305020303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D14E39-4D9E-C971-DF4F-44AB553E1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251" y="2057399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63B97-2001-17F4-27B5-6A78AE662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882" y="963507"/>
            <a:ext cx="6135097" cy="4938851"/>
          </a:xfrm>
        </p:spPr>
        <p:txBody>
          <a:bodyPr anchor="ctr"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endParaRPr lang="en-IN" sz="1800" b="1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IN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85800"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B376A2C-B92D-2276-96BC-682108A0DA5F}"/>
              </a:ext>
            </a:extLst>
          </p:cNvPr>
          <p:cNvSpPr txBox="1">
            <a:spLocks/>
          </p:cNvSpPr>
          <p:nvPr/>
        </p:nvSpPr>
        <p:spPr>
          <a:xfrm>
            <a:off x="5080782" y="345112"/>
            <a:ext cx="7197804" cy="639225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lnSpc>
                <a:spcPct val="107000"/>
              </a:lnSpc>
              <a:buFont typeface="+mj-lt"/>
              <a:buAutoNum type="romanLcPeriod"/>
            </a:pPr>
            <a:endParaRPr lang="en-IN" sz="25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buFont typeface="+mj-lt"/>
              <a:buAutoNum type="romanLcPeriod"/>
            </a:pPr>
            <a:endParaRPr lang="en-IN" sz="25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0961451-A6D3-8B0D-B2F8-B4AF65A1D073}"/>
              </a:ext>
            </a:extLst>
          </p:cNvPr>
          <p:cNvSpPr txBox="1">
            <a:spLocks/>
          </p:cNvSpPr>
          <p:nvPr/>
        </p:nvSpPr>
        <p:spPr>
          <a:xfrm>
            <a:off x="4971816" y="497513"/>
            <a:ext cx="6844521" cy="571078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</a:pPr>
            <a:r>
              <a:rPr lang="en-IN" sz="2500" b="1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Vowel sounds (IPA)</a:t>
            </a:r>
          </a:p>
          <a:p>
            <a:pPr>
              <a:lnSpc>
                <a:spcPct val="107000"/>
              </a:lnSpc>
            </a:pPr>
            <a:r>
              <a:rPr lang="en-IN" sz="2500" b="1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Long vowels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/i:/  :   He, she, the, sheet  </a:t>
            </a: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/ɑ:/  :   hard, park, article</a:t>
            </a: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/ɔ:/  :   walk, August</a:t>
            </a: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/ɜ:/  : word, surface</a:t>
            </a: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/u:/   boot, group </a:t>
            </a:r>
            <a:endParaRPr lang="en-IN" sz="25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E9F0F4-61D7-5027-A763-4B41F81A030F}"/>
              </a:ext>
            </a:extLst>
          </p:cNvPr>
          <p:cNvSpPr txBox="1"/>
          <p:nvPr/>
        </p:nvSpPr>
        <p:spPr>
          <a:xfrm>
            <a:off x="6168129" y="3929232"/>
            <a:ext cx="5648208" cy="27084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 fontAlgn="base">
              <a:lnSpc>
                <a:spcPts val="1800"/>
              </a:lnSpc>
              <a:buNone/>
            </a:pPr>
            <a:endParaRPr lang="en-IN" sz="2500" b="0" i="0" dirty="0">
              <a:solidFill>
                <a:srgbClr val="25252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lnSpc>
                <a:spcPts val="1800"/>
              </a:lnSpc>
              <a:buNone/>
            </a:pPr>
            <a:r>
              <a:rPr lang="en-IN" sz="2500" b="0" i="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shor</a:t>
            </a:r>
            <a:r>
              <a:rPr lang="en-IN" sz="2500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and long vowels</a:t>
            </a:r>
          </a:p>
          <a:p>
            <a:pPr algn="l" fontAlgn="base">
              <a:lnSpc>
                <a:spcPts val="1800"/>
              </a:lnSpc>
              <a:buNone/>
            </a:pPr>
            <a:endParaRPr lang="en-IN" sz="2500" dirty="0">
              <a:solidFill>
                <a:srgbClr val="2525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None/>
            </a:pPr>
            <a:r>
              <a:rPr lang="en-IN" sz="2500" b="0" i="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hit /</a:t>
            </a:r>
            <a:r>
              <a:rPr lang="en-IN" sz="2500" b="0" i="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hɪt</a:t>
            </a:r>
            <a:r>
              <a:rPr lang="en-IN" sz="2500" b="0" i="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           –      heat /</a:t>
            </a:r>
            <a:r>
              <a:rPr lang="en-IN" sz="2500" b="0" i="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hiːt</a:t>
            </a:r>
            <a:r>
              <a:rPr lang="en-IN" sz="2500" b="0" i="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br>
              <a:rPr lang="en-IN" sz="2500" b="0" i="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b="0" i="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pick /</a:t>
            </a:r>
            <a:r>
              <a:rPr lang="en-IN" sz="2500" b="0" i="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pɪk</a:t>
            </a:r>
            <a:r>
              <a:rPr lang="en-IN" sz="2500" b="0" i="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       –      peak /</a:t>
            </a:r>
            <a:r>
              <a:rPr lang="en-IN" sz="2500" b="0" i="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piːk</a:t>
            </a:r>
            <a:r>
              <a:rPr lang="en-IN" sz="2500" b="0" i="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br>
              <a:rPr lang="en-IN" sz="2500" b="0" i="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b="0" i="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lick /</a:t>
            </a:r>
            <a:r>
              <a:rPr lang="en-IN" sz="2500" b="0" i="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lɪk</a:t>
            </a:r>
            <a:r>
              <a:rPr lang="en-IN" sz="2500" b="0" i="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          –      leak /</a:t>
            </a:r>
            <a:r>
              <a:rPr lang="en-IN" sz="2500" b="0" i="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liːck</a:t>
            </a:r>
            <a:r>
              <a:rPr lang="en-IN" sz="2500" b="0" i="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l" fontAlgn="base">
              <a:buNone/>
            </a:pPr>
            <a:r>
              <a:rPr lang="en-IN" sz="2500" b="0" i="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duck /</a:t>
            </a:r>
            <a:r>
              <a:rPr lang="en-IN" sz="2500" b="0" i="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dʌk</a:t>
            </a:r>
            <a:r>
              <a:rPr lang="en-IN" sz="2500" b="0" i="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     –   dark /</a:t>
            </a:r>
            <a:r>
              <a:rPr lang="en-IN" sz="2500" b="0" i="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da:k</a:t>
            </a:r>
            <a:br>
              <a:rPr lang="en-IN" sz="2500" b="0" i="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b="0" i="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stuff /</a:t>
            </a:r>
            <a:r>
              <a:rPr lang="en-IN" sz="2500" b="0" i="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stʌf</a:t>
            </a:r>
            <a:r>
              <a:rPr lang="en-IN" sz="2500" b="0" i="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      –   staff /</a:t>
            </a:r>
            <a:r>
              <a:rPr lang="en-IN" sz="2500" b="0" i="0" dirty="0" err="1">
                <a:solidFill>
                  <a:srgbClr val="25252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sta:f</a:t>
            </a:r>
            <a:r>
              <a:rPr lang="en-IN" sz="2500" b="0" i="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767653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CF203D-9137-4D1A-913B-388FAFA9F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8EFA547-D42E-C6C9-7AE4-E9D506458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DA4070-125B-0BD2-CFC2-0299BA240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2"/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C1B9D-455A-D54D-61B4-C35D4760F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61" y="963997"/>
            <a:ext cx="3875663" cy="4938361"/>
          </a:xfrm>
        </p:spPr>
        <p:txBody>
          <a:bodyPr anchor="ctr">
            <a:normAutofit/>
          </a:bodyPr>
          <a:lstStyle/>
          <a:p>
            <a:pPr algn="ctr"/>
            <a:r>
              <a:rPr lang="en-IN" sz="4400" b="1" dirty="0">
                <a:latin typeface="Bell MT" panose="02020503060305020303" pitchFamily="18" charset="0"/>
              </a:rPr>
              <a:t>Practice Session on Pronunciation</a:t>
            </a:r>
            <a:br>
              <a:rPr lang="en-IN" sz="4400" b="1" dirty="0">
                <a:latin typeface="Bell MT" panose="02020503060305020303" pitchFamily="18" charset="0"/>
              </a:rPr>
            </a:br>
            <a:endParaRPr lang="en-IN" sz="4400" b="1" dirty="0">
              <a:latin typeface="Bell MT" panose="02020503060305020303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3948D64-6A81-C621-C890-CFCA9350C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251" y="2057399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290A4-119C-66FF-67ED-AE3E43767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882" y="963507"/>
            <a:ext cx="6135097" cy="4938851"/>
          </a:xfrm>
        </p:spPr>
        <p:txBody>
          <a:bodyPr anchor="ctr"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endParaRPr lang="en-IN" sz="1800" b="1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IN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85800"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377D41C-D8A8-5DF8-4C29-FC0FFA4E04F3}"/>
              </a:ext>
            </a:extLst>
          </p:cNvPr>
          <p:cNvSpPr txBox="1">
            <a:spLocks/>
          </p:cNvSpPr>
          <p:nvPr/>
        </p:nvSpPr>
        <p:spPr>
          <a:xfrm>
            <a:off x="5134882" y="360145"/>
            <a:ext cx="7197804" cy="639225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lnSpc>
                <a:spcPct val="107000"/>
              </a:lnSpc>
              <a:buFont typeface="+mj-lt"/>
              <a:buAutoNum type="romanLcPeriod"/>
            </a:pPr>
            <a:endParaRPr lang="en-IN" sz="25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buFont typeface="+mj-lt"/>
              <a:buAutoNum type="romanLcPeriod"/>
            </a:pPr>
            <a:endParaRPr lang="en-IN" sz="25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4B0AE91-15F6-2A51-128D-4DA1E2E46A15}"/>
              </a:ext>
            </a:extLst>
          </p:cNvPr>
          <p:cNvSpPr txBox="1">
            <a:spLocks/>
          </p:cNvSpPr>
          <p:nvPr/>
        </p:nvSpPr>
        <p:spPr>
          <a:xfrm>
            <a:off x="5233182" y="497513"/>
            <a:ext cx="6583155" cy="571078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</a:pPr>
            <a:r>
              <a:rPr lang="en-IN" sz="2500" b="1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Vowel sounds (IPA)</a:t>
            </a:r>
          </a:p>
          <a:p>
            <a:pPr>
              <a:lnSpc>
                <a:spcPct val="107000"/>
              </a:lnSpc>
            </a:pPr>
            <a:r>
              <a:rPr lang="en-IN" sz="2500" b="1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Diphthong/ Double Vowels</a:t>
            </a:r>
          </a:p>
          <a:p>
            <a:pPr>
              <a:lnSpc>
                <a:spcPct val="107000"/>
              </a:lnSpc>
            </a:pPr>
            <a:endParaRPr lang="en-IN" sz="25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eɪ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:  day, play</a:t>
            </a: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aʊ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   cow, mouse, brown</a:t>
            </a: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ɪə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 : here, clear</a:t>
            </a: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eə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   chair, care, wear</a:t>
            </a: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ɔɪ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    boy, toy</a:t>
            </a: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aɪ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    find, tiger </a:t>
            </a: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ʊə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:   tour, mature</a:t>
            </a:r>
            <a:endParaRPr lang="en-IN" sz="25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685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754288-5380-1E92-1D42-2BCF081D2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9ED45C-4FF5-A8BC-5216-750D46FBA1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4B2406-A542-9DE9-5092-90C5E1F03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2"/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C82AFE-F038-298E-7E66-1BD66795A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61" y="963997"/>
            <a:ext cx="3875663" cy="4938361"/>
          </a:xfrm>
        </p:spPr>
        <p:txBody>
          <a:bodyPr anchor="ctr">
            <a:normAutofit/>
          </a:bodyPr>
          <a:lstStyle/>
          <a:p>
            <a:pPr algn="ctr"/>
            <a:r>
              <a:rPr lang="en-IN" sz="4400" b="1" dirty="0">
                <a:latin typeface="Bell MT" panose="02020503060305020303" pitchFamily="18" charset="0"/>
              </a:rPr>
              <a:t>Practice Session on Pronunciation</a:t>
            </a:r>
            <a:br>
              <a:rPr lang="en-IN" sz="4400" b="1" dirty="0">
                <a:latin typeface="Bell MT" panose="02020503060305020303" pitchFamily="18" charset="0"/>
              </a:rPr>
            </a:br>
            <a:r>
              <a:rPr lang="en-IN" sz="4400" b="1" dirty="0">
                <a:latin typeface="Bell MT" panose="02020503060305020303" pitchFamily="18" charset="0"/>
              </a:rPr>
              <a:t>(Exercise)</a:t>
            </a:r>
            <a:br>
              <a:rPr lang="en-IN" sz="4400" b="1" dirty="0">
                <a:latin typeface="Bell MT" panose="02020503060305020303" pitchFamily="18" charset="0"/>
              </a:rPr>
            </a:br>
            <a:endParaRPr lang="en-IN" sz="4400" b="1" dirty="0">
              <a:latin typeface="Bell MT" panose="02020503060305020303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494C987-979F-02EB-CBD9-2A3341B5C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251" y="2057399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4159E-EBD5-9B34-302C-4FBA47B25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882" y="963507"/>
            <a:ext cx="6135097" cy="4938851"/>
          </a:xfrm>
        </p:spPr>
        <p:txBody>
          <a:bodyPr anchor="ctr"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endParaRPr lang="en-IN" sz="1800" b="1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IN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85800"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E8931E-8FB1-790B-F933-0294F41B1F81}"/>
              </a:ext>
            </a:extLst>
          </p:cNvPr>
          <p:cNvSpPr txBox="1">
            <a:spLocks/>
          </p:cNvSpPr>
          <p:nvPr/>
        </p:nvSpPr>
        <p:spPr>
          <a:xfrm>
            <a:off x="5134882" y="360145"/>
            <a:ext cx="7197804" cy="639225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marR="0" lvl="0" indent="-571500" algn="l" defTabSz="914400" rtl="0" eaLnBrk="1" fontAlgn="auto" latinLnBrk="0" hangingPunct="1">
              <a:lnSpc>
                <a:spcPct val="107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romanLcPeriod"/>
              <a:tabLst/>
              <a:defRPr/>
            </a:pPr>
            <a:endParaRPr kumimoji="0" lang="en-IN" sz="25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7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romanLcPeriod"/>
              <a:tabLst/>
              <a:defRPr/>
            </a:pPr>
            <a:endParaRPr kumimoji="0" lang="en-IN" sz="25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61D284C-7F24-8E10-0B29-479A1AEC7AEB}"/>
              </a:ext>
            </a:extLst>
          </p:cNvPr>
          <p:cNvSpPr txBox="1">
            <a:spLocks/>
          </p:cNvSpPr>
          <p:nvPr/>
        </p:nvSpPr>
        <p:spPr>
          <a:xfrm>
            <a:off x="4766080" y="497512"/>
            <a:ext cx="7050258" cy="539698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marR="0" lvl="0" indent="-91440" algn="l" defTabSz="914400" rtl="0" eaLnBrk="1" fontAlgn="auto" latinLnBrk="0" hangingPunct="1">
              <a:lnSpc>
                <a:spcPct val="107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I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Identify the vowel sounds in the following words</a:t>
            </a:r>
          </a:p>
          <a:p>
            <a:pPr marL="91440" marR="0" lvl="0" indent="-91440" algn="l" defTabSz="914400" rtl="0" eaLnBrk="1" fontAlgn="auto" latinLnBrk="0" hangingPunct="1">
              <a:lnSpc>
                <a:spcPct val="107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endParaRPr lang="en-IN" sz="2500" b="1" dirty="0">
              <a:solidFill>
                <a:srgbClr val="000000">
                  <a:lumMod val="75000"/>
                  <a:lumOff val="25000"/>
                </a:srgbClr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7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AutoNum type="arabicPeriod"/>
              <a:tabLst/>
              <a:defRPr/>
            </a:pPr>
            <a:r>
              <a:rPr kumimoji="0" lang="en-IN" sz="25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wall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7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AutoNum type="arabicPeriod"/>
              <a:tabLst/>
              <a:defRPr/>
            </a:pPr>
            <a:r>
              <a:rPr kumimoji="0" lang="en-IN" sz="25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busy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7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AutoNum type="arabicPeriod"/>
              <a:tabLst/>
              <a:defRPr/>
            </a:pPr>
            <a:r>
              <a:rPr lang="en-IN" sz="2500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noise </a:t>
            </a:r>
            <a:endParaRPr kumimoji="0" lang="en-IN" sz="250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7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AutoNum type="arabicPeriod"/>
              <a:tabLst/>
              <a:defRPr/>
            </a:pPr>
            <a:r>
              <a:rPr kumimoji="0" lang="en-IN" sz="25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stood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7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AutoNum type="arabicPeriod"/>
              <a:tabLst/>
              <a:defRPr/>
            </a:pPr>
            <a:r>
              <a:rPr kumimoji="0" lang="en-IN" sz="25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farm 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7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AutoNum type="arabicPeriod"/>
              <a:tabLst/>
              <a:defRPr/>
            </a:pPr>
            <a:r>
              <a:rPr lang="en-IN" sz="2500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kumimoji="0" lang="en-IN" sz="25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ight</a:t>
            </a:r>
            <a:r>
              <a:rPr kumimoji="0" lang="en-IN" sz="25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en-I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1DA5EA-0D11-E765-C5C9-B3038320B94B}"/>
              </a:ext>
            </a:extLst>
          </p:cNvPr>
          <p:cNvSpPr txBox="1"/>
          <p:nvPr/>
        </p:nvSpPr>
        <p:spPr>
          <a:xfrm>
            <a:off x="8205651" y="1413607"/>
            <a:ext cx="3158966" cy="4030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7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+mj-lt"/>
              <a:buAutoNum type="arabicPeriod" startAt="7"/>
              <a:tabLst/>
              <a:defRPr/>
            </a:pPr>
            <a:r>
              <a:rPr kumimoji="0" lang="en-IN" sz="25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war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7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Tx/>
              <a:buAutoNum type="arabicPeriod" startAt="7"/>
              <a:tabLst/>
              <a:defRPr/>
            </a:pPr>
            <a:r>
              <a:rPr kumimoji="0" lang="en-IN" sz="25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believe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7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Tx/>
              <a:buAutoNum type="arabicPeriod" startAt="7"/>
              <a:tabLst/>
              <a:defRPr/>
            </a:pPr>
            <a:r>
              <a:rPr kumimoji="0" lang="en-IN" sz="25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finish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7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Tx/>
              <a:buAutoNum type="arabicPeriod" startAt="7"/>
              <a:tabLst/>
              <a:defRPr/>
            </a:pPr>
            <a:r>
              <a:rPr kumimoji="0" lang="en-IN" sz="25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dear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7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Tx/>
              <a:buAutoNum type="arabicPeriod" startAt="7"/>
              <a:tabLst/>
              <a:defRPr/>
            </a:pPr>
            <a:r>
              <a:rPr kumimoji="0" lang="en-IN" sz="25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money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7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Tx/>
              <a:buAutoNum type="arabicPeriod" startAt="7"/>
              <a:tabLst/>
              <a:defRPr/>
            </a:pPr>
            <a:r>
              <a:rPr kumimoji="0" lang="en-IN" sz="25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bird</a:t>
            </a:r>
          </a:p>
          <a:p>
            <a:pPr marL="457200" marR="0" lvl="0" indent="-457200" algn="l" defTabSz="914400" rtl="0" eaLnBrk="1" fontAlgn="auto" latinLnBrk="0" hangingPunct="1">
              <a:lnSpc>
                <a:spcPct val="107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Tx/>
              <a:buAutoNum type="arabicPeriod" startAt="7"/>
              <a:tabLst/>
              <a:defRPr/>
            </a:pPr>
            <a:r>
              <a:rPr lang="en-IN" sz="2500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688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C16B38-7BED-FDB0-1135-3FF096ABE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E0B8AE7-FAFE-7F61-03C9-18AF33C29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E73E3C-417A-AB84-A0FA-0F6BF687C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2"/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B04180-D4C6-2A09-289E-E5ACA1D25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61" y="963997"/>
            <a:ext cx="3875663" cy="4938361"/>
          </a:xfrm>
        </p:spPr>
        <p:txBody>
          <a:bodyPr anchor="ctr">
            <a:normAutofit/>
          </a:bodyPr>
          <a:lstStyle/>
          <a:p>
            <a:pPr algn="ctr"/>
            <a:r>
              <a:rPr lang="en-IN" sz="4400" b="1" dirty="0">
                <a:latin typeface="Bell MT" panose="02020503060305020303" pitchFamily="18" charset="0"/>
              </a:rPr>
              <a:t>Exercises</a:t>
            </a:r>
            <a:br>
              <a:rPr lang="en-IN" sz="4400" b="1" dirty="0">
                <a:latin typeface="Bell MT" panose="02020503060305020303" pitchFamily="18" charset="0"/>
              </a:rPr>
            </a:br>
            <a:r>
              <a:rPr lang="en-IN" sz="4400" b="1" dirty="0">
                <a:latin typeface="Bell MT" panose="02020503060305020303" pitchFamily="18" charset="0"/>
              </a:rPr>
              <a:t>(Syllables)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EC2BAE9-AF5C-7838-8466-FB437B8B3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251" y="2057399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19073-74BB-910D-507E-1D80D4BB2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882" y="963507"/>
            <a:ext cx="6135097" cy="4938851"/>
          </a:xfrm>
        </p:spPr>
        <p:txBody>
          <a:bodyPr anchor="ctr"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endParaRPr lang="en-IN" sz="1800" b="1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IN" sz="18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85800">
              <a:spcAft>
                <a:spcPts val="800"/>
              </a:spcAft>
            </a:pPr>
            <a:r>
              <a:rPr lang="en-IN" sz="18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IN" sz="18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8E3592-9D01-E94D-63A9-CAE04635CACB}"/>
              </a:ext>
            </a:extLst>
          </p:cNvPr>
          <p:cNvSpPr txBox="1">
            <a:spLocks/>
          </p:cNvSpPr>
          <p:nvPr/>
        </p:nvSpPr>
        <p:spPr>
          <a:xfrm>
            <a:off x="5080782" y="345112"/>
            <a:ext cx="7197804" cy="639225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</a:pPr>
            <a:r>
              <a:rPr lang="en-IN" sz="2500" b="1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Divide the following words into syllables</a:t>
            </a:r>
          </a:p>
          <a:p>
            <a:pPr marL="571500" indent="-571500">
              <a:lnSpc>
                <a:spcPct val="100000"/>
              </a:lnSpc>
              <a:buFont typeface="+mj-lt"/>
              <a:buAutoNum type="romanLcPeriod"/>
            </a:pPr>
            <a:r>
              <a:rPr lang="en-IN" sz="25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Picnic</a:t>
            </a:r>
          </a:p>
          <a:p>
            <a:pPr marL="571500" indent="-571500">
              <a:lnSpc>
                <a:spcPct val="100000"/>
              </a:lnSpc>
              <a:buFont typeface="+mj-lt"/>
              <a:buAutoNum type="romanLcPeriod"/>
            </a:pPr>
            <a:r>
              <a:rPr lang="en-IN" sz="25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Insult</a:t>
            </a:r>
          </a:p>
          <a:p>
            <a:pPr marL="571500" indent="-571500">
              <a:lnSpc>
                <a:spcPct val="100000"/>
              </a:lnSpc>
              <a:buFont typeface="+mj-lt"/>
              <a:buAutoNum type="romanLcPeriod"/>
            </a:pPr>
            <a:r>
              <a:rPr lang="en-IN" sz="25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Excitement</a:t>
            </a:r>
          </a:p>
          <a:p>
            <a:pPr marL="571500" indent="-571500">
              <a:lnSpc>
                <a:spcPct val="100000"/>
              </a:lnSpc>
              <a:buFont typeface="+mj-lt"/>
              <a:buAutoNum type="romanLcPeriod"/>
            </a:pPr>
            <a:r>
              <a:rPr lang="en-IN" sz="25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Throughout</a:t>
            </a:r>
          </a:p>
          <a:p>
            <a:pPr marL="571500" indent="-571500">
              <a:lnSpc>
                <a:spcPct val="100000"/>
              </a:lnSpc>
              <a:buFont typeface="+mj-lt"/>
              <a:buAutoNum type="romanLcPeriod"/>
            </a:pPr>
            <a:r>
              <a:rPr lang="en-IN" sz="25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Afterthought</a:t>
            </a:r>
          </a:p>
          <a:p>
            <a:pPr marL="571500" indent="-571500">
              <a:lnSpc>
                <a:spcPct val="100000"/>
              </a:lnSpc>
              <a:buFont typeface="+mj-lt"/>
              <a:buAutoNum type="romanLcPeriod"/>
            </a:pPr>
            <a:r>
              <a:rPr lang="en-IN" sz="25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Enormous</a:t>
            </a:r>
          </a:p>
          <a:p>
            <a:pPr marL="571500" indent="-571500">
              <a:lnSpc>
                <a:spcPct val="100000"/>
              </a:lnSpc>
              <a:buFont typeface="+mj-lt"/>
              <a:buAutoNum type="romanLcPeriod"/>
            </a:pPr>
            <a:r>
              <a:rPr lang="en-IN" sz="25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Substantial</a:t>
            </a:r>
          </a:p>
          <a:p>
            <a:pPr marL="571500" indent="-571500">
              <a:lnSpc>
                <a:spcPct val="100000"/>
              </a:lnSpc>
              <a:buFont typeface="+mj-lt"/>
              <a:buAutoNum type="romanLcPeriod"/>
            </a:pPr>
            <a:r>
              <a:rPr lang="en-IN" sz="25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Presentation</a:t>
            </a:r>
          </a:p>
          <a:p>
            <a:pPr marL="571500" indent="-571500">
              <a:lnSpc>
                <a:spcPct val="100000"/>
              </a:lnSpc>
              <a:buFont typeface="+mj-lt"/>
              <a:buAutoNum type="romanLcPeriod"/>
            </a:pPr>
            <a:r>
              <a:rPr lang="en-IN" sz="25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Infatuated</a:t>
            </a:r>
          </a:p>
          <a:p>
            <a:pPr marL="571500" indent="-571500">
              <a:lnSpc>
                <a:spcPct val="100000"/>
              </a:lnSpc>
              <a:buFont typeface="+mj-lt"/>
              <a:buAutoNum type="romanLcPeriod"/>
            </a:pPr>
            <a:r>
              <a:rPr lang="en-IN" sz="25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Policy</a:t>
            </a:r>
          </a:p>
          <a:p>
            <a:pPr marL="571500" indent="-571500">
              <a:lnSpc>
                <a:spcPct val="107000"/>
              </a:lnSpc>
              <a:buFont typeface="+mj-lt"/>
              <a:buAutoNum type="romanLcPeriod"/>
            </a:pPr>
            <a:endParaRPr lang="en-IN" sz="25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buFont typeface="+mj-lt"/>
              <a:buAutoNum type="romanLcPeriod"/>
            </a:pPr>
            <a:endParaRPr lang="en-IN" sz="25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900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281881-EAF0-4636-69F5-239CF9F39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4BCADA-A2D1-7984-023B-B56A44A5B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EB9A0D-3D60-2893-7E24-F743762BD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2"/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BE821-40EC-9BDB-3412-F72C7E8E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61" y="963997"/>
            <a:ext cx="3875663" cy="4938361"/>
          </a:xfrm>
        </p:spPr>
        <p:txBody>
          <a:bodyPr anchor="ctr">
            <a:normAutofit/>
          </a:bodyPr>
          <a:lstStyle/>
          <a:p>
            <a:pPr algn="ctr"/>
            <a:r>
              <a:rPr lang="en-IN" sz="4400" b="1" dirty="0">
                <a:latin typeface="Bell MT" panose="02020503060305020303" pitchFamily="18" charset="0"/>
              </a:rPr>
              <a:t>Exercises</a:t>
            </a:r>
            <a:br>
              <a:rPr lang="en-IN" sz="4400" b="1" dirty="0">
                <a:latin typeface="Bell MT" panose="02020503060305020303" pitchFamily="18" charset="0"/>
              </a:rPr>
            </a:br>
            <a:r>
              <a:rPr lang="en-IN" sz="4400" b="1" dirty="0">
                <a:latin typeface="Bell MT" panose="02020503060305020303" pitchFamily="18" charset="0"/>
              </a:rPr>
              <a:t>(Consonant Clusters)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419376C-0E92-10C0-41D0-85766D8305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251" y="2057399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4CEC9-F195-5D84-1E30-DD377B83E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882" y="963507"/>
            <a:ext cx="6135097" cy="4938851"/>
          </a:xfrm>
        </p:spPr>
        <p:txBody>
          <a:bodyPr anchor="ctr"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endParaRPr lang="en-IN" sz="1800" b="1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IN" sz="18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85800">
              <a:spcAft>
                <a:spcPts val="800"/>
              </a:spcAft>
            </a:pPr>
            <a:r>
              <a:rPr lang="en-IN" sz="18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IN" sz="18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14942B5-A057-E424-D729-4A905E759AE2}"/>
              </a:ext>
            </a:extLst>
          </p:cNvPr>
          <p:cNvSpPr txBox="1">
            <a:spLocks/>
          </p:cNvSpPr>
          <p:nvPr/>
        </p:nvSpPr>
        <p:spPr>
          <a:xfrm>
            <a:off x="4971816" y="459657"/>
            <a:ext cx="6720063" cy="5938684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</a:pPr>
            <a:r>
              <a:rPr lang="en-IN" sz="1800" b="1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Form meaningful words from the consonant clusters given below:</a:t>
            </a:r>
            <a:endParaRPr lang="en-IN" sz="3000" b="1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buFont typeface="+mj-lt"/>
              <a:buAutoNum type="romanLcPeriod"/>
            </a:pPr>
            <a:r>
              <a:rPr lang="en-I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/gr/</a:t>
            </a:r>
          </a:p>
          <a:p>
            <a:pPr marL="571500" indent="-571500">
              <a:lnSpc>
                <a:spcPct val="107000"/>
              </a:lnSpc>
              <a:buFont typeface="+mj-lt"/>
              <a:buAutoNum type="romanLcPeriod"/>
            </a:pPr>
            <a:r>
              <a:rPr lang="en-I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/kl/</a:t>
            </a:r>
          </a:p>
          <a:p>
            <a:pPr marL="571500" indent="-571500">
              <a:lnSpc>
                <a:spcPct val="107000"/>
              </a:lnSpc>
              <a:buFont typeface="+mj-lt"/>
              <a:buAutoNum type="romanLcPeriod"/>
            </a:pPr>
            <a:r>
              <a:rPr lang="en-I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final /ft/</a:t>
            </a:r>
          </a:p>
          <a:p>
            <a:pPr marL="571500" indent="-571500">
              <a:lnSpc>
                <a:spcPct val="107000"/>
              </a:lnSpc>
              <a:buFont typeface="+mj-lt"/>
              <a:buAutoNum type="romanLcPeriod"/>
            </a:pPr>
            <a:r>
              <a:rPr lang="en-I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final /mf/</a:t>
            </a:r>
          </a:p>
          <a:p>
            <a:pPr marL="571500" indent="-571500">
              <a:lnSpc>
                <a:spcPct val="107000"/>
              </a:lnSpc>
              <a:buFont typeface="+mj-lt"/>
              <a:buAutoNum type="romanLcPeriod"/>
            </a:pPr>
            <a:r>
              <a:rPr lang="en-I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final /lb/</a:t>
            </a:r>
          </a:p>
          <a:p>
            <a:pPr marL="571500" indent="-571500">
              <a:lnSpc>
                <a:spcPct val="107000"/>
              </a:lnSpc>
              <a:buFont typeface="+mj-lt"/>
              <a:buAutoNum type="romanLcPeriod"/>
            </a:pPr>
            <a:r>
              <a:rPr lang="en-I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final /</a:t>
            </a:r>
            <a:r>
              <a:rPr lang="en-IN" sz="30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dz</a:t>
            </a:r>
            <a:r>
              <a:rPr lang="en-I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</a:p>
          <a:p>
            <a:pPr marL="571500" indent="-571500">
              <a:lnSpc>
                <a:spcPct val="107000"/>
              </a:lnSpc>
              <a:buFont typeface="+mj-lt"/>
              <a:buAutoNum type="romanLcPeriod"/>
            </a:pPr>
            <a:r>
              <a:rPr lang="en-I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en-IN" sz="30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ipt</a:t>
            </a:r>
            <a:r>
              <a:rPr lang="en-I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</a:p>
          <a:p>
            <a:pPr marL="571500" indent="-571500">
              <a:lnSpc>
                <a:spcPct val="107000"/>
              </a:lnSpc>
              <a:buFont typeface="+mj-lt"/>
              <a:buAutoNum type="romanLcPeriod"/>
            </a:pPr>
            <a:r>
              <a:rPr lang="en-I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en-IN" sz="30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spl</a:t>
            </a:r>
            <a:r>
              <a:rPr lang="en-IN" sz="30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738081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9B4C73-A0DE-76C7-B3EF-8E856AD8E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43ADF24-72EA-492C-35B7-6223A50E0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CDD4CB-48F3-8213-C300-8FE7B3544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2"/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2DA3AE-4B1A-A3A1-573F-B8FFEF614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7871" y="335761"/>
            <a:ext cx="6574656" cy="619882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IN" sz="4400" b="1" dirty="0">
                <a:latin typeface="Bell MT" panose="02020503060305020303" pitchFamily="18" charset="0"/>
              </a:rPr>
              <a:t>(Stress and Intonation)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7E672D4-3A57-7A52-B926-C575A8D5D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251" y="2057399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1C7BF-FA21-5E88-C8E4-5764B8DD8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882" y="963507"/>
            <a:ext cx="6135097" cy="4938851"/>
          </a:xfrm>
        </p:spPr>
        <p:txBody>
          <a:bodyPr anchor="ctr"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endParaRPr lang="en-IN" sz="1800" b="1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IN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85800"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549425-C419-B759-1E61-BB107B3882BD}"/>
              </a:ext>
            </a:extLst>
          </p:cNvPr>
          <p:cNvSpPr txBox="1"/>
          <p:nvPr/>
        </p:nvSpPr>
        <p:spPr>
          <a:xfrm>
            <a:off x="2126628" y="963507"/>
            <a:ext cx="6856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English as a stress-timed language: not every word is stressed equally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CF84D6-B124-EE6E-141B-56F4BBE63947}"/>
              </a:ext>
            </a:extLst>
          </p:cNvPr>
          <p:cNvSpPr txBox="1"/>
          <p:nvPr/>
        </p:nvSpPr>
        <p:spPr>
          <a:xfrm>
            <a:off x="1051964" y="2224740"/>
            <a:ext cx="37644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Content words (Stress words)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Nouns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Principle verbs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Adjectives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Adverbs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Question words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Negative words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2FE600-66B3-7E73-97CF-3D654F4B65D8}"/>
              </a:ext>
            </a:extLst>
          </p:cNvPr>
          <p:cNvSpPr txBox="1"/>
          <p:nvPr/>
        </p:nvSpPr>
        <p:spPr>
          <a:xfrm>
            <a:off x="5888270" y="2224740"/>
            <a:ext cx="41882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Function Words (Non- stressed words)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Auxiliary verbs (helping verbs)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Modal verbs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Determiners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Pronouns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Prepositions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Conjunctions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EDCB33-C97D-4870-CAEE-ACAFBD517FFD}"/>
              </a:ext>
            </a:extLst>
          </p:cNvPr>
          <p:cNvSpPr txBox="1"/>
          <p:nvPr/>
        </p:nvSpPr>
        <p:spPr>
          <a:xfrm>
            <a:off x="1635022" y="5253781"/>
            <a:ext cx="9272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remote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802219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E1452-FCA1-703F-398C-9F961CEDD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EEC5A04-EA9C-31D5-386A-806A3EB2D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FC6697-3C8A-E0E0-3918-390A5E72F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2"/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30E92F-33EC-ED32-391E-9E2B79BCC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61" y="963997"/>
            <a:ext cx="3875663" cy="4938361"/>
          </a:xfrm>
        </p:spPr>
        <p:txBody>
          <a:bodyPr anchor="ctr">
            <a:normAutofit/>
          </a:bodyPr>
          <a:lstStyle/>
          <a:p>
            <a:pPr algn="ctr"/>
            <a:r>
              <a:rPr lang="en-IN" sz="4400" b="1" dirty="0">
                <a:latin typeface="Bell MT" panose="02020503060305020303" pitchFamily="18" charset="0"/>
              </a:rPr>
              <a:t>Exercises</a:t>
            </a:r>
            <a:br>
              <a:rPr lang="en-IN" sz="4400" b="1" dirty="0">
                <a:latin typeface="Bell MT" panose="02020503060305020303" pitchFamily="18" charset="0"/>
              </a:rPr>
            </a:br>
            <a:r>
              <a:rPr lang="en-IN" sz="4400" b="1" dirty="0">
                <a:latin typeface="Bell MT" panose="02020503060305020303" pitchFamily="18" charset="0"/>
              </a:rPr>
              <a:t>(Stress and Intonation)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8836408-5988-A805-DC2B-0F4CE7649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251" y="2057399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88F57-AEFF-2C5D-F0A7-F97C0EF90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882" y="963507"/>
            <a:ext cx="6135097" cy="4938851"/>
          </a:xfrm>
        </p:spPr>
        <p:txBody>
          <a:bodyPr anchor="ctr"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endParaRPr lang="en-IN" sz="1800" b="1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IN" sz="18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85800">
              <a:spcAft>
                <a:spcPts val="800"/>
              </a:spcAft>
            </a:pPr>
            <a:r>
              <a:rPr lang="en-IN" sz="18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IN" sz="18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FAD0D0-E42E-1CBC-BE8E-366533D53AB1}"/>
              </a:ext>
            </a:extLst>
          </p:cNvPr>
          <p:cNvSpPr txBox="1">
            <a:spLocks/>
          </p:cNvSpPr>
          <p:nvPr/>
        </p:nvSpPr>
        <p:spPr>
          <a:xfrm>
            <a:off x="5287282" y="1115907"/>
            <a:ext cx="6135097" cy="4938851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endParaRPr lang="en-IN" sz="1800" b="1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IN" sz="180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85800">
              <a:spcAft>
                <a:spcPts val="800"/>
              </a:spcAft>
            </a:pPr>
            <a:r>
              <a:rPr lang="en-IN" sz="180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IN" sz="18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935C9CE-88D0-4933-9AFB-C0A10A090156}"/>
              </a:ext>
            </a:extLst>
          </p:cNvPr>
          <p:cNvSpPr txBox="1">
            <a:spLocks/>
          </p:cNvSpPr>
          <p:nvPr/>
        </p:nvSpPr>
        <p:spPr>
          <a:xfrm>
            <a:off x="4766079" y="368501"/>
            <a:ext cx="7220185" cy="6504739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6968" lvl="1" indent="0">
              <a:spcAft>
                <a:spcPts val="800"/>
              </a:spcAft>
              <a:buNone/>
            </a:pPr>
            <a:endParaRPr lang="en-IN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86968" lvl="1" indent="0">
              <a:spcAft>
                <a:spcPts val="800"/>
              </a:spcAft>
              <a:buNone/>
            </a:pPr>
            <a:endParaRPr lang="en-IN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fontAlgn="base"/>
            <a:r>
              <a:rPr lang="en-IN" sz="1800" b="1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Practice the pronunciation of the following sentences focusing on stress and intonation. Underline the words that should be stressed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is coming over tonight. We are going to work on our homework together.</a:t>
            </a:r>
          </a:p>
          <a:p>
            <a:pPr fontAlgn="base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Ecstasy is an extremely dangerous drug.</a:t>
            </a:r>
          </a:p>
          <a:p>
            <a:pPr fontAlgn="base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should have visited some more castles while we were traveling through the back roads of France.</a:t>
            </a:r>
          </a:p>
          <a:p>
            <a:pPr fontAlgn="base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Jack bought a new car last Friday.</a:t>
            </a:r>
          </a:p>
          <a:p>
            <a:pPr fontAlgn="base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looking forward to your visiting them next January.</a:t>
            </a:r>
          </a:p>
          <a:p>
            <a:pPr fontAlgn="base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Exciting discoveries lie in Tom's future.</a:t>
            </a:r>
          </a:p>
          <a:p>
            <a:pPr fontAlgn="base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Would you like to come over and play a game of chess?</a:t>
            </a:r>
          </a:p>
          <a:p>
            <a:pPr fontAlgn="base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have been having to work hard these last few months on their challenging experiment.</a:t>
            </a:r>
          </a:p>
          <a:p>
            <a:pPr fontAlgn="base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Shakespeare wrote passionate, moving poetry.</a:t>
            </a:r>
          </a:p>
          <a:p>
            <a:pPr fontAlgn="base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you might have expected, he has just thought of a new approach to the problem.</a:t>
            </a:r>
          </a:p>
          <a:p>
            <a:pPr marL="685800">
              <a:spcAft>
                <a:spcPts val="800"/>
              </a:spcAft>
            </a:pPr>
            <a:endParaRPr lang="en-IN" sz="18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85800">
              <a:spcAft>
                <a:spcPts val="800"/>
              </a:spcAft>
            </a:pPr>
            <a:endParaRPr lang="en-IN" sz="18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94360" indent="0">
              <a:spcAft>
                <a:spcPts val="800"/>
              </a:spcAft>
              <a:buNone/>
            </a:pPr>
            <a:endParaRPr lang="en-IN" sz="18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3F1AD7-3840-042A-1DBD-44F656EA56F7}"/>
              </a:ext>
            </a:extLst>
          </p:cNvPr>
          <p:cNvSpPr txBox="1"/>
          <p:nvPr/>
        </p:nvSpPr>
        <p:spPr>
          <a:xfrm>
            <a:off x="4534424" y="6464022"/>
            <a:ext cx="7839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Source: https://www.thoughtco.com/practice-stress-and-intonation-1211971 </a:t>
            </a:r>
          </a:p>
        </p:txBody>
      </p:sp>
    </p:spTree>
    <p:extLst>
      <p:ext uri="{BB962C8B-B14F-4D97-AF65-F5344CB8AC3E}">
        <p14:creationId xmlns:p14="http://schemas.microsoft.com/office/powerpoint/2010/main" val="2687353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3B3B6C5-748F-437C-AE76-DB11FEA99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7CEB5D-9BB2-475C-BA8D-AC88BB8C9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2"/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AC5941-F01E-EDE3-9127-A9EEDEDE0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0588" y="965199"/>
            <a:ext cx="6766078" cy="49276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cap="all">
                <a:solidFill>
                  <a:schemeClr val="tx1">
                    <a:lumMod val="85000"/>
                    <a:lumOff val="15000"/>
                  </a:schemeClr>
                </a:solidFill>
              </a:rPr>
              <a:t>Thank you!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B14AD1F-ADD5-46E7-966F-4C0290232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891" y="2057399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406690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AB6EB07-4082-468D-8243-0CE4B3816A43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560F3E1-3731-451A-8823-90783E43BA5E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1089</TotalTime>
  <Words>615</Words>
  <Application>Microsoft Office PowerPoint</Application>
  <PresentationFormat>Widescreen</PresentationFormat>
  <Paragraphs>126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Bell MT</vt:lpstr>
      <vt:lpstr>Calibri</vt:lpstr>
      <vt:lpstr>Calibri Light</vt:lpstr>
      <vt:lpstr>Times New Roman</vt:lpstr>
      <vt:lpstr>Retrospect</vt:lpstr>
      <vt:lpstr>Communication Skills Lab</vt:lpstr>
      <vt:lpstr>Practice Session on Pronunciation </vt:lpstr>
      <vt:lpstr>Practice Session on Pronunciation </vt:lpstr>
      <vt:lpstr>Practice Session on Pronunciation </vt:lpstr>
      <vt:lpstr>Practice Session on Pronunciation (Exercise) </vt:lpstr>
      <vt:lpstr>Exercises (Syllables)</vt:lpstr>
      <vt:lpstr>Exercises (Consonant Clusters)</vt:lpstr>
      <vt:lpstr>(Stress and Intonation)</vt:lpstr>
      <vt:lpstr>Exercises (Stress and Intonation)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Rashmi Joshi</dc:creator>
  <cp:lastModifiedBy>Rashmi Joshi</cp:lastModifiedBy>
  <cp:revision>111</cp:revision>
  <cp:lastPrinted>2025-08-21T06:59:26Z</cp:lastPrinted>
  <dcterms:created xsi:type="dcterms:W3CDTF">2024-07-31T11:18:27Z</dcterms:created>
  <dcterms:modified xsi:type="dcterms:W3CDTF">2025-08-21T06:59:31Z</dcterms:modified>
</cp:coreProperties>
</file>