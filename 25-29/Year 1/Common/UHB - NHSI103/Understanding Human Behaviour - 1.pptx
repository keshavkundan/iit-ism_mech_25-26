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71" r:id="rId3"/>
    <p:sldId id="263" r:id="rId4"/>
    <p:sldId id="264" r:id="rId5"/>
    <p:sldId id="266" r:id="rId6"/>
    <p:sldId id="274" r:id="rId7"/>
    <p:sldId id="278" r:id="rId8"/>
    <p:sldId id="265" r:id="rId9"/>
    <p:sldId id="267" r:id="rId10"/>
    <p:sldId id="268" r:id="rId11"/>
    <p:sldId id="275" r:id="rId12"/>
    <p:sldId id="259" r:id="rId13"/>
    <p:sldId id="260" r:id="rId14"/>
    <p:sldId id="261" r:id="rId15"/>
    <p:sldId id="262" r:id="rId16"/>
    <p:sldId id="269" r:id="rId17"/>
    <p:sldId id="258" r:id="rId18"/>
    <p:sldId id="27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3" d="100"/>
          <a:sy n="83" d="100"/>
        </p:scale>
        <p:origin x="68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8DD8C5-4FA3-40FB-A07B-F922A830C3F8}" type="datetimeFigureOut">
              <a:rPr lang="en-IN" smtClean="0"/>
              <a:t>30-08-2024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1C923-CDE5-45F7-8342-F34A6775B4F6}" type="slidenum">
              <a:rPr lang="en-IN" smtClean="0"/>
              <a:t>‹#›</a:t>
            </a:fld>
            <a:endParaRPr lang="en-IN"/>
          </a:p>
        </p:txBody>
      </p:sp>
    </p:spTree>
    <p:extLst>
      <p:ext uri="{BB962C8B-B14F-4D97-AF65-F5344CB8AC3E}">
        <p14:creationId xmlns:p14="http://schemas.microsoft.com/office/powerpoint/2010/main" val="874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nu.edu/blog/branches-of-psychology/#two-major-areas-of-psychology"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sz="3600" dirty="0"/>
              <a:t>Behavior includes all of our outward or overt actions and reactions, such as talking, facial expressions, and movement. The term mental processes refers to all the internal, covert (hidden) activity of our minds, such as thinking, feeling, and remembering.</a:t>
            </a:r>
            <a:endParaRPr lang="en-US" sz="2000" dirty="0"/>
          </a:p>
          <a:p>
            <a:pPr marL="158750" indent="0">
              <a:buNone/>
            </a:pPr>
            <a:r>
              <a:rPr lang="en-US" sz="2000" dirty="0"/>
              <a:t>Psychology not only helps you understand why people (and animals) do the things they do, but it also helps you better understand yourself and your reactions to others. </a:t>
            </a:r>
          </a:p>
          <a:p>
            <a:pPr marL="158750" indent="0">
              <a:buNone/>
            </a:pPr>
            <a:r>
              <a:rPr lang="en-US" sz="2000" dirty="0"/>
              <a:t>Psychology can help you comprehend how your brain and body are connected, how to improve your learning abilities and memory, and how to deal with the stresses of life, both ordinary and extraordinary. </a:t>
            </a:r>
          </a:p>
          <a:p>
            <a:pPr marL="158750" indent="0">
              <a:buNone/>
            </a:pPr>
            <a:r>
              <a:rPr lang="en-US" sz="2000" dirty="0"/>
              <a:t>In studying psychology, an understanding of the methods psychologists use is crucial because research can be flawed, and knowing how research should be done can bring those flaws to light. </a:t>
            </a:r>
          </a:p>
          <a:p>
            <a:pPr marL="158750" indent="0">
              <a:buNone/>
            </a:pPr>
            <a:r>
              <a:rPr lang="en-US" sz="2000" dirty="0"/>
              <a:t>And finally, psychology and its research methods promote critical thinking, which can be used to evaluate not just research but also claims of all kinds, including those of advertisers and politicians.</a:t>
            </a:r>
            <a:endParaRPr lang="en-IN" sz="2000" dirty="0"/>
          </a:p>
        </p:txBody>
      </p:sp>
    </p:spTree>
    <p:extLst>
      <p:ext uri="{BB962C8B-B14F-4D97-AF65-F5344CB8AC3E}">
        <p14:creationId xmlns:p14="http://schemas.microsoft.com/office/powerpoint/2010/main" val="2882446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ee209c0a7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ee209c0a7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e209c0a7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e209c0a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Wundt believed that consciousness, the state of being aware of external events, could be broken down into thoughts, experiences, emotions, and other basic elements. In order to inspect these nonphysical elements, students had to learn to think objectively about their own thoughts—after all, they could hardly read someone else’s mind. Wundt called this process objective introspection, the process of objectively examining and measuring one’s own thoughts and mental activities</a:t>
            </a:r>
          </a:p>
          <a:p>
            <a:pPr marL="0" lvl="0" indent="0" algn="l" rtl="0">
              <a:spcBef>
                <a:spcPts val="0"/>
              </a:spcBef>
              <a:spcAft>
                <a:spcPts val="0"/>
              </a:spcAft>
              <a:buNone/>
            </a:pPr>
            <a:r>
              <a:rPr lang="en-US" dirty="0" err="1"/>
              <a:t>Tichener</a:t>
            </a:r>
            <a:r>
              <a:rPr lang="en-US" dirty="0"/>
              <a:t> believed that every experience could be broken down into its individual emotions and sensations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James: . Conscious ideas are constantly flowing in an ever-changing stream, and once you start thinking about what you were just thinking about, what you were thinking about is no longer what you were thinking about—it’s what you are thinking about—and … excuse me, I’m a little dizzy. I think you get the picture, anyway</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eedd1c27f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eedd1c27f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4051211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The whole is greater than sum of its parts</a:t>
            </a:r>
          </a:p>
          <a:p>
            <a:r>
              <a:rPr lang="en-IN" dirty="0"/>
              <a:t>Mobile phone analogy</a:t>
            </a:r>
          </a:p>
          <a:p>
            <a:endParaRPr lang="en-IN" dirty="0"/>
          </a:p>
        </p:txBody>
      </p:sp>
    </p:spTree>
    <p:extLst>
      <p:ext uri="{BB962C8B-B14F-4D97-AF65-F5344CB8AC3E}">
        <p14:creationId xmlns:p14="http://schemas.microsoft.com/office/powerpoint/2010/main" val="4250933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eedd1c27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eedd1c27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eedd1c27f2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eedd1c27f2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Behaviour is the outcome of mental processes</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eedd1c27f2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eedd1c27f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ee209c0a7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ee209c0a7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ee351bdf7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ee351bdf7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eea0f55af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eea0f55af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ea0f55af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eea0f55af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eeb5a5c20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eeb5a5c20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Could mention other areas as well: Forensic psychology » Military psychology » Engineering and human factors » Couples and family psychology » Sports, exercise, and performance psychology » Clinical neuropsychology»  Health psychology</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ee209c0a7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ee209c0a7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Reference: Themes and Variations, can also refer to </a:t>
            </a:r>
            <a:r>
              <a:rPr lang="en" u="sng" dirty="0">
                <a:solidFill>
                  <a:schemeClr val="hlink"/>
                </a:solidFill>
                <a:hlinkClick r:id="rId3"/>
              </a:rPr>
              <a:t>https://www.nu.edu/blog/branches-of-psychology/#two-major-areas-of-psychology</a:t>
            </a:r>
            <a:r>
              <a:rPr lang="en" dirty="0"/>
              <a:t>, also, Baron (p.12)</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E2675-0588-618F-0903-CEE882E720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3C7AAA2-8AE1-2C65-62EB-886BEDEB84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C7E11D-99E5-4186-0F75-DBBEF3BBD6FC}"/>
              </a:ext>
            </a:extLst>
          </p:cNvPr>
          <p:cNvSpPr>
            <a:spLocks noGrp="1"/>
          </p:cNvSpPr>
          <p:nvPr>
            <p:ph type="dt" sz="half" idx="10"/>
          </p:nvPr>
        </p:nvSpPr>
        <p:spPr/>
        <p:txBody>
          <a:bodyPr/>
          <a:lstStyle/>
          <a:p>
            <a:fld id="{1DBE24D5-2798-471E-AF5A-F84E2DA026CD}" type="datetimeFigureOut">
              <a:rPr lang="en-IN" smtClean="0"/>
              <a:t>30-08-2024</a:t>
            </a:fld>
            <a:endParaRPr lang="en-IN"/>
          </a:p>
        </p:txBody>
      </p:sp>
      <p:sp>
        <p:nvSpPr>
          <p:cNvPr id="5" name="Footer Placeholder 4">
            <a:extLst>
              <a:ext uri="{FF2B5EF4-FFF2-40B4-BE49-F238E27FC236}">
                <a16:creationId xmlns:a16="http://schemas.microsoft.com/office/drawing/2014/main" id="{8BC41E0B-D5DF-BDED-8866-188E8A92C5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CD6485-9DF6-208A-4506-75F62BE6356F}"/>
              </a:ext>
            </a:extLst>
          </p:cNvPr>
          <p:cNvSpPr>
            <a:spLocks noGrp="1"/>
          </p:cNvSpPr>
          <p:nvPr>
            <p:ph type="sldNum" sz="quarter" idx="12"/>
          </p:nvPr>
        </p:nvSpPr>
        <p:spPr/>
        <p:txBody>
          <a:bodyPr/>
          <a:lstStyle/>
          <a:p>
            <a:fld id="{162938A5-8552-46DE-8B3D-1249BC5DF279}" type="slidenum">
              <a:rPr lang="en-IN" smtClean="0"/>
              <a:t>‹#›</a:t>
            </a:fld>
            <a:endParaRPr lang="en-IN"/>
          </a:p>
        </p:txBody>
      </p:sp>
    </p:spTree>
    <p:extLst>
      <p:ext uri="{BB962C8B-B14F-4D97-AF65-F5344CB8AC3E}">
        <p14:creationId xmlns:p14="http://schemas.microsoft.com/office/powerpoint/2010/main" val="4059521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261F2-7588-378E-DC3B-E8CD6922BB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3D0A25-9085-ADC2-DACC-6D57829645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18722D-744C-E17A-45BF-7E9B703A1357}"/>
              </a:ext>
            </a:extLst>
          </p:cNvPr>
          <p:cNvSpPr>
            <a:spLocks noGrp="1"/>
          </p:cNvSpPr>
          <p:nvPr>
            <p:ph type="dt" sz="half" idx="10"/>
          </p:nvPr>
        </p:nvSpPr>
        <p:spPr/>
        <p:txBody>
          <a:bodyPr/>
          <a:lstStyle/>
          <a:p>
            <a:fld id="{1DBE24D5-2798-471E-AF5A-F84E2DA026CD}" type="datetimeFigureOut">
              <a:rPr lang="en-IN" smtClean="0"/>
              <a:t>30-08-2024</a:t>
            </a:fld>
            <a:endParaRPr lang="en-IN"/>
          </a:p>
        </p:txBody>
      </p:sp>
      <p:sp>
        <p:nvSpPr>
          <p:cNvPr id="5" name="Footer Placeholder 4">
            <a:extLst>
              <a:ext uri="{FF2B5EF4-FFF2-40B4-BE49-F238E27FC236}">
                <a16:creationId xmlns:a16="http://schemas.microsoft.com/office/drawing/2014/main" id="{C84D8761-4DA9-3E16-5FA5-D1CD938416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EDC748-D6C0-139C-2801-7148D994592E}"/>
              </a:ext>
            </a:extLst>
          </p:cNvPr>
          <p:cNvSpPr>
            <a:spLocks noGrp="1"/>
          </p:cNvSpPr>
          <p:nvPr>
            <p:ph type="sldNum" sz="quarter" idx="12"/>
          </p:nvPr>
        </p:nvSpPr>
        <p:spPr/>
        <p:txBody>
          <a:bodyPr/>
          <a:lstStyle/>
          <a:p>
            <a:fld id="{162938A5-8552-46DE-8B3D-1249BC5DF279}" type="slidenum">
              <a:rPr lang="en-IN" smtClean="0"/>
              <a:t>‹#›</a:t>
            </a:fld>
            <a:endParaRPr lang="en-IN"/>
          </a:p>
        </p:txBody>
      </p:sp>
    </p:spTree>
    <p:extLst>
      <p:ext uri="{BB962C8B-B14F-4D97-AF65-F5344CB8AC3E}">
        <p14:creationId xmlns:p14="http://schemas.microsoft.com/office/powerpoint/2010/main" val="3678900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B44B5-17AE-9654-1832-DBA1EB0421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2F7C16-6AB7-C0D0-1D5F-2981976AA7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1A7BA4-A567-1C87-0521-249DCB66E99B}"/>
              </a:ext>
            </a:extLst>
          </p:cNvPr>
          <p:cNvSpPr>
            <a:spLocks noGrp="1"/>
          </p:cNvSpPr>
          <p:nvPr>
            <p:ph type="dt" sz="half" idx="10"/>
          </p:nvPr>
        </p:nvSpPr>
        <p:spPr/>
        <p:txBody>
          <a:bodyPr/>
          <a:lstStyle/>
          <a:p>
            <a:fld id="{1DBE24D5-2798-471E-AF5A-F84E2DA026CD}" type="datetimeFigureOut">
              <a:rPr lang="en-IN" smtClean="0"/>
              <a:t>30-08-2024</a:t>
            </a:fld>
            <a:endParaRPr lang="en-IN"/>
          </a:p>
        </p:txBody>
      </p:sp>
      <p:sp>
        <p:nvSpPr>
          <p:cNvPr id="5" name="Footer Placeholder 4">
            <a:extLst>
              <a:ext uri="{FF2B5EF4-FFF2-40B4-BE49-F238E27FC236}">
                <a16:creationId xmlns:a16="http://schemas.microsoft.com/office/drawing/2014/main" id="{87520D52-2DBE-9648-6940-832A2F74E9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8B100A-B1E7-3E5C-E6B2-3EEC9DE81EC5}"/>
              </a:ext>
            </a:extLst>
          </p:cNvPr>
          <p:cNvSpPr>
            <a:spLocks noGrp="1"/>
          </p:cNvSpPr>
          <p:nvPr>
            <p:ph type="sldNum" sz="quarter" idx="12"/>
          </p:nvPr>
        </p:nvSpPr>
        <p:spPr/>
        <p:txBody>
          <a:bodyPr/>
          <a:lstStyle/>
          <a:p>
            <a:fld id="{162938A5-8552-46DE-8B3D-1249BC5DF279}" type="slidenum">
              <a:rPr lang="en-IN" smtClean="0"/>
              <a:t>‹#›</a:t>
            </a:fld>
            <a:endParaRPr lang="en-IN"/>
          </a:p>
        </p:txBody>
      </p:sp>
    </p:spTree>
    <p:extLst>
      <p:ext uri="{BB962C8B-B14F-4D97-AF65-F5344CB8AC3E}">
        <p14:creationId xmlns:p14="http://schemas.microsoft.com/office/powerpoint/2010/main" val="3264743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F0155-40FE-BDD3-F1B3-73C8DA3EB6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3E1220-52EB-AF6A-A2B4-12E9136DDC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BF66F12-5F0C-D99C-D30F-B5693FF04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8BEC1FC-5405-8866-80DC-39FEB469B982}"/>
              </a:ext>
            </a:extLst>
          </p:cNvPr>
          <p:cNvSpPr>
            <a:spLocks noGrp="1"/>
          </p:cNvSpPr>
          <p:nvPr>
            <p:ph type="dt" sz="half" idx="10"/>
          </p:nvPr>
        </p:nvSpPr>
        <p:spPr/>
        <p:txBody>
          <a:bodyPr/>
          <a:lstStyle/>
          <a:p>
            <a:fld id="{1DBE24D5-2798-471E-AF5A-F84E2DA026CD}" type="datetimeFigureOut">
              <a:rPr lang="en-IN" smtClean="0"/>
              <a:t>30-08-2024</a:t>
            </a:fld>
            <a:endParaRPr lang="en-IN"/>
          </a:p>
        </p:txBody>
      </p:sp>
      <p:sp>
        <p:nvSpPr>
          <p:cNvPr id="6" name="Footer Placeholder 5">
            <a:extLst>
              <a:ext uri="{FF2B5EF4-FFF2-40B4-BE49-F238E27FC236}">
                <a16:creationId xmlns:a16="http://schemas.microsoft.com/office/drawing/2014/main" id="{D0F3E843-B49D-3B6D-4B58-78BBF68EA1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257FF5-4964-CC1C-F98C-789D1B78C098}"/>
              </a:ext>
            </a:extLst>
          </p:cNvPr>
          <p:cNvSpPr>
            <a:spLocks noGrp="1"/>
          </p:cNvSpPr>
          <p:nvPr>
            <p:ph type="sldNum" sz="quarter" idx="12"/>
          </p:nvPr>
        </p:nvSpPr>
        <p:spPr/>
        <p:txBody>
          <a:bodyPr/>
          <a:lstStyle/>
          <a:p>
            <a:fld id="{162938A5-8552-46DE-8B3D-1249BC5DF279}" type="slidenum">
              <a:rPr lang="en-IN" smtClean="0"/>
              <a:t>‹#›</a:t>
            </a:fld>
            <a:endParaRPr lang="en-IN"/>
          </a:p>
        </p:txBody>
      </p:sp>
    </p:spTree>
    <p:extLst>
      <p:ext uri="{BB962C8B-B14F-4D97-AF65-F5344CB8AC3E}">
        <p14:creationId xmlns:p14="http://schemas.microsoft.com/office/powerpoint/2010/main" val="2729986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4EDFB-40D9-A90E-F387-DE3BEF8CB8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051891-7428-B0EC-0241-20CE95A8D3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D0FBFD-0C1D-F969-868B-687C0C3388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18E3EB7-B262-024B-09DC-575FB06043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6582B2-3E88-77A5-C120-09049A09A6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B35B802-9656-C658-1642-6FECF3FE6E32}"/>
              </a:ext>
            </a:extLst>
          </p:cNvPr>
          <p:cNvSpPr>
            <a:spLocks noGrp="1"/>
          </p:cNvSpPr>
          <p:nvPr>
            <p:ph type="dt" sz="half" idx="10"/>
          </p:nvPr>
        </p:nvSpPr>
        <p:spPr/>
        <p:txBody>
          <a:bodyPr/>
          <a:lstStyle/>
          <a:p>
            <a:fld id="{1DBE24D5-2798-471E-AF5A-F84E2DA026CD}" type="datetimeFigureOut">
              <a:rPr lang="en-IN" smtClean="0"/>
              <a:t>30-08-2024</a:t>
            </a:fld>
            <a:endParaRPr lang="en-IN"/>
          </a:p>
        </p:txBody>
      </p:sp>
      <p:sp>
        <p:nvSpPr>
          <p:cNvPr id="8" name="Footer Placeholder 7">
            <a:extLst>
              <a:ext uri="{FF2B5EF4-FFF2-40B4-BE49-F238E27FC236}">
                <a16:creationId xmlns:a16="http://schemas.microsoft.com/office/drawing/2014/main" id="{66F64646-B088-43B6-24C4-BA2D318CC01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52FBE9-727D-F540-1350-F895507412C0}"/>
              </a:ext>
            </a:extLst>
          </p:cNvPr>
          <p:cNvSpPr>
            <a:spLocks noGrp="1"/>
          </p:cNvSpPr>
          <p:nvPr>
            <p:ph type="sldNum" sz="quarter" idx="12"/>
          </p:nvPr>
        </p:nvSpPr>
        <p:spPr/>
        <p:txBody>
          <a:bodyPr/>
          <a:lstStyle/>
          <a:p>
            <a:fld id="{162938A5-8552-46DE-8B3D-1249BC5DF279}" type="slidenum">
              <a:rPr lang="en-IN" smtClean="0"/>
              <a:t>‹#›</a:t>
            </a:fld>
            <a:endParaRPr lang="en-IN"/>
          </a:p>
        </p:txBody>
      </p:sp>
    </p:spTree>
    <p:extLst>
      <p:ext uri="{BB962C8B-B14F-4D97-AF65-F5344CB8AC3E}">
        <p14:creationId xmlns:p14="http://schemas.microsoft.com/office/powerpoint/2010/main" val="3634205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A087D-5095-9F89-C201-4FEC2E2BEA9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625040F-917E-23F7-AE2C-FD88DB1842E5}"/>
              </a:ext>
            </a:extLst>
          </p:cNvPr>
          <p:cNvSpPr>
            <a:spLocks noGrp="1"/>
          </p:cNvSpPr>
          <p:nvPr>
            <p:ph type="dt" sz="half" idx="10"/>
          </p:nvPr>
        </p:nvSpPr>
        <p:spPr/>
        <p:txBody>
          <a:bodyPr/>
          <a:lstStyle/>
          <a:p>
            <a:fld id="{1DBE24D5-2798-471E-AF5A-F84E2DA026CD}" type="datetimeFigureOut">
              <a:rPr lang="en-IN" smtClean="0"/>
              <a:t>30-08-2024</a:t>
            </a:fld>
            <a:endParaRPr lang="en-IN"/>
          </a:p>
        </p:txBody>
      </p:sp>
      <p:sp>
        <p:nvSpPr>
          <p:cNvPr id="4" name="Footer Placeholder 3">
            <a:extLst>
              <a:ext uri="{FF2B5EF4-FFF2-40B4-BE49-F238E27FC236}">
                <a16:creationId xmlns:a16="http://schemas.microsoft.com/office/drawing/2014/main" id="{24BEE300-1664-EBF3-E6A4-B02921C422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84982A7-6D46-FF8C-9BE2-26666EC0ABA3}"/>
              </a:ext>
            </a:extLst>
          </p:cNvPr>
          <p:cNvSpPr>
            <a:spLocks noGrp="1"/>
          </p:cNvSpPr>
          <p:nvPr>
            <p:ph type="sldNum" sz="quarter" idx="12"/>
          </p:nvPr>
        </p:nvSpPr>
        <p:spPr/>
        <p:txBody>
          <a:bodyPr/>
          <a:lstStyle/>
          <a:p>
            <a:fld id="{162938A5-8552-46DE-8B3D-1249BC5DF279}" type="slidenum">
              <a:rPr lang="en-IN" smtClean="0"/>
              <a:t>‹#›</a:t>
            </a:fld>
            <a:endParaRPr lang="en-IN"/>
          </a:p>
        </p:txBody>
      </p:sp>
    </p:spTree>
    <p:extLst>
      <p:ext uri="{BB962C8B-B14F-4D97-AF65-F5344CB8AC3E}">
        <p14:creationId xmlns:p14="http://schemas.microsoft.com/office/powerpoint/2010/main" val="805591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0D8F1B-CA9D-97DA-F604-433BC6435A1D}"/>
              </a:ext>
            </a:extLst>
          </p:cNvPr>
          <p:cNvSpPr>
            <a:spLocks noGrp="1"/>
          </p:cNvSpPr>
          <p:nvPr>
            <p:ph type="dt" sz="half" idx="10"/>
          </p:nvPr>
        </p:nvSpPr>
        <p:spPr/>
        <p:txBody>
          <a:bodyPr/>
          <a:lstStyle/>
          <a:p>
            <a:fld id="{1DBE24D5-2798-471E-AF5A-F84E2DA026CD}" type="datetimeFigureOut">
              <a:rPr lang="en-IN" smtClean="0"/>
              <a:t>30-08-2024</a:t>
            </a:fld>
            <a:endParaRPr lang="en-IN"/>
          </a:p>
        </p:txBody>
      </p:sp>
      <p:sp>
        <p:nvSpPr>
          <p:cNvPr id="3" name="Footer Placeholder 2">
            <a:extLst>
              <a:ext uri="{FF2B5EF4-FFF2-40B4-BE49-F238E27FC236}">
                <a16:creationId xmlns:a16="http://schemas.microsoft.com/office/drawing/2014/main" id="{2B5F165E-7A8C-FF2A-D68A-11E2E578495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03A13B-DD08-2EF0-5D5C-3DCE59082019}"/>
              </a:ext>
            </a:extLst>
          </p:cNvPr>
          <p:cNvSpPr>
            <a:spLocks noGrp="1"/>
          </p:cNvSpPr>
          <p:nvPr>
            <p:ph type="sldNum" sz="quarter" idx="12"/>
          </p:nvPr>
        </p:nvSpPr>
        <p:spPr/>
        <p:txBody>
          <a:bodyPr/>
          <a:lstStyle/>
          <a:p>
            <a:fld id="{162938A5-8552-46DE-8B3D-1249BC5DF279}" type="slidenum">
              <a:rPr lang="en-IN" smtClean="0"/>
              <a:t>‹#›</a:t>
            </a:fld>
            <a:endParaRPr lang="en-IN"/>
          </a:p>
        </p:txBody>
      </p:sp>
    </p:spTree>
    <p:extLst>
      <p:ext uri="{BB962C8B-B14F-4D97-AF65-F5344CB8AC3E}">
        <p14:creationId xmlns:p14="http://schemas.microsoft.com/office/powerpoint/2010/main" val="923618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9874-FA3F-5FC6-A127-A27A10B2B3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9B37C4A-CB6B-21B5-CE13-939225DF5C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194DBC-E909-9D6A-7CC1-1A9A4ACCDB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510C55-C055-8C20-8D32-935459FDA688}"/>
              </a:ext>
            </a:extLst>
          </p:cNvPr>
          <p:cNvSpPr>
            <a:spLocks noGrp="1"/>
          </p:cNvSpPr>
          <p:nvPr>
            <p:ph type="dt" sz="half" idx="10"/>
          </p:nvPr>
        </p:nvSpPr>
        <p:spPr/>
        <p:txBody>
          <a:bodyPr/>
          <a:lstStyle/>
          <a:p>
            <a:fld id="{1DBE24D5-2798-471E-AF5A-F84E2DA026CD}" type="datetimeFigureOut">
              <a:rPr lang="en-IN" smtClean="0"/>
              <a:t>30-08-2024</a:t>
            </a:fld>
            <a:endParaRPr lang="en-IN"/>
          </a:p>
        </p:txBody>
      </p:sp>
      <p:sp>
        <p:nvSpPr>
          <p:cNvPr id="6" name="Footer Placeholder 5">
            <a:extLst>
              <a:ext uri="{FF2B5EF4-FFF2-40B4-BE49-F238E27FC236}">
                <a16:creationId xmlns:a16="http://schemas.microsoft.com/office/drawing/2014/main" id="{E34271B9-EAD1-70E6-2B23-A93E15C534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DBFD57-F203-2185-0A83-36AE222F9BC5}"/>
              </a:ext>
            </a:extLst>
          </p:cNvPr>
          <p:cNvSpPr>
            <a:spLocks noGrp="1"/>
          </p:cNvSpPr>
          <p:nvPr>
            <p:ph type="sldNum" sz="quarter" idx="12"/>
          </p:nvPr>
        </p:nvSpPr>
        <p:spPr/>
        <p:txBody>
          <a:bodyPr/>
          <a:lstStyle/>
          <a:p>
            <a:fld id="{162938A5-8552-46DE-8B3D-1249BC5DF279}" type="slidenum">
              <a:rPr lang="en-IN" smtClean="0"/>
              <a:t>‹#›</a:t>
            </a:fld>
            <a:endParaRPr lang="en-IN"/>
          </a:p>
        </p:txBody>
      </p:sp>
    </p:spTree>
    <p:extLst>
      <p:ext uri="{BB962C8B-B14F-4D97-AF65-F5344CB8AC3E}">
        <p14:creationId xmlns:p14="http://schemas.microsoft.com/office/powerpoint/2010/main" val="2302455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0FE8F-797D-AB6D-5962-93A821B553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21E379-4A32-2FC3-1442-BA2A08A59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29CDAE-0AF4-8C40-C61D-9F8D262845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A4BF7F-496D-B749-73E8-FAD1BCE22D2C}"/>
              </a:ext>
            </a:extLst>
          </p:cNvPr>
          <p:cNvSpPr>
            <a:spLocks noGrp="1"/>
          </p:cNvSpPr>
          <p:nvPr>
            <p:ph type="dt" sz="half" idx="10"/>
          </p:nvPr>
        </p:nvSpPr>
        <p:spPr/>
        <p:txBody>
          <a:bodyPr/>
          <a:lstStyle/>
          <a:p>
            <a:fld id="{1DBE24D5-2798-471E-AF5A-F84E2DA026CD}" type="datetimeFigureOut">
              <a:rPr lang="en-IN" smtClean="0"/>
              <a:t>30-08-2024</a:t>
            </a:fld>
            <a:endParaRPr lang="en-IN"/>
          </a:p>
        </p:txBody>
      </p:sp>
      <p:sp>
        <p:nvSpPr>
          <p:cNvPr id="6" name="Footer Placeholder 5">
            <a:extLst>
              <a:ext uri="{FF2B5EF4-FFF2-40B4-BE49-F238E27FC236}">
                <a16:creationId xmlns:a16="http://schemas.microsoft.com/office/drawing/2014/main" id="{6C52207E-C197-0889-FEB8-1DA0376321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2FBAFF-38B9-08ED-BD21-7BC43482C1CB}"/>
              </a:ext>
            </a:extLst>
          </p:cNvPr>
          <p:cNvSpPr>
            <a:spLocks noGrp="1"/>
          </p:cNvSpPr>
          <p:nvPr>
            <p:ph type="sldNum" sz="quarter" idx="12"/>
          </p:nvPr>
        </p:nvSpPr>
        <p:spPr/>
        <p:txBody>
          <a:bodyPr/>
          <a:lstStyle/>
          <a:p>
            <a:fld id="{162938A5-8552-46DE-8B3D-1249BC5DF279}" type="slidenum">
              <a:rPr lang="en-IN" smtClean="0"/>
              <a:t>‹#›</a:t>
            </a:fld>
            <a:endParaRPr lang="en-IN"/>
          </a:p>
        </p:txBody>
      </p:sp>
    </p:spTree>
    <p:extLst>
      <p:ext uri="{BB962C8B-B14F-4D97-AF65-F5344CB8AC3E}">
        <p14:creationId xmlns:p14="http://schemas.microsoft.com/office/powerpoint/2010/main" val="553564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180C8-5111-7D6E-00C0-D99F3559B2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F6899E-457C-AEC2-AA85-1142BC030F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1CA043-4AB8-3390-E80D-DEF5D7AF4B15}"/>
              </a:ext>
            </a:extLst>
          </p:cNvPr>
          <p:cNvSpPr>
            <a:spLocks noGrp="1"/>
          </p:cNvSpPr>
          <p:nvPr>
            <p:ph type="dt" sz="half" idx="10"/>
          </p:nvPr>
        </p:nvSpPr>
        <p:spPr/>
        <p:txBody>
          <a:bodyPr/>
          <a:lstStyle/>
          <a:p>
            <a:fld id="{1DBE24D5-2798-471E-AF5A-F84E2DA026CD}" type="datetimeFigureOut">
              <a:rPr lang="en-IN" smtClean="0"/>
              <a:t>30-08-2024</a:t>
            </a:fld>
            <a:endParaRPr lang="en-IN"/>
          </a:p>
        </p:txBody>
      </p:sp>
      <p:sp>
        <p:nvSpPr>
          <p:cNvPr id="5" name="Footer Placeholder 4">
            <a:extLst>
              <a:ext uri="{FF2B5EF4-FFF2-40B4-BE49-F238E27FC236}">
                <a16:creationId xmlns:a16="http://schemas.microsoft.com/office/drawing/2014/main" id="{68B57CC8-C351-05C6-B4F7-66D1489368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03B9FE-5942-C55A-9AAF-1A73F44C8525}"/>
              </a:ext>
            </a:extLst>
          </p:cNvPr>
          <p:cNvSpPr>
            <a:spLocks noGrp="1"/>
          </p:cNvSpPr>
          <p:nvPr>
            <p:ph type="sldNum" sz="quarter" idx="12"/>
          </p:nvPr>
        </p:nvSpPr>
        <p:spPr/>
        <p:txBody>
          <a:bodyPr/>
          <a:lstStyle/>
          <a:p>
            <a:fld id="{162938A5-8552-46DE-8B3D-1249BC5DF279}" type="slidenum">
              <a:rPr lang="en-IN" smtClean="0"/>
              <a:t>‹#›</a:t>
            </a:fld>
            <a:endParaRPr lang="en-IN"/>
          </a:p>
        </p:txBody>
      </p:sp>
    </p:spTree>
    <p:extLst>
      <p:ext uri="{BB962C8B-B14F-4D97-AF65-F5344CB8AC3E}">
        <p14:creationId xmlns:p14="http://schemas.microsoft.com/office/powerpoint/2010/main" val="3080797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4EDD03-490A-36AE-4C3C-55A7847155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58828F-6655-109E-18A0-21F9B45953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248333-31F0-961E-919D-231C19D20991}"/>
              </a:ext>
            </a:extLst>
          </p:cNvPr>
          <p:cNvSpPr>
            <a:spLocks noGrp="1"/>
          </p:cNvSpPr>
          <p:nvPr>
            <p:ph type="dt" sz="half" idx="10"/>
          </p:nvPr>
        </p:nvSpPr>
        <p:spPr/>
        <p:txBody>
          <a:bodyPr/>
          <a:lstStyle/>
          <a:p>
            <a:fld id="{1DBE24D5-2798-471E-AF5A-F84E2DA026CD}" type="datetimeFigureOut">
              <a:rPr lang="en-IN" smtClean="0"/>
              <a:t>30-08-2024</a:t>
            </a:fld>
            <a:endParaRPr lang="en-IN"/>
          </a:p>
        </p:txBody>
      </p:sp>
      <p:sp>
        <p:nvSpPr>
          <p:cNvPr id="5" name="Footer Placeholder 4">
            <a:extLst>
              <a:ext uri="{FF2B5EF4-FFF2-40B4-BE49-F238E27FC236}">
                <a16:creationId xmlns:a16="http://schemas.microsoft.com/office/drawing/2014/main" id="{975ED79F-92D9-3190-3CE2-B951BBB0B3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8C8251-D915-A77B-B20E-79085B94C28C}"/>
              </a:ext>
            </a:extLst>
          </p:cNvPr>
          <p:cNvSpPr>
            <a:spLocks noGrp="1"/>
          </p:cNvSpPr>
          <p:nvPr>
            <p:ph type="sldNum" sz="quarter" idx="12"/>
          </p:nvPr>
        </p:nvSpPr>
        <p:spPr/>
        <p:txBody>
          <a:bodyPr/>
          <a:lstStyle/>
          <a:p>
            <a:fld id="{162938A5-8552-46DE-8B3D-1249BC5DF279}" type="slidenum">
              <a:rPr lang="en-IN" smtClean="0"/>
              <a:t>‹#›</a:t>
            </a:fld>
            <a:endParaRPr lang="en-IN"/>
          </a:p>
        </p:txBody>
      </p:sp>
    </p:spTree>
    <p:extLst>
      <p:ext uri="{BB962C8B-B14F-4D97-AF65-F5344CB8AC3E}">
        <p14:creationId xmlns:p14="http://schemas.microsoft.com/office/powerpoint/2010/main" val="4111571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71965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42422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C5AD5E-BF1C-0690-862E-0AF770D2D9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09D13A-91F4-ACDC-9D50-6C6D67F30F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8373DF-FF41-02BA-2B76-234B310D4A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BE24D5-2798-471E-AF5A-F84E2DA026CD}" type="datetimeFigureOut">
              <a:rPr lang="en-IN" smtClean="0"/>
              <a:t>30-08-2024</a:t>
            </a:fld>
            <a:endParaRPr lang="en-IN"/>
          </a:p>
        </p:txBody>
      </p:sp>
      <p:sp>
        <p:nvSpPr>
          <p:cNvPr id="5" name="Footer Placeholder 4">
            <a:extLst>
              <a:ext uri="{FF2B5EF4-FFF2-40B4-BE49-F238E27FC236}">
                <a16:creationId xmlns:a16="http://schemas.microsoft.com/office/drawing/2014/main" id="{633B7F0D-645D-0354-DC0C-CE6E25CC33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BC3411D-514A-9D41-8059-596305C090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2938A5-8552-46DE-8B3D-1249BC5DF279}" type="slidenum">
              <a:rPr lang="en-IN" smtClean="0"/>
              <a:t>‹#›</a:t>
            </a:fld>
            <a:endParaRPr lang="en-IN"/>
          </a:p>
        </p:txBody>
      </p:sp>
    </p:spTree>
    <p:extLst>
      <p:ext uri="{BB962C8B-B14F-4D97-AF65-F5344CB8AC3E}">
        <p14:creationId xmlns:p14="http://schemas.microsoft.com/office/powerpoint/2010/main" val="3202805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86200" y="1190148"/>
            <a:ext cx="11619600" cy="2736800"/>
          </a:xfrm>
          <a:prstGeom prst="rect">
            <a:avLst/>
          </a:prstGeom>
        </p:spPr>
        <p:txBody>
          <a:bodyPr spcFirstLastPara="1" vert="horz" wrap="square" lIns="121900" tIns="121900" rIns="121900" bIns="121900" rtlCol="0" anchor="b" anchorCtr="0">
            <a:noAutofit/>
          </a:bodyPr>
          <a:lstStyle/>
          <a:p>
            <a:r>
              <a:rPr lang="en" sz="5867" dirty="0">
                <a:latin typeface="Times New Roman"/>
                <a:ea typeface="Times New Roman"/>
                <a:cs typeface="Times New Roman"/>
                <a:sym typeface="Times New Roman"/>
              </a:rPr>
              <a:t>Understanding Human Behaviour</a:t>
            </a:r>
            <a:br>
              <a:rPr lang="en" sz="5867" dirty="0">
                <a:latin typeface="Times New Roman"/>
                <a:ea typeface="Times New Roman"/>
                <a:cs typeface="Times New Roman"/>
                <a:sym typeface="Times New Roman"/>
              </a:rPr>
            </a:br>
            <a:br>
              <a:rPr lang="en" sz="5867" dirty="0">
                <a:latin typeface="Times New Roman"/>
                <a:ea typeface="Times New Roman"/>
                <a:cs typeface="Times New Roman"/>
                <a:sym typeface="Times New Roman"/>
              </a:rPr>
            </a:br>
            <a:r>
              <a:rPr lang="en-IN" sz="4267" i="1" dirty="0">
                <a:solidFill>
                  <a:schemeClr val="dk1"/>
                </a:solidFill>
                <a:latin typeface="Times New Roman"/>
                <a:ea typeface="Times New Roman"/>
                <a:cs typeface="Times New Roman"/>
                <a:sym typeface="Times New Roman"/>
              </a:rPr>
              <a:t>Course Code: NHSI 103</a:t>
            </a:r>
            <a:br>
              <a:rPr lang="en-IN" sz="6400" dirty="0">
                <a:solidFill>
                  <a:schemeClr val="dk1"/>
                </a:solidFill>
                <a:latin typeface="Times New Roman"/>
                <a:ea typeface="Times New Roman"/>
                <a:cs typeface="Times New Roman"/>
                <a:sym typeface="Times New Roman"/>
              </a:rPr>
            </a:br>
            <a:endParaRPr sz="5867" dirty="0">
              <a:latin typeface="Times New Roman"/>
              <a:ea typeface="Times New Roman"/>
              <a:cs typeface="Times New Roman"/>
              <a:sym typeface="Times New Roman"/>
            </a:endParaRPr>
          </a:p>
        </p:txBody>
      </p:sp>
      <p:sp>
        <p:nvSpPr>
          <p:cNvPr id="55" name="Google Shape;55;p13"/>
          <p:cNvSpPr txBox="1">
            <a:spLocks noGrp="1"/>
          </p:cNvSpPr>
          <p:nvPr>
            <p:ph type="subTitle" idx="1"/>
          </p:nvPr>
        </p:nvSpPr>
        <p:spPr>
          <a:xfrm>
            <a:off x="545000" y="4813305"/>
            <a:ext cx="11360800" cy="2736799"/>
          </a:xfrm>
          <a:prstGeom prst="rect">
            <a:avLst/>
          </a:prstGeom>
        </p:spPr>
        <p:txBody>
          <a:bodyPr spcFirstLastPara="1" vert="horz" wrap="square" lIns="121900" tIns="121900" rIns="121900" bIns="121900" rtlCol="0" anchor="t" anchorCtr="0">
            <a:normAutofit/>
          </a:bodyPr>
          <a:lstStyle/>
          <a:p>
            <a:pPr>
              <a:spcBef>
                <a:spcPts val="0"/>
              </a:spcBef>
            </a:pPr>
            <a:r>
              <a:rPr lang="en" sz="4800" u="sng" dirty="0">
                <a:solidFill>
                  <a:schemeClr val="dk1"/>
                </a:solidFill>
                <a:effectLst>
                  <a:outerShdw blurRad="38100" dist="38100" dir="2700000" algn="tl">
                    <a:srgbClr val="000000">
                      <a:alpha val="43137"/>
                    </a:srgbClr>
                  </a:outerShdw>
                </a:effectLst>
                <a:latin typeface="Times New Roman"/>
                <a:ea typeface="Times New Roman"/>
                <a:cs typeface="Times New Roman"/>
                <a:sym typeface="Times New Roman"/>
              </a:rPr>
              <a:t>Unit 1: INTRODUCTION</a:t>
            </a:r>
          </a:p>
          <a:p>
            <a:pPr>
              <a:spcBef>
                <a:spcPts val="0"/>
              </a:spcBef>
            </a:pPr>
            <a:endParaRPr lang="en-IN" sz="2667"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F49955-87E1-8666-372D-21F983AB018B}"/>
              </a:ext>
            </a:extLst>
          </p:cNvPr>
          <p:cNvSpPr txBox="1"/>
          <p:nvPr/>
        </p:nvSpPr>
        <p:spPr>
          <a:xfrm>
            <a:off x="2213318" y="115392"/>
            <a:ext cx="7765365" cy="995209"/>
          </a:xfrm>
          <a:prstGeom prst="rect">
            <a:avLst/>
          </a:prstGeom>
          <a:noFill/>
        </p:spPr>
        <p:txBody>
          <a:bodyPr wrap="square" rtlCol="0">
            <a:spAutoFit/>
          </a:bodyPr>
          <a:lstStyle/>
          <a:p>
            <a:pPr algn="ctr"/>
            <a:r>
              <a:rPr lang="en-IN" sz="5867" dirty="0">
                <a:latin typeface="Times New Roman" panose="02020603050405020304" pitchFamily="18" charset="0"/>
                <a:cs typeface="Times New Roman" panose="02020603050405020304" pitchFamily="18" charset="0"/>
              </a:rPr>
              <a:t>What is Psychology?</a:t>
            </a:r>
          </a:p>
        </p:txBody>
      </p:sp>
      <p:sp>
        <p:nvSpPr>
          <p:cNvPr id="4" name="TextBox 3">
            <a:extLst>
              <a:ext uri="{FF2B5EF4-FFF2-40B4-BE49-F238E27FC236}">
                <a16:creationId xmlns:a16="http://schemas.microsoft.com/office/drawing/2014/main" id="{A3DF19EE-4F9E-3CBA-4FEA-0E414D86F9A9}"/>
              </a:ext>
            </a:extLst>
          </p:cNvPr>
          <p:cNvSpPr txBox="1"/>
          <p:nvPr/>
        </p:nvSpPr>
        <p:spPr>
          <a:xfrm>
            <a:off x="731520" y="1110601"/>
            <a:ext cx="10728960" cy="5565947"/>
          </a:xfrm>
          <a:prstGeom prst="rect">
            <a:avLst/>
          </a:prstGeom>
          <a:noFill/>
        </p:spPr>
        <p:txBody>
          <a:bodyPr wrap="square" rtlCol="0">
            <a:spAutoFit/>
          </a:bodyPr>
          <a:lstStyle/>
          <a:p>
            <a:pPr marL="380990" indent="-380990">
              <a:lnSpc>
                <a:spcPct val="150000"/>
              </a:lnSpc>
              <a:buFont typeface="Arial" panose="020B0604020202020204" pitchFamily="34" charset="0"/>
              <a:buChar char="•"/>
            </a:pPr>
            <a:r>
              <a:rPr lang="en-US" sz="2400" b="1" i="1" dirty="0">
                <a:latin typeface="Times New Roman" panose="02020603050405020304" pitchFamily="18" charset="0"/>
                <a:cs typeface="Times New Roman" panose="02020603050405020304" pitchFamily="18" charset="0"/>
              </a:rPr>
              <a:t>“psyche” </a:t>
            </a:r>
            <a:r>
              <a:rPr lang="en-US" sz="2400" dirty="0">
                <a:latin typeface="Times New Roman" panose="02020603050405020304" pitchFamily="18" charset="0"/>
                <a:cs typeface="Times New Roman" panose="02020603050405020304" pitchFamily="18" charset="0"/>
              </a:rPr>
              <a:t>is Greek for breath of life or soul</a:t>
            </a:r>
          </a:p>
          <a:p>
            <a:pPr>
              <a:lnSpc>
                <a:spcPct val="150000"/>
              </a:lnSpc>
            </a:pPr>
            <a:endParaRPr lang="en-US" sz="2400" dirty="0">
              <a:latin typeface="Times New Roman" panose="02020603050405020304" pitchFamily="18" charset="0"/>
              <a:cs typeface="Times New Roman" panose="02020603050405020304" pitchFamily="18" charset="0"/>
            </a:endParaRPr>
          </a:p>
          <a:p>
            <a:pPr marL="380990" indent="-38099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scientific study of the </a:t>
            </a:r>
            <a:r>
              <a:rPr lang="en-US" sz="2400" b="1" i="1" dirty="0">
                <a:latin typeface="Times New Roman" panose="02020603050405020304" pitchFamily="18" charset="0"/>
                <a:cs typeface="Times New Roman" panose="02020603050405020304" pitchFamily="18" charset="0"/>
              </a:rPr>
              <a:t>mental processes</a:t>
            </a:r>
            <a:r>
              <a:rPr lang="en-US" sz="2400" dirty="0">
                <a:latin typeface="Times New Roman" panose="02020603050405020304" pitchFamily="18" charset="0"/>
                <a:cs typeface="Times New Roman" panose="02020603050405020304" pitchFamily="18" charset="0"/>
              </a:rPr>
              <a:t>, </a:t>
            </a:r>
            <a:r>
              <a:rPr lang="en-US" sz="2400" b="1" i="1" dirty="0">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and </a:t>
            </a:r>
            <a:r>
              <a:rPr lang="en-US" sz="2400" u="sng" dirty="0">
                <a:latin typeface="Times New Roman" panose="02020603050405020304" pitchFamily="18" charset="0"/>
                <a:cs typeface="Times New Roman" panose="02020603050405020304" pitchFamily="18" charset="0"/>
              </a:rPr>
              <a:t>the relationship between them</a:t>
            </a:r>
          </a:p>
          <a:p>
            <a:pPr>
              <a:lnSpc>
                <a:spcPct val="150000"/>
              </a:lnSpc>
            </a:pPr>
            <a:endParaRPr lang="en-US" sz="2400" dirty="0">
              <a:latin typeface="Times New Roman" panose="02020603050405020304" pitchFamily="18" charset="0"/>
              <a:cs typeface="Times New Roman" panose="02020603050405020304" pitchFamily="18" charset="0"/>
            </a:endParaRPr>
          </a:p>
          <a:p>
            <a:pPr marL="380990" indent="-38099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Both a </a:t>
            </a:r>
            <a:r>
              <a:rPr lang="en-IN" sz="2400" b="1" i="1" dirty="0">
                <a:latin typeface="Times New Roman" panose="02020603050405020304" pitchFamily="18" charset="0"/>
                <a:cs typeface="Times New Roman" panose="02020603050405020304" pitchFamily="18" charset="0"/>
              </a:rPr>
              <a:t>natural science </a:t>
            </a:r>
            <a:r>
              <a:rPr lang="en-IN" sz="2400" dirty="0">
                <a:latin typeface="Times New Roman" panose="02020603050405020304" pitchFamily="18" charset="0"/>
                <a:cs typeface="Times New Roman" panose="02020603050405020304" pitchFamily="18" charset="0"/>
              </a:rPr>
              <a:t>(studying the laws of nature) and </a:t>
            </a:r>
            <a:r>
              <a:rPr lang="en-IN" sz="2400" b="1" i="1" dirty="0">
                <a:latin typeface="Times New Roman" panose="02020603050405020304" pitchFamily="18" charset="0"/>
                <a:cs typeface="Times New Roman" panose="02020603050405020304" pitchFamily="18" charset="0"/>
              </a:rPr>
              <a:t>social science </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study of thoughts, feelings and </a:t>
            </a:r>
            <a:r>
              <a:rPr lang="en-US" sz="2400" dirty="0" err="1">
                <a:latin typeface="Times New Roman" panose="02020603050405020304" pitchFamily="18" charset="0"/>
                <a:cs typeface="Times New Roman" panose="02020603050405020304" pitchFamily="18" charset="0"/>
              </a:rPr>
              <a:t>behaviours</a:t>
            </a:r>
            <a:r>
              <a:rPr lang="en-US" sz="2400" dirty="0">
                <a:latin typeface="Times New Roman" panose="02020603050405020304" pitchFamily="18" charset="0"/>
                <a:cs typeface="Times New Roman" panose="02020603050405020304" pitchFamily="18" charset="0"/>
              </a:rPr>
              <a:t> of people)</a:t>
            </a:r>
          </a:p>
          <a:p>
            <a:pPr>
              <a:lnSpc>
                <a:spcPct val="150000"/>
              </a:lnSpc>
            </a:pPr>
            <a:endParaRPr lang="en-US" sz="2400" dirty="0">
              <a:latin typeface="Times New Roman" panose="02020603050405020304" pitchFamily="18" charset="0"/>
              <a:cs typeface="Times New Roman" panose="02020603050405020304" pitchFamily="18" charset="0"/>
            </a:endParaRPr>
          </a:p>
          <a:p>
            <a:pPr marL="380990" indent="-38099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t>
            </a:r>
            <a:r>
              <a:rPr lang="en-US" sz="2400" b="1" i="1" dirty="0">
                <a:latin typeface="Times New Roman" panose="02020603050405020304" pitchFamily="18" charset="0"/>
                <a:cs typeface="Times New Roman" panose="02020603050405020304" pitchFamily="18" charset="0"/>
              </a:rPr>
              <a:t>first formal psychological laboratory </a:t>
            </a:r>
            <a:r>
              <a:rPr lang="en-US" sz="2400" dirty="0">
                <a:latin typeface="Times New Roman" panose="02020603050405020304" pitchFamily="18" charset="0"/>
                <a:cs typeface="Times New Roman" panose="02020603050405020304" pitchFamily="18" charset="0"/>
              </a:rPr>
              <a:t>was founded in 1879 by </a:t>
            </a:r>
            <a:r>
              <a:rPr lang="en-US" sz="2400" b="1" i="1" dirty="0">
                <a:latin typeface="Times New Roman" panose="02020603050405020304" pitchFamily="18" charset="0"/>
                <a:cs typeface="Times New Roman" panose="02020603050405020304" pitchFamily="18" charset="0"/>
              </a:rPr>
              <a:t>Wilhelm Wundt</a:t>
            </a:r>
            <a:r>
              <a:rPr lang="en-US" sz="2400" dirty="0">
                <a:latin typeface="Times New Roman" panose="02020603050405020304" pitchFamily="18" charset="0"/>
                <a:cs typeface="Times New Roman" panose="02020603050405020304" pitchFamily="18" charset="0"/>
              </a:rPr>
              <a:t>, a psychologist and philosopher at the University of Leipzig in Germany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4042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0"/>
          <p:cNvSpPr txBox="1">
            <a:spLocks noGrp="1"/>
          </p:cNvSpPr>
          <p:nvPr>
            <p:ph type="ctrTitle"/>
          </p:nvPr>
        </p:nvSpPr>
        <p:spPr>
          <a:xfrm>
            <a:off x="286200" y="1425533"/>
            <a:ext cx="11619600" cy="2736800"/>
          </a:xfrm>
          <a:prstGeom prst="rect">
            <a:avLst/>
          </a:prstGeom>
        </p:spPr>
        <p:txBody>
          <a:bodyPr spcFirstLastPara="1" vert="horz" wrap="square" lIns="121900" tIns="121900" rIns="121900" bIns="121900" rtlCol="0" anchor="b" anchorCtr="0">
            <a:normAutofit/>
          </a:bodyPr>
          <a:lstStyle/>
          <a:p>
            <a:pPr>
              <a:spcBef>
                <a:spcPts val="0"/>
              </a:spcBef>
            </a:pPr>
            <a:r>
              <a:rPr lang="en" sz="6533" dirty="0">
                <a:latin typeface="Times New Roman"/>
                <a:ea typeface="Times New Roman"/>
                <a:cs typeface="Times New Roman"/>
                <a:sym typeface="Times New Roman"/>
              </a:rPr>
              <a:t>Major Perspectives in Psychology</a:t>
            </a:r>
            <a:endParaRPr sz="6533"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1"/>
          <p:cNvSpPr txBox="1">
            <a:spLocks noGrp="1"/>
          </p:cNvSpPr>
          <p:nvPr>
            <p:ph type="body" idx="1"/>
          </p:nvPr>
        </p:nvSpPr>
        <p:spPr>
          <a:xfrm>
            <a:off x="257928" y="-178129"/>
            <a:ext cx="8713285" cy="4555200"/>
          </a:xfrm>
          <a:prstGeom prst="rect">
            <a:avLst/>
          </a:prstGeom>
        </p:spPr>
        <p:txBody>
          <a:bodyPr spcFirstLastPara="1" vert="horz" wrap="square" lIns="121900" tIns="121900" rIns="121900" bIns="121900" rtlCol="0" anchor="t" anchorCtr="0">
            <a:noAutofit/>
          </a:bodyPr>
          <a:lstStyle/>
          <a:p>
            <a:pPr marL="0" indent="0" algn="ctr">
              <a:buNone/>
            </a:pPr>
            <a:r>
              <a:rPr lang="en" sz="3200" b="1" dirty="0">
                <a:solidFill>
                  <a:schemeClr val="dk1"/>
                </a:solidFill>
                <a:latin typeface="Times New Roman"/>
                <a:ea typeface="Times New Roman"/>
                <a:cs typeface="Times New Roman"/>
                <a:sym typeface="Times New Roman"/>
              </a:rPr>
              <a:t>Earliest perspectives</a:t>
            </a:r>
            <a:endParaRPr sz="3200" b="1" dirty="0">
              <a:solidFill>
                <a:schemeClr val="dk1"/>
              </a:solidFill>
              <a:latin typeface="Times New Roman"/>
              <a:ea typeface="Times New Roman"/>
              <a:cs typeface="Times New Roman"/>
              <a:sym typeface="Times New Roman"/>
            </a:endParaRPr>
          </a:p>
          <a:p>
            <a:pPr marL="0" indent="0">
              <a:spcBef>
                <a:spcPts val="1600"/>
              </a:spcBef>
              <a:buNone/>
            </a:pPr>
            <a:endParaRPr lang="en" sz="2667" b="1" dirty="0">
              <a:solidFill>
                <a:schemeClr val="dk1"/>
              </a:solidFill>
              <a:latin typeface="Times New Roman"/>
              <a:ea typeface="Times New Roman"/>
              <a:cs typeface="Times New Roman"/>
              <a:sym typeface="Times New Roman"/>
            </a:endParaRPr>
          </a:p>
          <a:p>
            <a:pPr marL="0" indent="0">
              <a:spcBef>
                <a:spcPts val="1600"/>
              </a:spcBef>
              <a:buNone/>
            </a:pPr>
            <a:r>
              <a:rPr lang="en" sz="2667" b="1" dirty="0">
                <a:solidFill>
                  <a:schemeClr val="dk1"/>
                </a:solidFill>
                <a:latin typeface="Times New Roman"/>
                <a:ea typeface="Times New Roman"/>
                <a:cs typeface="Times New Roman"/>
                <a:sym typeface="Times New Roman"/>
              </a:rPr>
              <a:t>Structuralism</a:t>
            </a:r>
            <a:endParaRPr sz="2667" b="1" dirty="0">
              <a:solidFill>
                <a:schemeClr val="dk1"/>
              </a:solidFill>
              <a:latin typeface="Times New Roman"/>
              <a:ea typeface="Times New Roman"/>
              <a:cs typeface="Times New Roman"/>
              <a:sym typeface="Times New Roman"/>
            </a:endParaRPr>
          </a:p>
          <a:p>
            <a:pPr marL="0" indent="0">
              <a:spcBef>
                <a:spcPts val="1600"/>
              </a:spcBef>
              <a:buNone/>
            </a:pPr>
            <a:r>
              <a:rPr lang="en" sz="2667" i="1" dirty="0">
                <a:solidFill>
                  <a:schemeClr val="dk1"/>
                </a:solidFill>
                <a:latin typeface="Times New Roman"/>
                <a:ea typeface="Times New Roman"/>
                <a:cs typeface="Times New Roman"/>
                <a:sym typeface="Times New Roman"/>
              </a:rPr>
              <a:t>Wilhelm Wundt</a:t>
            </a:r>
            <a:r>
              <a:rPr lang="en" sz="2667" dirty="0">
                <a:solidFill>
                  <a:schemeClr val="dk1"/>
                </a:solidFill>
                <a:latin typeface="Times New Roman"/>
                <a:ea typeface="Times New Roman"/>
                <a:cs typeface="Times New Roman"/>
                <a:sym typeface="Times New Roman"/>
              </a:rPr>
              <a:t> (Father of Experimental Psychology)</a:t>
            </a:r>
            <a:endParaRPr sz="2667" dirty="0">
              <a:solidFill>
                <a:schemeClr val="dk1"/>
              </a:solidFill>
              <a:latin typeface="Times New Roman"/>
              <a:ea typeface="Times New Roman"/>
              <a:cs typeface="Times New Roman"/>
              <a:sym typeface="Times New Roman"/>
            </a:endParaRPr>
          </a:p>
          <a:p>
            <a:pPr indent="-474121">
              <a:spcBef>
                <a:spcPts val="1600"/>
              </a:spcBef>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Content (structure) of consciousness</a:t>
            </a:r>
          </a:p>
          <a:p>
            <a:pPr indent="-474121">
              <a:spcBef>
                <a:spcPts val="1600"/>
              </a:spcBef>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Objective Introspection</a:t>
            </a:r>
          </a:p>
          <a:p>
            <a:pPr indent="-474121">
              <a:spcBef>
                <a:spcPts val="1600"/>
              </a:spcBef>
              <a:buClr>
                <a:schemeClr val="dk1"/>
              </a:buClr>
              <a:buSzPts val="2000"/>
              <a:buFont typeface="Times New Roman"/>
              <a:buChar char="-"/>
            </a:pPr>
            <a:r>
              <a:rPr lang="en" i="1" dirty="0">
                <a:solidFill>
                  <a:schemeClr val="dk1"/>
                </a:solidFill>
                <a:latin typeface="Times New Roman"/>
                <a:ea typeface="Times New Roman"/>
                <a:cs typeface="Times New Roman"/>
                <a:sym typeface="Times New Roman"/>
              </a:rPr>
              <a:t>Edward Titchener</a:t>
            </a:r>
            <a:r>
              <a:rPr lang="en" dirty="0">
                <a:solidFill>
                  <a:schemeClr val="dk1"/>
                </a:solidFill>
                <a:latin typeface="Times New Roman"/>
                <a:ea typeface="Times New Roman"/>
                <a:cs typeface="Times New Roman"/>
                <a:sym typeface="Times New Roman"/>
              </a:rPr>
              <a:t> – Structuralism </a:t>
            </a:r>
            <a:endParaRPr dirty="0">
              <a:solidFill>
                <a:schemeClr val="dk1"/>
              </a:solidFill>
              <a:latin typeface="Times New Roman"/>
              <a:ea typeface="Times New Roman"/>
              <a:cs typeface="Times New Roman"/>
              <a:sym typeface="Times New Roman"/>
            </a:endParaRPr>
          </a:p>
          <a:p>
            <a:pPr marL="0" indent="0">
              <a:spcBef>
                <a:spcPts val="1600"/>
              </a:spcBef>
              <a:buNone/>
            </a:pPr>
            <a:r>
              <a:rPr lang="en" sz="2667" b="1" dirty="0">
                <a:solidFill>
                  <a:schemeClr val="dk1"/>
                </a:solidFill>
                <a:latin typeface="Times New Roman"/>
                <a:ea typeface="Times New Roman"/>
                <a:cs typeface="Times New Roman"/>
                <a:sym typeface="Times New Roman"/>
              </a:rPr>
              <a:t>Functionalism</a:t>
            </a:r>
            <a:endParaRPr sz="2667" b="1" dirty="0">
              <a:solidFill>
                <a:schemeClr val="dk1"/>
              </a:solidFill>
              <a:latin typeface="Times New Roman"/>
              <a:ea typeface="Times New Roman"/>
              <a:cs typeface="Times New Roman"/>
              <a:sym typeface="Times New Roman"/>
            </a:endParaRPr>
          </a:p>
          <a:p>
            <a:pPr marL="0" indent="0">
              <a:spcBef>
                <a:spcPts val="1600"/>
              </a:spcBef>
              <a:buNone/>
            </a:pPr>
            <a:r>
              <a:rPr lang="en" sz="2667" i="1" dirty="0">
                <a:solidFill>
                  <a:schemeClr val="dk1"/>
                </a:solidFill>
                <a:latin typeface="Times New Roman"/>
                <a:ea typeface="Times New Roman"/>
                <a:cs typeface="Times New Roman"/>
                <a:sym typeface="Times New Roman"/>
              </a:rPr>
              <a:t>William James</a:t>
            </a:r>
            <a:endParaRPr sz="2667" i="1" dirty="0">
              <a:solidFill>
                <a:schemeClr val="dk1"/>
              </a:solidFill>
              <a:latin typeface="Times New Roman"/>
              <a:ea typeface="Times New Roman"/>
              <a:cs typeface="Times New Roman"/>
              <a:sym typeface="Times New Roman"/>
            </a:endParaRPr>
          </a:p>
          <a:p>
            <a:pPr indent="-474121">
              <a:spcBef>
                <a:spcPts val="1600"/>
              </a:spcBef>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Function of consciousness - </a:t>
            </a:r>
            <a:r>
              <a:rPr lang="en-US" sz="2133" dirty="0">
                <a:latin typeface="Times New Roman" panose="02020603050405020304" pitchFamily="18" charset="0"/>
                <a:cs typeface="Times New Roman" panose="02020603050405020304" pitchFamily="18" charset="0"/>
              </a:rPr>
              <a:t>how the mind allows people to adapt, live, work, and play</a:t>
            </a:r>
            <a:endParaRPr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pic>
        <p:nvPicPr>
          <p:cNvPr id="3" name="Picture 2">
            <a:extLst>
              <a:ext uri="{FF2B5EF4-FFF2-40B4-BE49-F238E27FC236}">
                <a16:creationId xmlns:a16="http://schemas.microsoft.com/office/drawing/2014/main" id="{DF8465E1-FFA8-90F7-EC66-C4FEBF79E781}"/>
              </a:ext>
            </a:extLst>
          </p:cNvPr>
          <p:cNvPicPr>
            <a:picLocks noChangeAspect="1"/>
          </p:cNvPicPr>
          <p:nvPr/>
        </p:nvPicPr>
        <p:blipFill rotWithShape="1">
          <a:blip r:embed="rId3"/>
          <a:srcRect l="7675" t="5570" r="5804"/>
          <a:stretch/>
        </p:blipFill>
        <p:spPr>
          <a:xfrm>
            <a:off x="9230933" y="188461"/>
            <a:ext cx="2703139" cy="3194935"/>
          </a:xfrm>
          <a:prstGeom prst="rect">
            <a:avLst/>
          </a:prstGeom>
        </p:spPr>
      </p:pic>
      <p:pic>
        <p:nvPicPr>
          <p:cNvPr id="5" name="Picture 4">
            <a:extLst>
              <a:ext uri="{FF2B5EF4-FFF2-40B4-BE49-F238E27FC236}">
                <a16:creationId xmlns:a16="http://schemas.microsoft.com/office/drawing/2014/main" id="{9CF28D4D-6479-D134-A6E3-5EA40624BCDD}"/>
              </a:ext>
            </a:extLst>
          </p:cNvPr>
          <p:cNvPicPr>
            <a:picLocks noChangeAspect="1"/>
          </p:cNvPicPr>
          <p:nvPr/>
        </p:nvPicPr>
        <p:blipFill>
          <a:blip r:embed="rId4"/>
          <a:stretch>
            <a:fillRect/>
          </a:stretch>
        </p:blipFill>
        <p:spPr>
          <a:xfrm>
            <a:off x="9230934" y="3474607"/>
            <a:ext cx="2703137" cy="33833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xEl>
                                              <p:pRg st="2" end="2"/>
                                            </p:txEl>
                                          </p:spTgt>
                                        </p:tgtEl>
                                        <p:attrNameLst>
                                          <p:attrName>style.visibility</p:attrName>
                                        </p:attrNameLst>
                                      </p:cBhvr>
                                      <p:to>
                                        <p:strVal val="visible"/>
                                      </p:to>
                                    </p:set>
                                    <p:animEffect transition="in" filter="fade">
                                      <p:cBhvr>
                                        <p:cTn id="7" dur="500"/>
                                        <p:tgtEl>
                                          <p:spTgt spid="98">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8">
                                            <p:txEl>
                                              <p:pRg st="3" end="3"/>
                                            </p:txEl>
                                          </p:spTgt>
                                        </p:tgtEl>
                                        <p:attrNameLst>
                                          <p:attrName>style.visibility</p:attrName>
                                        </p:attrNameLst>
                                      </p:cBhvr>
                                      <p:to>
                                        <p:strVal val="visible"/>
                                      </p:to>
                                    </p:set>
                                    <p:animEffect transition="in" filter="fade">
                                      <p:cBhvr>
                                        <p:cTn id="10" dur="500"/>
                                        <p:tgtEl>
                                          <p:spTgt spid="98">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8">
                                            <p:txEl>
                                              <p:pRg st="4" end="4"/>
                                            </p:txEl>
                                          </p:spTgt>
                                        </p:tgtEl>
                                        <p:attrNameLst>
                                          <p:attrName>style.visibility</p:attrName>
                                        </p:attrNameLst>
                                      </p:cBhvr>
                                      <p:to>
                                        <p:strVal val="visible"/>
                                      </p:to>
                                    </p:set>
                                    <p:animEffect transition="in" filter="fade">
                                      <p:cBhvr>
                                        <p:cTn id="13" dur="500"/>
                                        <p:tgtEl>
                                          <p:spTgt spid="98">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8">
                                            <p:txEl>
                                              <p:pRg st="5" end="5"/>
                                            </p:txEl>
                                          </p:spTgt>
                                        </p:tgtEl>
                                        <p:attrNameLst>
                                          <p:attrName>style.visibility</p:attrName>
                                        </p:attrNameLst>
                                      </p:cBhvr>
                                      <p:to>
                                        <p:strVal val="visible"/>
                                      </p:to>
                                    </p:set>
                                    <p:animEffect transition="in" filter="fade">
                                      <p:cBhvr>
                                        <p:cTn id="16" dur="500"/>
                                        <p:tgtEl>
                                          <p:spTgt spid="98">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8">
                                            <p:txEl>
                                              <p:pRg st="6" end="6"/>
                                            </p:txEl>
                                          </p:spTgt>
                                        </p:tgtEl>
                                        <p:attrNameLst>
                                          <p:attrName>style.visibility</p:attrName>
                                        </p:attrNameLst>
                                      </p:cBhvr>
                                      <p:to>
                                        <p:strVal val="visible"/>
                                      </p:to>
                                    </p:set>
                                    <p:animEffect transition="in" filter="fade">
                                      <p:cBhvr>
                                        <p:cTn id="19" dur="500"/>
                                        <p:tgtEl>
                                          <p:spTgt spid="98">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8">
                                            <p:txEl>
                                              <p:pRg st="7" end="7"/>
                                            </p:txEl>
                                          </p:spTgt>
                                        </p:tgtEl>
                                        <p:attrNameLst>
                                          <p:attrName>style.visibility</p:attrName>
                                        </p:attrNameLst>
                                      </p:cBhvr>
                                      <p:to>
                                        <p:strVal val="visible"/>
                                      </p:to>
                                    </p:set>
                                    <p:animEffect transition="in" filter="fade">
                                      <p:cBhvr>
                                        <p:cTn id="29" dur="500"/>
                                        <p:tgtEl>
                                          <p:spTgt spid="98">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98">
                                            <p:txEl>
                                              <p:pRg st="8" end="8"/>
                                            </p:txEl>
                                          </p:spTgt>
                                        </p:tgtEl>
                                        <p:attrNameLst>
                                          <p:attrName>style.visibility</p:attrName>
                                        </p:attrNameLst>
                                      </p:cBhvr>
                                      <p:to>
                                        <p:strVal val="visible"/>
                                      </p:to>
                                    </p:set>
                                    <p:animEffect transition="in" filter="fade">
                                      <p:cBhvr>
                                        <p:cTn id="32" dur="500"/>
                                        <p:tgtEl>
                                          <p:spTgt spid="98">
                                            <p:txEl>
                                              <p:pRg st="8" end="8"/>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98">
                                            <p:txEl>
                                              <p:pRg st="9" end="9"/>
                                            </p:txEl>
                                          </p:spTgt>
                                        </p:tgtEl>
                                        <p:attrNameLst>
                                          <p:attrName>style.visibility</p:attrName>
                                        </p:attrNameLst>
                                      </p:cBhvr>
                                      <p:to>
                                        <p:strVal val="visible"/>
                                      </p:to>
                                    </p:set>
                                    <p:animEffect transition="in" filter="fade">
                                      <p:cBhvr>
                                        <p:cTn id="35" dur="500"/>
                                        <p:tgtEl>
                                          <p:spTgt spid="98">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3"/>
          <p:cNvSpPr txBox="1">
            <a:spLocks noGrp="1"/>
          </p:cNvSpPr>
          <p:nvPr>
            <p:ph type="body" idx="1"/>
          </p:nvPr>
        </p:nvSpPr>
        <p:spPr>
          <a:xfrm>
            <a:off x="348348" y="737969"/>
            <a:ext cx="6583963" cy="5539399"/>
          </a:xfrm>
          <a:prstGeom prst="rect">
            <a:avLst/>
          </a:prstGeom>
        </p:spPr>
        <p:txBody>
          <a:bodyPr spcFirstLastPara="1" vert="horz" wrap="square" lIns="121900" tIns="121900" rIns="121900" bIns="121900" rtlCol="0" anchor="t" anchorCtr="0">
            <a:normAutofit/>
          </a:bodyPr>
          <a:lstStyle/>
          <a:p>
            <a:pPr marL="0" indent="0">
              <a:buNone/>
            </a:pPr>
            <a:r>
              <a:rPr lang="en" sz="2667" b="1" dirty="0">
                <a:solidFill>
                  <a:schemeClr val="dk1"/>
                </a:solidFill>
                <a:latin typeface="Times New Roman"/>
                <a:ea typeface="Times New Roman"/>
                <a:cs typeface="Times New Roman"/>
                <a:sym typeface="Times New Roman"/>
              </a:rPr>
              <a:t>Psychodynamic Perspective</a:t>
            </a:r>
          </a:p>
          <a:p>
            <a:pPr marL="0" indent="0">
              <a:buNone/>
            </a:pPr>
            <a:endParaRPr sz="2667" b="1" dirty="0">
              <a:solidFill>
                <a:schemeClr val="dk1"/>
              </a:solidFill>
              <a:latin typeface="Times New Roman"/>
              <a:ea typeface="Times New Roman"/>
              <a:cs typeface="Times New Roman"/>
              <a:sym typeface="Times New Roman"/>
            </a:endParaRPr>
          </a:p>
          <a:p>
            <a:pPr marL="0" indent="0">
              <a:spcBef>
                <a:spcPts val="1600"/>
              </a:spcBef>
              <a:buNone/>
            </a:pPr>
            <a:r>
              <a:rPr lang="en" sz="2667" i="1" dirty="0">
                <a:solidFill>
                  <a:schemeClr val="dk1"/>
                </a:solidFill>
                <a:latin typeface="Times New Roman"/>
                <a:ea typeface="Times New Roman"/>
                <a:cs typeface="Times New Roman"/>
                <a:sym typeface="Times New Roman"/>
              </a:rPr>
              <a:t>Sigmund Freud</a:t>
            </a:r>
            <a:endParaRPr lang="en-IN" sz="2667" i="1" dirty="0">
              <a:solidFill>
                <a:schemeClr val="dk1"/>
              </a:solidFill>
              <a:latin typeface="Times New Roman"/>
              <a:ea typeface="Times New Roman"/>
              <a:cs typeface="Times New Roman"/>
              <a:sym typeface="Times New Roman"/>
            </a:endParaRPr>
          </a:p>
          <a:p>
            <a:pPr indent="-474121">
              <a:spcBef>
                <a:spcPts val="1600"/>
              </a:spcBef>
              <a:buClr>
                <a:schemeClr val="dk1"/>
              </a:buClr>
              <a:buSzPts val="2000"/>
              <a:buFont typeface="Times New Roman"/>
              <a:buChar char="-"/>
            </a:pPr>
            <a:r>
              <a:rPr lang="en" sz="2667" dirty="0">
                <a:solidFill>
                  <a:schemeClr val="dk1"/>
                </a:solidFill>
                <a:latin typeface="Times New Roman"/>
                <a:ea typeface="Times New Roman"/>
                <a:cs typeface="Times New Roman"/>
                <a:sym typeface="Times New Roman"/>
              </a:rPr>
              <a:t>Behavior influenced by unconscious motives and desires</a:t>
            </a:r>
            <a:endParaRPr sz="2667" dirty="0">
              <a:solidFill>
                <a:schemeClr val="dk1"/>
              </a:solidFill>
              <a:latin typeface="Times New Roman"/>
              <a:ea typeface="Times New Roman"/>
              <a:cs typeface="Times New Roman"/>
              <a:sym typeface="Times New Roman"/>
            </a:endParaRPr>
          </a:p>
          <a:p>
            <a:pPr indent="-474121">
              <a:buClr>
                <a:schemeClr val="dk1"/>
              </a:buClr>
              <a:buSzPts val="2000"/>
              <a:buFont typeface="Times New Roman"/>
              <a:buChar char="-"/>
            </a:pPr>
            <a:r>
              <a:rPr lang="en" sz="2667" dirty="0">
                <a:solidFill>
                  <a:schemeClr val="dk1"/>
                </a:solidFill>
                <a:latin typeface="Times New Roman"/>
                <a:ea typeface="Times New Roman"/>
                <a:cs typeface="Times New Roman"/>
                <a:sym typeface="Times New Roman"/>
              </a:rPr>
              <a:t>Inner conflicts</a:t>
            </a:r>
            <a:endParaRPr sz="2667" dirty="0">
              <a:solidFill>
                <a:schemeClr val="dk1"/>
              </a:solidFill>
              <a:latin typeface="Times New Roman"/>
              <a:ea typeface="Times New Roman"/>
              <a:cs typeface="Times New Roman"/>
              <a:sym typeface="Times New Roman"/>
            </a:endParaRPr>
          </a:p>
          <a:p>
            <a:pPr indent="-474121">
              <a:buClr>
                <a:schemeClr val="dk1"/>
              </a:buClr>
              <a:buSzPts val="2000"/>
              <a:buFont typeface="Times New Roman"/>
              <a:buChar char="-"/>
            </a:pPr>
            <a:r>
              <a:rPr lang="en" sz="2667" i="1" dirty="0">
                <a:solidFill>
                  <a:schemeClr val="dk1"/>
                </a:solidFill>
                <a:latin typeface="Times New Roman"/>
                <a:ea typeface="Times New Roman"/>
                <a:cs typeface="Times New Roman"/>
                <a:sym typeface="Times New Roman"/>
              </a:rPr>
              <a:t>Dreams, Slips of tongue</a:t>
            </a:r>
          </a:p>
          <a:p>
            <a:pPr indent="-474121">
              <a:buClr>
                <a:schemeClr val="dk1"/>
              </a:buClr>
              <a:buSzPts val="2000"/>
              <a:buFont typeface="Times New Roman"/>
              <a:buChar char="-"/>
            </a:pPr>
            <a:r>
              <a:rPr lang="en" sz="2667" dirty="0">
                <a:solidFill>
                  <a:schemeClr val="dk1"/>
                </a:solidFill>
                <a:latin typeface="Times New Roman"/>
                <a:ea typeface="Times New Roman"/>
                <a:cs typeface="Times New Roman"/>
                <a:sym typeface="Times New Roman"/>
              </a:rPr>
              <a:t>Defense Mechanisms</a:t>
            </a:r>
          </a:p>
          <a:p>
            <a:pPr indent="-474121">
              <a:buClr>
                <a:schemeClr val="dk1"/>
              </a:buClr>
              <a:buSzPts val="2000"/>
              <a:buFont typeface="Times New Roman"/>
              <a:buChar char="-"/>
            </a:pPr>
            <a:r>
              <a:rPr lang="en" sz="2667" dirty="0">
                <a:solidFill>
                  <a:schemeClr val="dk1"/>
                </a:solidFill>
                <a:latin typeface="Times New Roman"/>
                <a:ea typeface="Times New Roman"/>
                <a:cs typeface="Times New Roman"/>
                <a:sym typeface="Times New Roman"/>
              </a:rPr>
              <a:t>Modernised version of psychoanalytical perspective</a:t>
            </a:r>
            <a:endParaRPr sz="2667" dirty="0">
              <a:solidFill>
                <a:schemeClr val="dk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079C9AB3-6FB0-9D25-470F-B737409E7171}"/>
              </a:ext>
            </a:extLst>
          </p:cNvPr>
          <p:cNvPicPr>
            <a:picLocks noChangeAspect="1"/>
          </p:cNvPicPr>
          <p:nvPr/>
        </p:nvPicPr>
        <p:blipFill>
          <a:blip r:embed="rId3"/>
          <a:stretch>
            <a:fillRect/>
          </a:stretch>
        </p:blipFill>
        <p:spPr>
          <a:xfrm>
            <a:off x="7785375" y="1150253"/>
            <a:ext cx="3358717" cy="40521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
                                            <p:txEl>
                                              <p:pRg st="0" end="0"/>
                                            </p:txEl>
                                          </p:spTgt>
                                        </p:tgtEl>
                                        <p:attrNameLst>
                                          <p:attrName>style.visibility</p:attrName>
                                        </p:attrNameLst>
                                      </p:cBhvr>
                                      <p:to>
                                        <p:strVal val="visible"/>
                                      </p:to>
                                    </p:set>
                                    <p:animEffect transition="in" filter="fade">
                                      <p:cBhvr>
                                        <p:cTn id="7" dur="500"/>
                                        <p:tgtEl>
                                          <p:spTgt spid="10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8">
                                            <p:txEl>
                                              <p:pRg st="2" end="2"/>
                                            </p:txEl>
                                          </p:spTgt>
                                        </p:tgtEl>
                                        <p:attrNameLst>
                                          <p:attrName>style.visibility</p:attrName>
                                        </p:attrNameLst>
                                      </p:cBhvr>
                                      <p:to>
                                        <p:strVal val="visible"/>
                                      </p:to>
                                    </p:set>
                                    <p:animEffect transition="in" filter="fade">
                                      <p:cBhvr>
                                        <p:cTn id="10" dur="500"/>
                                        <p:tgtEl>
                                          <p:spTgt spid="108">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8">
                                            <p:txEl>
                                              <p:pRg st="3" end="3"/>
                                            </p:txEl>
                                          </p:spTgt>
                                        </p:tgtEl>
                                        <p:attrNameLst>
                                          <p:attrName>style.visibility</p:attrName>
                                        </p:attrNameLst>
                                      </p:cBhvr>
                                      <p:to>
                                        <p:strVal val="visible"/>
                                      </p:to>
                                    </p:set>
                                    <p:animEffect transition="in" filter="fade">
                                      <p:cBhvr>
                                        <p:cTn id="20" dur="500"/>
                                        <p:tgtEl>
                                          <p:spTgt spid="108">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08">
                                            <p:txEl>
                                              <p:pRg st="4" end="4"/>
                                            </p:txEl>
                                          </p:spTgt>
                                        </p:tgtEl>
                                        <p:attrNameLst>
                                          <p:attrName>style.visibility</p:attrName>
                                        </p:attrNameLst>
                                      </p:cBhvr>
                                      <p:to>
                                        <p:strVal val="visible"/>
                                      </p:to>
                                    </p:set>
                                    <p:animEffect transition="in" filter="fade">
                                      <p:cBhvr>
                                        <p:cTn id="23" dur="500"/>
                                        <p:tgtEl>
                                          <p:spTgt spid="108">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08">
                                            <p:txEl>
                                              <p:pRg st="5" end="5"/>
                                            </p:txEl>
                                          </p:spTgt>
                                        </p:tgtEl>
                                        <p:attrNameLst>
                                          <p:attrName>style.visibility</p:attrName>
                                        </p:attrNameLst>
                                      </p:cBhvr>
                                      <p:to>
                                        <p:strVal val="visible"/>
                                      </p:to>
                                    </p:set>
                                    <p:animEffect transition="in" filter="fade">
                                      <p:cBhvr>
                                        <p:cTn id="26" dur="500"/>
                                        <p:tgtEl>
                                          <p:spTgt spid="108">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08">
                                            <p:txEl>
                                              <p:pRg st="6" end="6"/>
                                            </p:txEl>
                                          </p:spTgt>
                                        </p:tgtEl>
                                        <p:attrNameLst>
                                          <p:attrName>style.visibility</p:attrName>
                                        </p:attrNameLst>
                                      </p:cBhvr>
                                      <p:to>
                                        <p:strVal val="visible"/>
                                      </p:to>
                                    </p:set>
                                    <p:animEffect transition="in" filter="fade">
                                      <p:cBhvr>
                                        <p:cTn id="29" dur="500"/>
                                        <p:tgtEl>
                                          <p:spTgt spid="108">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08">
                                            <p:txEl>
                                              <p:pRg st="7" end="7"/>
                                            </p:txEl>
                                          </p:spTgt>
                                        </p:tgtEl>
                                        <p:attrNameLst>
                                          <p:attrName>style.visibility</p:attrName>
                                        </p:attrNameLst>
                                      </p:cBhvr>
                                      <p:to>
                                        <p:strVal val="visible"/>
                                      </p:to>
                                    </p:set>
                                    <p:animEffect transition="in" filter="fade">
                                      <p:cBhvr>
                                        <p:cTn id="32" dur="500"/>
                                        <p:tgtEl>
                                          <p:spTgt spid="10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9368D2-90BF-40F2-6F72-D17F24A3A919}"/>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colorTemperature colorTemp="4700"/>
                    </a14:imgEffect>
                    <a14:imgEffect>
                      <a14:saturation sat="400000"/>
                    </a14:imgEffect>
                  </a14:imgLayer>
                </a14:imgProps>
              </a:ext>
            </a:extLst>
          </a:blip>
          <a:stretch>
            <a:fillRect/>
          </a:stretch>
        </p:blipFill>
        <p:spPr>
          <a:xfrm>
            <a:off x="1330036" y="576889"/>
            <a:ext cx="9677664" cy="5461504"/>
          </a:xfrm>
          <a:prstGeom prst="rect">
            <a:avLst/>
          </a:prstGeom>
        </p:spPr>
      </p:pic>
      <p:sp>
        <p:nvSpPr>
          <p:cNvPr id="6" name="TextBox 5">
            <a:extLst>
              <a:ext uri="{FF2B5EF4-FFF2-40B4-BE49-F238E27FC236}">
                <a16:creationId xmlns:a16="http://schemas.microsoft.com/office/drawing/2014/main" id="{8C2B86F9-4C08-0D24-3377-ADAD67B608E7}"/>
              </a:ext>
            </a:extLst>
          </p:cNvPr>
          <p:cNvSpPr txBox="1"/>
          <p:nvPr/>
        </p:nvSpPr>
        <p:spPr>
          <a:xfrm>
            <a:off x="3395625" y="6125932"/>
            <a:ext cx="7063300" cy="461665"/>
          </a:xfrm>
          <a:prstGeom prst="rect">
            <a:avLst/>
          </a:prstGeom>
          <a:noFill/>
        </p:spPr>
        <p:txBody>
          <a:bodyPr wrap="square" rtlCol="0">
            <a:spAutoFit/>
          </a:bodyPr>
          <a:lstStyle/>
          <a:p>
            <a:r>
              <a:rPr lang="en-IN" sz="2400" i="1" dirty="0">
                <a:latin typeface="Times New Roman" panose="02020603050405020304" pitchFamily="18" charset="0"/>
                <a:cs typeface="Times New Roman" panose="02020603050405020304" pitchFamily="18" charset="0"/>
              </a:rPr>
              <a:t>Psychoanalytic Theory: Iceberg Analogy</a:t>
            </a:r>
          </a:p>
        </p:txBody>
      </p:sp>
    </p:spTree>
    <p:extLst>
      <p:ext uri="{BB962C8B-B14F-4D97-AF65-F5344CB8AC3E}">
        <p14:creationId xmlns:p14="http://schemas.microsoft.com/office/powerpoint/2010/main" val="3017799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E8D7A-050F-6870-D7ED-4B502F8C98FD}"/>
              </a:ext>
            </a:extLst>
          </p:cNvPr>
          <p:cNvSpPr>
            <a:spLocks noGrp="1"/>
          </p:cNvSpPr>
          <p:nvPr>
            <p:ph type="title"/>
          </p:nvPr>
        </p:nvSpPr>
        <p:spPr>
          <a:xfrm>
            <a:off x="514455" y="0"/>
            <a:ext cx="3744000" cy="1007600"/>
          </a:xfrm>
        </p:spPr>
        <p:txBody>
          <a:bodyPr>
            <a:normAutofit/>
          </a:bodyPr>
          <a:lstStyle/>
          <a:p>
            <a:r>
              <a:rPr lang="en-IN" sz="2667" b="1" dirty="0">
                <a:latin typeface="Times New Roman" panose="02020603050405020304" pitchFamily="18" charset="0"/>
                <a:cs typeface="Times New Roman" panose="02020603050405020304" pitchFamily="18" charset="0"/>
              </a:rPr>
              <a:t>Gestalt Psychology</a:t>
            </a:r>
          </a:p>
        </p:txBody>
      </p:sp>
      <p:sp>
        <p:nvSpPr>
          <p:cNvPr id="3" name="Text Placeholder 2">
            <a:extLst>
              <a:ext uri="{FF2B5EF4-FFF2-40B4-BE49-F238E27FC236}">
                <a16:creationId xmlns:a16="http://schemas.microsoft.com/office/drawing/2014/main" id="{D483774B-4726-8D50-5638-9566B5E0B4B9}"/>
              </a:ext>
            </a:extLst>
          </p:cNvPr>
          <p:cNvSpPr>
            <a:spLocks noGrp="1"/>
          </p:cNvSpPr>
          <p:nvPr>
            <p:ph type="body" idx="1"/>
          </p:nvPr>
        </p:nvSpPr>
        <p:spPr>
          <a:xfrm>
            <a:off x="360682" y="1655092"/>
            <a:ext cx="7130260" cy="4239200"/>
          </a:xfrm>
        </p:spPr>
        <p:txBody>
          <a:bodyPr>
            <a:normAutofit/>
          </a:bodyPr>
          <a:lstStyle/>
          <a:p>
            <a:pPr marL="203195" indent="0">
              <a:buNone/>
            </a:pPr>
            <a:r>
              <a:rPr lang="en-IN" sz="2667"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Max Wertheimer</a:t>
            </a:r>
            <a:r>
              <a:rPr lang="en-IN" sz="2667" i="1" dirty="0">
                <a:latin typeface="Times New Roman" panose="02020603050405020304" pitchFamily="18" charset="0"/>
                <a:cs typeface="Times New Roman" panose="02020603050405020304" pitchFamily="18" charset="0"/>
              </a:rPr>
              <a:t>, Kurt </a:t>
            </a:r>
            <a:r>
              <a:rPr lang="en-IN" sz="2667" i="1" dirty="0" err="1">
                <a:latin typeface="Times New Roman" panose="02020603050405020304" pitchFamily="18" charset="0"/>
                <a:cs typeface="Times New Roman" panose="02020603050405020304" pitchFamily="18" charset="0"/>
              </a:rPr>
              <a:t>Koffka</a:t>
            </a:r>
            <a:r>
              <a:rPr lang="en-IN" sz="2667" i="1" dirty="0">
                <a:latin typeface="Times New Roman" panose="02020603050405020304" pitchFamily="18" charset="0"/>
                <a:cs typeface="Times New Roman" panose="02020603050405020304" pitchFamily="18" charset="0"/>
              </a:rPr>
              <a:t>, &amp; Wolfgang Kohler</a:t>
            </a:r>
          </a:p>
          <a:p>
            <a:pPr>
              <a:buFontTx/>
              <a:buChar char="-"/>
            </a:pPr>
            <a:r>
              <a:rPr lang="en-IN" sz="2400" dirty="0">
                <a:latin typeface="Times New Roman" panose="02020603050405020304" pitchFamily="18" charset="0"/>
                <a:cs typeface="Times New Roman" panose="02020603050405020304" pitchFamily="18" charset="0"/>
              </a:rPr>
              <a:t>German meaning “an organised whole”</a:t>
            </a:r>
          </a:p>
          <a:p>
            <a:pPr>
              <a:buFontTx/>
              <a:buChar char="-"/>
            </a:pPr>
            <a:r>
              <a:rPr lang="en-IN" sz="2400" dirty="0">
                <a:latin typeface="Times New Roman" panose="02020603050405020304" pitchFamily="18" charset="0"/>
                <a:cs typeface="Times New Roman" panose="02020603050405020304" pitchFamily="18" charset="0"/>
              </a:rPr>
              <a:t>Psychological events can only be studied in ‘whole’ </a:t>
            </a:r>
          </a:p>
          <a:p>
            <a:pPr>
              <a:buFontTx/>
              <a:buChar char="-"/>
            </a:pPr>
            <a:r>
              <a:rPr lang="en-IN" sz="2400" dirty="0">
                <a:latin typeface="Times New Roman" panose="02020603050405020304" pitchFamily="18" charset="0"/>
                <a:cs typeface="Times New Roman" panose="02020603050405020304" pitchFamily="18" charset="0"/>
              </a:rPr>
              <a:t>Perception of patterns and whole figures</a:t>
            </a:r>
          </a:p>
          <a:p>
            <a:pPr>
              <a:buFontTx/>
              <a:buChar char="-"/>
            </a:pPr>
            <a:r>
              <a:rPr lang="en-IN" sz="2400" dirty="0">
                <a:latin typeface="Times New Roman" panose="02020603050405020304" pitchFamily="18" charset="0"/>
                <a:cs typeface="Times New Roman" panose="02020603050405020304" pitchFamily="18" charset="0"/>
              </a:rPr>
              <a:t>Led foundations of cognitive psychology</a:t>
            </a:r>
          </a:p>
          <a:p>
            <a:pPr>
              <a:buFontTx/>
              <a:buChar char="-"/>
            </a:pPr>
            <a:r>
              <a:rPr lang="en-IN" sz="2400" dirty="0">
                <a:latin typeface="Times New Roman" panose="02020603050405020304" pitchFamily="18" charset="0"/>
                <a:cs typeface="Times New Roman" panose="02020603050405020304" pitchFamily="18" charset="0"/>
              </a:rPr>
              <a:t>5 gestalt principles: </a:t>
            </a:r>
            <a:r>
              <a:rPr lang="en-IN" sz="2400" i="1" dirty="0">
                <a:latin typeface="Times New Roman" panose="02020603050405020304" pitchFamily="18" charset="0"/>
                <a:cs typeface="Times New Roman" panose="02020603050405020304" pitchFamily="18" charset="0"/>
              </a:rPr>
              <a:t>proximity, similarity, closure, continuity, common region</a:t>
            </a:r>
          </a:p>
          <a:p>
            <a:pPr>
              <a:buFontTx/>
              <a:buChar char="-"/>
            </a:pPr>
            <a:endParaRPr lang="en-IN" sz="2667"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DF550CC-461A-4E1D-C71A-8CCAF17E0909}"/>
              </a:ext>
            </a:extLst>
          </p:cNvPr>
          <p:cNvPicPr>
            <a:picLocks noChangeAspect="1"/>
          </p:cNvPicPr>
          <p:nvPr/>
        </p:nvPicPr>
        <p:blipFill>
          <a:blip r:embed="rId3"/>
          <a:stretch>
            <a:fillRect/>
          </a:stretch>
        </p:blipFill>
        <p:spPr>
          <a:xfrm>
            <a:off x="8335479" y="1624201"/>
            <a:ext cx="2682472" cy="3556308"/>
          </a:xfrm>
          <a:prstGeom prst="rect">
            <a:avLst/>
          </a:prstGeom>
        </p:spPr>
      </p:pic>
    </p:spTree>
    <p:extLst>
      <p:ext uri="{BB962C8B-B14F-4D97-AF65-F5344CB8AC3E}">
        <p14:creationId xmlns:p14="http://schemas.microsoft.com/office/powerpoint/2010/main" val="2714890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2"/>
          <p:cNvSpPr txBox="1">
            <a:spLocks noGrp="1"/>
          </p:cNvSpPr>
          <p:nvPr>
            <p:ph type="body" idx="1"/>
          </p:nvPr>
        </p:nvSpPr>
        <p:spPr>
          <a:xfrm>
            <a:off x="293356" y="617271"/>
            <a:ext cx="5811389" cy="5879328"/>
          </a:xfrm>
          <a:prstGeom prst="rect">
            <a:avLst/>
          </a:prstGeom>
        </p:spPr>
        <p:txBody>
          <a:bodyPr spcFirstLastPara="1" vert="horz" wrap="square" lIns="121900" tIns="121900" rIns="121900" bIns="121900" rtlCol="0" anchor="t" anchorCtr="0">
            <a:normAutofit/>
          </a:bodyPr>
          <a:lstStyle/>
          <a:p>
            <a:pPr marL="0" indent="0">
              <a:buNone/>
            </a:pPr>
            <a:r>
              <a:rPr lang="en" sz="2667" b="1" dirty="0">
                <a:solidFill>
                  <a:schemeClr val="dk1"/>
                </a:solidFill>
                <a:latin typeface="Times New Roman"/>
                <a:ea typeface="Times New Roman"/>
                <a:cs typeface="Times New Roman"/>
                <a:sym typeface="Times New Roman"/>
              </a:rPr>
              <a:t>Behaviorism</a:t>
            </a:r>
            <a:endParaRPr sz="2667" b="1" dirty="0">
              <a:solidFill>
                <a:schemeClr val="dk1"/>
              </a:solidFill>
              <a:latin typeface="Times New Roman"/>
              <a:ea typeface="Times New Roman"/>
              <a:cs typeface="Times New Roman"/>
              <a:sym typeface="Times New Roman"/>
            </a:endParaRPr>
          </a:p>
          <a:p>
            <a:pPr marL="0" indent="0">
              <a:spcBef>
                <a:spcPts val="1600"/>
              </a:spcBef>
              <a:buNone/>
            </a:pPr>
            <a:endParaRPr lang="en" sz="2667" i="1" dirty="0">
              <a:solidFill>
                <a:schemeClr val="dk1"/>
              </a:solidFill>
              <a:latin typeface="Times New Roman"/>
              <a:ea typeface="Times New Roman"/>
              <a:cs typeface="Times New Roman"/>
              <a:sym typeface="Times New Roman"/>
            </a:endParaRPr>
          </a:p>
          <a:p>
            <a:pPr marL="0" indent="0">
              <a:spcBef>
                <a:spcPts val="1600"/>
              </a:spcBef>
              <a:buNone/>
            </a:pPr>
            <a:r>
              <a:rPr lang="en" sz="2667" i="1" dirty="0">
                <a:solidFill>
                  <a:schemeClr val="dk1"/>
                </a:solidFill>
                <a:latin typeface="Times New Roman"/>
                <a:ea typeface="Times New Roman"/>
                <a:cs typeface="Times New Roman"/>
                <a:sym typeface="Times New Roman"/>
              </a:rPr>
              <a:t>John B. Watson; B. F. Skinner</a:t>
            </a:r>
            <a:endParaRPr sz="2667" i="1" dirty="0">
              <a:solidFill>
                <a:schemeClr val="dk1"/>
              </a:solidFill>
              <a:latin typeface="Times New Roman"/>
              <a:ea typeface="Times New Roman"/>
              <a:cs typeface="Times New Roman"/>
              <a:sym typeface="Times New Roman"/>
            </a:endParaRPr>
          </a:p>
          <a:p>
            <a:pPr indent="-474121">
              <a:spcBef>
                <a:spcPts val="1600"/>
              </a:spcBef>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Only observable behaviour should be studied</a:t>
            </a:r>
            <a:endParaRPr dirty="0">
              <a:solidFill>
                <a:schemeClr val="dk1"/>
              </a:solidFill>
              <a:latin typeface="Times New Roman"/>
              <a:ea typeface="Times New Roman"/>
              <a:cs typeface="Times New Roman"/>
              <a:sym typeface="Times New Roman"/>
            </a:endParaRPr>
          </a:p>
          <a:p>
            <a:pPr indent="-474121">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Overt responses to stimuli</a:t>
            </a:r>
            <a:endParaRPr dirty="0">
              <a:solidFill>
                <a:schemeClr val="dk1"/>
              </a:solidFill>
              <a:latin typeface="Times New Roman"/>
              <a:ea typeface="Times New Roman"/>
              <a:cs typeface="Times New Roman"/>
              <a:sym typeface="Times New Roman"/>
            </a:endParaRPr>
          </a:p>
          <a:p>
            <a:pPr indent="-474121">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Rejected the idea of studying internal mental states, since they can neither be observed nor examined scientifically</a:t>
            </a:r>
          </a:p>
          <a:p>
            <a:pPr indent="-474121">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Conditioning and reinforcement</a:t>
            </a:r>
            <a:endParaRPr dirty="0">
              <a:solidFill>
                <a:schemeClr val="dk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AC39C12-9F69-DA99-F895-B4BC1E00490F}"/>
              </a:ext>
            </a:extLst>
          </p:cNvPr>
          <p:cNvPicPr>
            <a:picLocks noChangeAspect="1"/>
          </p:cNvPicPr>
          <p:nvPr/>
        </p:nvPicPr>
        <p:blipFill>
          <a:blip r:embed="rId3"/>
          <a:stretch>
            <a:fillRect/>
          </a:stretch>
        </p:blipFill>
        <p:spPr>
          <a:xfrm>
            <a:off x="6297521" y="0"/>
            <a:ext cx="2428451" cy="3261643"/>
          </a:xfrm>
          <a:prstGeom prst="rect">
            <a:avLst/>
          </a:prstGeom>
        </p:spPr>
      </p:pic>
      <p:pic>
        <p:nvPicPr>
          <p:cNvPr id="5" name="Picture 4">
            <a:extLst>
              <a:ext uri="{FF2B5EF4-FFF2-40B4-BE49-F238E27FC236}">
                <a16:creationId xmlns:a16="http://schemas.microsoft.com/office/drawing/2014/main" id="{B9B7C527-E8F2-497D-7C6B-7770907E67CF}"/>
              </a:ext>
            </a:extLst>
          </p:cNvPr>
          <p:cNvPicPr>
            <a:picLocks noChangeAspect="1"/>
          </p:cNvPicPr>
          <p:nvPr/>
        </p:nvPicPr>
        <p:blipFill rotWithShape="1">
          <a:blip r:embed="rId4"/>
          <a:srcRect b="8235"/>
          <a:stretch/>
        </p:blipFill>
        <p:spPr>
          <a:xfrm>
            <a:off x="9294908" y="-11141"/>
            <a:ext cx="2469093" cy="3272784"/>
          </a:xfrm>
          <a:prstGeom prst="rect">
            <a:avLst/>
          </a:prstGeom>
        </p:spPr>
      </p:pic>
      <p:pic>
        <p:nvPicPr>
          <p:cNvPr id="7" name="Picture 6">
            <a:extLst>
              <a:ext uri="{FF2B5EF4-FFF2-40B4-BE49-F238E27FC236}">
                <a16:creationId xmlns:a16="http://schemas.microsoft.com/office/drawing/2014/main" id="{C40537E9-4B51-B6D3-6606-24DFA2BD364C}"/>
              </a:ext>
            </a:extLst>
          </p:cNvPr>
          <p:cNvPicPr>
            <a:picLocks noChangeAspect="1"/>
          </p:cNvPicPr>
          <p:nvPr/>
        </p:nvPicPr>
        <p:blipFill>
          <a:blip r:embed="rId5"/>
          <a:stretch>
            <a:fillRect/>
          </a:stretch>
        </p:blipFill>
        <p:spPr>
          <a:xfrm>
            <a:off x="6697040" y="3440141"/>
            <a:ext cx="4764389" cy="3261643"/>
          </a:xfrm>
          <a:prstGeom prst="rect">
            <a:avLst/>
          </a:prstGeom>
        </p:spPr>
      </p:pic>
      <p:sp>
        <p:nvSpPr>
          <p:cNvPr id="8" name="TextBox 7">
            <a:extLst>
              <a:ext uri="{FF2B5EF4-FFF2-40B4-BE49-F238E27FC236}">
                <a16:creationId xmlns:a16="http://schemas.microsoft.com/office/drawing/2014/main" id="{4657C22F-A98F-3F1D-BFBD-89F0A734B8ED}"/>
              </a:ext>
            </a:extLst>
          </p:cNvPr>
          <p:cNvSpPr txBox="1"/>
          <p:nvPr/>
        </p:nvSpPr>
        <p:spPr>
          <a:xfrm>
            <a:off x="8473943" y="6496599"/>
            <a:ext cx="1884219" cy="461665"/>
          </a:xfrm>
          <a:prstGeom prst="rect">
            <a:avLst/>
          </a:prstGeom>
          <a:noFill/>
        </p:spPr>
        <p:txBody>
          <a:bodyPr wrap="square" rtlCol="0">
            <a:spAutoFit/>
          </a:bodyPr>
          <a:lstStyle/>
          <a:p>
            <a:r>
              <a:rPr lang="en-IN" sz="2400" i="1" dirty="0">
                <a:latin typeface="Times New Roman" panose="02020603050405020304" pitchFamily="18" charset="0"/>
                <a:cs typeface="Times New Roman" panose="02020603050405020304" pitchFamily="18" charset="0"/>
              </a:rPr>
              <a:t>Skinner’s box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xEl>
                                              <p:pRg st="0" end="0"/>
                                            </p:txEl>
                                          </p:spTgt>
                                        </p:tgtEl>
                                        <p:attrNameLst>
                                          <p:attrName>style.visibility</p:attrName>
                                        </p:attrNameLst>
                                      </p:cBhvr>
                                      <p:to>
                                        <p:strVal val="visible"/>
                                      </p:to>
                                    </p:set>
                                    <p:animEffect transition="in" filter="fade">
                                      <p:cBhvr>
                                        <p:cTn id="7" dur="500"/>
                                        <p:tgtEl>
                                          <p:spTgt spid="10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3">
                                            <p:txEl>
                                              <p:pRg st="2" end="2"/>
                                            </p:txEl>
                                          </p:spTgt>
                                        </p:tgtEl>
                                        <p:attrNameLst>
                                          <p:attrName>style.visibility</p:attrName>
                                        </p:attrNameLst>
                                      </p:cBhvr>
                                      <p:to>
                                        <p:strVal val="visible"/>
                                      </p:to>
                                    </p:set>
                                    <p:animEffect transition="in" filter="fade">
                                      <p:cBhvr>
                                        <p:cTn id="10" dur="500"/>
                                        <p:tgtEl>
                                          <p:spTgt spid="10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3">
                                            <p:txEl>
                                              <p:pRg st="3" end="3"/>
                                            </p:txEl>
                                          </p:spTgt>
                                        </p:tgtEl>
                                        <p:attrNameLst>
                                          <p:attrName>style.visibility</p:attrName>
                                        </p:attrNameLst>
                                      </p:cBhvr>
                                      <p:to>
                                        <p:strVal val="visible"/>
                                      </p:to>
                                    </p:set>
                                    <p:animEffect transition="in" filter="fade">
                                      <p:cBhvr>
                                        <p:cTn id="23" dur="500"/>
                                        <p:tgtEl>
                                          <p:spTgt spid="103">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03">
                                            <p:txEl>
                                              <p:pRg st="4" end="4"/>
                                            </p:txEl>
                                          </p:spTgt>
                                        </p:tgtEl>
                                        <p:attrNameLst>
                                          <p:attrName>style.visibility</p:attrName>
                                        </p:attrNameLst>
                                      </p:cBhvr>
                                      <p:to>
                                        <p:strVal val="visible"/>
                                      </p:to>
                                    </p:set>
                                    <p:animEffect transition="in" filter="fade">
                                      <p:cBhvr>
                                        <p:cTn id="26" dur="500"/>
                                        <p:tgtEl>
                                          <p:spTgt spid="103">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03">
                                            <p:txEl>
                                              <p:pRg st="5" end="5"/>
                                            </p:txEl>
                                          </p:spTgt>
                                        </p:tgtEl>
                                        <p:attrNameLst>
                                          <p:attrName>style.visibility</p:attrName>
                                        </p:attrNameLst>
                                      </p:cBhvr>
                                      <p:to>
                                        <p:strVal val="visible"/>
                                      </p:to>
                                    </p:set>
                                    <p:animEffect transition="in" filter="fade">
                                      <p:cBhvr>
                                        <p:cTn id="29" dur="500"/>
                                        <p:tgtEl>
                                          <p:spTgt spid="10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03">
                                            <p:txEl>
                                              <p:pRg st="6" end="6"/>
                                            </p:txEl>
                                          </p:spTgt>
                                        </p:tgtEl>
                                        <p:attrNameLst>
                                          <p:attrName>style.visibility</p:attrName>
                                        </p:attrNameLst>
                                      </p:cBhvr>
                                      <p:to>
                                        <p:strVal val="visible"/>
                                      </p:to>
                                    </p:set>
                                    <p:animEffect transition="in" filter="fade">
                                      <p:cBhvr>
                                        <p:cTn id="32" dur="500"/>
                                        <p:tgtEl>
                                          <p:spTgt spid="10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4"/>
          <p:cNvSpPr txBox="1">
            <a:spLocks noGrp="1"/>
          </p:cNvSpPr>
          <p:nvPr>
            <p:ph type="body" idx="1"/>
          </p:nvPr>
        </p:nvSpPr>
        <p:spPr>
          <a:xfrm>
            <a:off x="324916" y="706635"/>
            <a:ext cx="6284961" cy="5602124"/>
          </a:xfrm>
          <a:prstGeom prst="rect">
            <a:avLst/>
          </a:prstGeom>
        </p:spPr>
        <p:txBody>
          <a:bodyPr spcFirstLastPara="1" vert="horz" wrap="square" lIns="121900" tIns="121900" rIns="121900" bIns="121900" rtlCol="0" anchor="t" anchorCtr="0">
            <a:normAutofit/>
          </a:bodyPr>
          <a:lstStyle/>
          <a:p>
            <a:pPr marL="0" indent="0">
              <a:buNone/>
            </a:pPr>
            <a:r>
              <a:rPr lang="en" sz="2667" b="1" dirty="0">
                <a:solidFill>
                  <a:schemeClr val="dk1"/>
                </a:solidFill>
                <a:latin typeface="Times New Roman"/>
                <a:ea typeface="Times New Roman"/>
                <a:cs typeface="Times New Roman"/>
                <a:sym typeface="Times New Roman"/>
              </a:rPr>
              <a:t>Cognitive Perspective</a:t>
            </a:r>
          </a:p>
          <a:p>
            <a:pPr marL="0" indent="0">
              <a:buNone/>
            </a:pPr>
            <a:endParaRPr sz="2667" b="1" dirty="0">
              <a:solidFill>
                <a:schemeClr val="dk1"/>
              </a:solidFill>
              <a:latin typeface="Times New Roman"/>
              <a:ea typeface="Times New Roman"/>
              <a:cs typeface="Times New Roman"/>
              <a:sym typeface="Times New Roman"/>
            </a:endParaRPr>
          </a:p>
          <a:p>
            <a:pPr indent="-474121">
              <a:spcBef>
                <a:spcPts val="1600"/>
              </a:spcBef>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Arose in reaction to behaviourism</a:t>
            </a:r>
            <a:endParaRPr dirty="0">
              <a:solidFill>
                <a:schemeClr val="dk1"/>
              </a:solidFill>
              <a:latin typeface="Times New Roman"/>
              <a:ea typeface="Times New Roman"/>
              <a:cs typeface="Times New Roman"/>
              <a:sym typeface="Times New Roman"/>
            </a:endParaRPr>
          </a:p>
          <a:p>
            <a:pPr indent="-474121">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Focused on how people think, understand and acquire knowledge</a:t>
            </a:r>
            <a:endParaRPr dirty="0">
              <a:solidFill>
                <a:schemeClr val="dk1"/>
              </a:solidFill>
              <a:latin typeface="Times New Roman"/>
              <a:ea typeface="Times New Roman"/>
              <a:cs typeface="Times New Roman"/>
              <a:sym typeface="Times New Roman"/>
            </a:endParaRPr>
          </a:p>
          <a:p>
            <a:pPr indent="-474121">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Behaviour influenced by cognitive processes</a:t>
            </a:r>
            <a:endParaRPr dirty="0">
              <a:solidFill>
                <a:schemeClr val="dk1"/>
              </a:solidFill>
              <a:latin typeface="Times New Roman"/>
              <a:ea typeface="Times New Roman"/>
              <a:cs typeface="Times New Roman"/>
              <a:sym typeface="Times New Roman"/>
            </a:endParaRPr>
          </a:p>
          <a:p>
            <a:pPr indent="-474121">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How we process the world around us</a:t>
            </a:r>
          </a:p>
          <a:p>
            <a:pPr indent="-474121">
              <a:buClr>
                <a:schemeClr val="dk1"/>
              </a:buClr>
              <a:buSzPts val="2000"/>
              <a:buFont typeface="Times New Roman"/>
              <a:buChar char="-"/>
            </a:pPr>
            <a:r>
              <a:rPr lang="en-US" dirty="0">
                <a:solidFill>
                  <a:schemeClr val="tx1"/>
                </a:solidFill>
                <a:latin typeface="Times New Roman" panose="02020603050405020304" pitchFamily="18" charset="0"/>
                <a:cs typeface="Times New Roman" panose="02020603050405020304" pitchFamily="18" charset="0"/>
              </a:rPr>
              <a:t>Focuses on memory, intelligence, perception, problem-solving, and learning</a:t>
            </a:r>
          </a:p>
          <a:p>
            <a:pPr indent="-474121">
              <a:buClr>
                <a:schemeClr val="dk1"/>
              </a:buClr>
              <a:buSzPts val="2000"/>
              <a:buFont typeface="Times New Roman"/>
              <a:buChar char="-"/>
            </a:pPr>
            <a:r>
              <a:rPr lang="en-US" dirty="0">
                <a:solidFill>
                  <a:schemeClr val="tx1"/>
                </a:solidFill>
                <a:latin typeface="Times New Roman" panose="02020603050405020304" pitchFamily="18" charset="0"/>
                <a:ea typeface="Times New Roman"/>
                <a:cs typeface="Times New Roman" panose="02020603050405020304" pitchFamily="18" charset="0"/>
                <a:sym typeface="Times New Roman"/>
              </a:rPr>
              <a:t>AI and computer models used to explain mental processes</a:t>
            </a:r>
            <a:endParaRPr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pic>
        <p:nvPicPr>
          <p:cNvPr id="3" name="Picture 2">
            <a:extLst>
              <a:ext uri="{FF2B5EF4-FFF2-40B4-BE49-F238E27FC236}">
                <a16:creationId xmlns:a16="http://schemas.microsoft.com/office/drawing/2014/main" id="{2729217B-7977-5714-FBE3-A3AD165A4188}"/>
              </a:ext>
            </a:extLst>
          </p:cNvPr>
          <p:cNvPicPr>
            <a:picLocks noChangeAspect="1"/>
          </p:cNvPicPr>
          <p:nvPr/>
        </p:nvPicPr>
        <p:blipFill>
          <a:blip r:embed="rId3"/>
          <a:stretch>
            <a:fillRect/>
          </a:stretch>
        </p:blipFill>
        <p:spPr>
          <a:xfrm>
            <a:off x="6297522" y="89592"/>
            <a:ext cx="5569564" cy="636023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5"/>
          <p:cNvSpPr txBox="1">
            <a:spLocks noGrp="1"/>
          </p:cNvSpPr>
          <p:nvPr>
            <p:ph type="body" idx="1"/>
          </p:nvPr>
        </p:nvSpPr>
        <p:spPr>
          <a:xfrm>
            <a:off x="415601" y="594485"/>
            <a:ext cx="5488955" cy="5934784"/>
          </a:xfrm>
          <a:prstGeom prst="rect">
            <a:avLst/>
          </a:prstGeom>
        </p:spPr>
        <p:txBody>
          <a:bodyPr spcFirstLastPara="1" vert="horz" wrap="square" lIns="121900" tIns="121900" rIns="121900" bIns="121900" rtlCol="0" anchor="t" anchorCtr="0">
            <a:normAutofit/>
          </a:bodyPr>
          <a:lstStyle/>
          <a:p>
            <a:pPr marL="0" indent="0">
              <a:buNone/>
            </a:pPr>
            <a:r>
              <a:rPr lang="en" sz="2667" b="1" dirty="0">
                <a:solidFill>
                  <a:schemeClr val="dk1"/>
                </a:solidFill>
                <a:latin typeface="Times New Roman"/>
                <a:ea typeface="Times New Roman"/>
                <a:cs typeface="Times New Roman"/>
                <a:sym typeface="Times New Roman"/>
              </a:rPr>
              <a:t>Humanistic Perspective</a:t>
            </a:r>
          </a:p>
          <a:p>
            <a:pPr marL="0" indent="0">
              <a:buNone/>
            </a:pPr>
            <a:endParaRPr sz="2667" b="1" dirty="0">
              <a:solidFill>
                <a:schemeClr val="dk1"/>
              </a:solidFill>
              <a:latin typeface="Times New Roman"/>
              <a:ea typeface="Times New Roman"/>
              <a:cs typeface="Times New Roman"/>
              <a:sym typeface="Times New Roman"/>
            </a:endParaRPr>
          </a:p>
          <a:p>
            <a:pPr marL="0" indent="0">
              <a:spcBef>
                <a:spcPts val="1600"/>
              </a:spcBef>
              <a:buNone/>
            </a:pPr>
            <a:r>
              <a:rPr lang="en" sz="2667" i="1" dirty="0">
                <a:solidFill>
                  <a:schemeClr val="dk1"/>
                </a:solidFill>
                <a:latin typeface="Times New Roman"/>
                <a:ea typeface="Times New Roman"/>
                <a:cs typeface="Times New Roman"/>
                <a:sym typeface="Times New Roman"/>
              </a:rPr>
              <a:t>Abraham Maslow; Carl Rogers</a:t>
            </a:r>
            <a:endParaRPr sz="2667" i="1" dirty="0">
              <a:solidFill>
                <a:schemeClr val="dk1"/>
              </a:solidFill>
              <a:latin typeface="Times New Roman"/>
              <a:ea typeface="Times New Roman"/>
              <a:cs typeface="Times New Roman"/>
              <a:sym typeface="Times New Roman"/>
            </a:endParaRPr>
          </a:p>
          <a:p>
            <a:pPr indent="-474121">
              <a:spcBef>
                <a:spcPts val="1600"/>
              </a:spcBef>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Free will and self-fulfilment</a:t>
            </a:r>
            <a:endParaRPr dirty="0">
              <a:solidFill>
                <a:schemeClr val="dk1"/>
              </a:solidFill>
              <a:latin typeface="Times New Roman"/>
              <a:ea typeface="Times New Roman"/>
              <a:cs typeface="Times New Roman"/>
              <a:sym typeface="Times New Roman"/>
            </a:endParaRPr>
          </a:p>
          <a:p>
            <a:pPr indent="-474121">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Humans motivated by the desire for personal growth</a:t>
            </a:r>
            <a:endParaRPr dirty="0">
              <a:solidFill>
                <a:schemeClr val="dk1"/>
              </a:solidFill>
              <a:latin typeface="Times New Roman"/>
              <a:ea typeface="Times New Roman"/>
              <a:cs typeface="Times New Roman"/>
              <a:sym typeface="Times New Roman"/>
            </a:endParaRPr>
          </a:p>
          <a:p>
            <a:pPr indent="-474121">
              <a:buClr>
                <a:schemeClr val="dk1"/>
              </a:buClr>
              <a:buSzPts val="2000"/>
              <a:buFont typeface="Times New Roman"/>
              <a:buChar char="-"/>
            </a:pPr>
            <a:r>
              <a:rPr lang="en" dirty="0">
                <a:solidFill>
                  <a:schemeClr val="dk1"/>
                </a:solidFill>
                <a:latin typeface="Times New Roman"/>
                <a:ea typeface="Times New Roman"/>
                <a:cs typeface="Times New Roman"/>
                <a:sym typeface="Times New Roman"/>
              </a:rPr>
              <a:t>Naturally strive to grow and develop</a:t>
            </a:r>
          </a:p>
          <a:p>
            <a:pPr indent="-474121">
              <a:buClr>
                <a:schemeClr val="dk1"/>
              </a:buClr>
              <a:buSzPts val="2000"/>
              <a:buFont typeface="Times New Roman"/>
              <a:buChar char="-"/>
            </a:pPr>
            <a:r>
              <a:rPr lang="en-IN" dirty="0">
                <a:solidFill>
                  <a:schemeClr val="dk1"/>
                </a:solidFill>
                <a:latin typeface="Times New Roman"/>
                <a:ea typeface="Times New Roman"/>
                <a:cs typeface="Times New Roman"/>
                <a:sym typeface="Times New Roman"/>
              </a:rPr>
              <a:t>Self-concept and positive regard</a:t>
            </a:r>
          </a:p>
          <a:p>
            <a:pPr indent="-474121">
              <a:buClr>
                <a:schemeClr val="dk1"/>
              </a:buClr>
              <a:buSzPts val="2000"/>
              <a:buFont typeface="Times New Roman"/>
              <a:buChar char="-"/>
            </a:pPr>
            <a:r>
              <a:rPr lang="en-IN" dirty="0">
                <a:solidFill>
                  <a:schemeClr val="dk1"/>
                </a:solidFill>
                <a:latin typeface="Times New Roman"/>
                <a:ea typeface="Times New Roman"/>
                <a:cs typeface="Times New Roman"/>
                <a:sym typeface="Times New Roman"/>
              </a:rPr>
              <a:t>Hierarchy of needs and self-actualisation</a:t>
            </a:r>
            <a:endParaRPr dirty="0">
              <a:solidFill>
                <a:schemeClr val="dk1"/>
              </a:solidFill>
              <a:latin typeface="Times New Roman"/>
              <a:ea typeface="Times New Roman"/>
              <a:cs typeface="Times New Roman"/>
              <a:sym typeface="Times New Roman"/>
            </a:endParaRPr>
          </a:p>
          <a:p>
            <a:pPr marL="0" indent="0">
              <a:spcBef>
                <a:spcPts val="1600"/>
              </a:spcBef>
              <a:spcAft>
                <a:spcPts val="1600"/>
              </a:spcAft>
              <a:buNone/>
            </a:pPr>
            <a:endParaRPr sz="2667" dirty="0">
              <a:solidFill>
                <a:schemeClr val="dk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8CF7327-F8F2-16C0-F277-84CFC19641A8}"/>
              </a:ext>
            </a:extLst>
          </p:cNvPr>
          <p:cNvPicPr>
            <a:picLocks noChangeAspect="1"/>
          </p:cNvPicPr>
          <p:nvPr/>
        </p:nvPicPr>
        <p:blipFill>
          <a:blip r:embed="rId3"/>
          <a:stretch>
            <a:fillRect/>
          </a:stretch>
        </p:blipFill>
        <p:spPr>
          <a:xfrm>
            <a:off x="6096000" y="1398687"/>
            <a:ext cx="2733277" cy="3607112"/>
          </a:xfrm>
          <a:prstGeom prst="rect">
            <a:avLst/>
          </a:prstGeom>
        </p:spPr>
      </p:pic>
      <p:pic>
        <p:nvPicPr>
          <p:cNvPr id="5" name="Picture 4">
            <a:extLst>
              <a:ext uri="{FF2B5EF4-FFF2-40B4-BE49-F238E27FC236}">
                <a16:creationId xmlns:a16="http://schemas.microsoft.com/office/drawing/2014/main" id="{366D3545-84B3-2672-43F9-81CDA3BDD3E6}"/>
              </a:ext>
            </a:extLst>
          </p:cNvPr>
          <p:cNvPicPr>
            <a:picLocks noChangeAspect="1"/>
          </p:cNvPicPr>
          <p:nvPr/>
        </p:nvPicPr>
        <p:blipFill rotWithShape="1">
          <a:blip r:embed="rId4"/>
          <a:srcRect b="5334"/>
          <a:stretch/>
        </p:blipFill>
        <p:spPr>
          <a:xfrm>
            <a:off x="9370181" y="1398687"/>
            <a:ext cx="2540220" cy="36071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animEffect transition="in" filter="fade">
                                      <p:cBhvr>
                                        <p:cTn id="7" dur="500"/>
                                        <p:tgtEl>
                                          <p:spTgt spid="1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8">
                                            <p:txEl>
                                              <p:pRg st="2" end="2"/>
                                            </p:txEl>
                                          </p:spTgt>
                                        </p:tgtEl>
                                        <p:attrNameLst>
                                          <p:attrName>style.visibility</p:attrName>
                                        </p:attrNameLst>
                                      </p:cBhvr>
                                      <p:to>
                                        <p:strVal val="visible"/>
                                      </p:to>
                                    </p:set>
                                    <p:animEffect transition="in" filter="fade">
                                      <p:cBhvr>
                                        <p:cTn id="10" dur="500"/>
                                        <p:tgtEl>
                                          <p:spTgt spid="118">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8">
                                            <p:txEl>
                                              <p:pRg st="3" end="3"/>
                                            </p:txEl>
                                          </p:spTgt>
                                        </p:tgtEl>
                                        <p:attrNameLst>
                                          <p:attrName>style.visibility</p:attrName>
                                        </p:attrNameLst>
                                      </p:cBhvr>
                                      <p:to>
                                        <p:strVal val="visible"/>
                                      </p:to>
                                    </p:set>
                                    <p:animEffect transition="in" filter="fade">
                                      <p:cBhvr>
                                        <p:cTn id="23" dur="500"/>
                                        <p:tgtEl>
                                          <p:spTgt spid="118">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18">
                                            <p:txEl>
                                              <p:pRg st="4" end="4"/>
                                            </p:txEl>
                                          </p:spTgt>
                                        </p:tgtEl>
                                        <p:attrNameLst>
                                          <p:attrName>style.visibility</p:attrName>
                                        </p:attrNameLst>
                                      </p:cBhvr>
                                      <p:to>
                                        <p:strVal val="visible"/>
                                      </p:to>
                                    </p:set>
                                    <p:animEffect transition="in" filter="fade">
                                      <p:cBhvr>
                                        <p:cTn id="26" dur="500"/>
                                        <p:tgtEl>
                                          <p:spTgt spid="118">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18">
                                            <p:txEl>
                                              <p:pRg st="5" end="5"/>
                                            </p:txEl>
                                          </p:spTgt>
                                        </p:tgtEl>
                                        <p:attrNameLst>
                                          <p:attrName>style.visibility</p:attrName>
                                        </p:attrNameLst>
                                      </p:cBhvr>
                                      <p:to>
                                        <p:strVal val="visible"/>
                                      </p:to>
                                    </p:set>
                                    <p:animEffect transition="in" filter="fade">
                                      <p:cBhvr>
                                        <p:cTn id="29" dur="500"/>
                                        <p:tgtEl>
                                          <p:spTgt spid="118">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18">
                                            <p:txEl>
                                              <p:pRg st="6" end="6"/>
                                            </p:txEl>
                                          </p:spTgt>
                                        </p:tgtEl>
                                        <p:attrNameLst>
                                          <p:attrName>style.visibility</p:attrName>
                                        </p:attrNameLst>
                                      </p:cBhvr>
                                      <p:to>
                                        <p:strVal val="visible"/>
                                      </p:to>
                                    </p:set>
                                    <p:animEffect transition="in" filter="fade">
                                      <p:cBhvr>
                                        <p:cTn id="32" dur="500"/>
                                        <p:tgtEl>
                                          <p:spTgt spid="118">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18">
                                            <p:txEl>
                                              <p:pRg st="7" end="7"/>
                                            </p:txEl>
                                          </p:spTgt>
                                        </p:tgtEl>
                                        <p:attrNameLst>
                                          <p:attrName>style.visibility</p:attrName>
                                        </p:attrNameLst>
                                      </p:cBhvr>
                                      <p:to>
                                        <p:strVal val="visible"/>
                                      </p:to>
                                    </p:set>
                                    <p:animEffect transition="in" filter="fade">
                                      <p:cBhvr>
                                        <p:cTn id="35" dur="500"/>
                                        <p:tgtEl>
                                          <p:spTgt spid="11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36C68B-4E4F-5FF5-EE17-48336C2EF409}"/>
              </a:ext>
            </a:extLst>
          </p:cNvPr>
          <p:cNvPicPr>
            <a:picLocks noChangeAspect="1"/>
          </p:cNvPicPr>
          <p:nvPr/>
        </p:nvPicPr>
        <p:blipFill>
          <a:blip r:embed="rId2"/>
          <a:stretch>
            <a:fillRect/>
          </a:stretch>
        </p:blipFill>
        <p:spPr>
          <a:xfrm>
            <a:off x="2576199" y="51613"/>
            <a:ext cx="7368847" cy="6754775"/>
          </a:xfrm>
          <a:prstGeom prst="rect">
            <a:avLst/>
          </a:prstGeom>
        </p:spPr>
      </p:pic>
    </p:spTree>
    <p:extLst>
      <p:ext uri="{BB962C8B-B14F-4D97-AF65-F5344CB8AC3E}">
        <p14:creationId xmlns:p14="http://schemas.microsoft.com/office/powerpoint/2010/main" val="954752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ctrTitle"/>
          </p:nvPr>
        </p:nvSpPr>
        <p:spPr>
          <a:xfrm>
            <a:off x="419397" y="1480631"/>
            <a:ext cx="11619600" cy="2736800"/>
          </a:xfrm>
          <a:prstGeom prst="rect">
            <a:avLst/>
          </a:prstGeom>
        </p:spPr>
        <p:txBody>
          <a:bodyPr spcFirstLastPara="1" vert="horz" wrap="square" lIns="121900" tIns="121900" rIns="121900" bIns="121900" rtlCol="0" anchor="b" anchorCtr="0">
            <a:normAutofit/>
          </a:bodyPr>
          <a:lstStyle/>
          <a:p>
            <a:pPr>
              <a:spcBef>
                <a:spcPts val="0"/>
              </a:spcBef>
            </a:pPr>
            <a:r>
              <a:rPr lang="en" sz="6667" dirty="0">
                <a:latin typeface="Times New Roman"/>
                <a:ea typeface="Times New Roman"/>
                <a:cs typeface="Times New Roman"/>
                <a:sym typeface="Times New Roman"/>
              </a:rPr>
              <a:t>Studying Behaviour</a:t>
            </a:r>
            <a:endParaRPr sz="6667" dirty="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8" name="Google Shape;78;p17"/>
          <p:cNvSpPr txBox="1">
            <a:spLocks noGrp="1"/>
          </p:cNvSpPr>
          <p:nvPr>
            <p:ph type="body" idx="1"/>
          </p:nvPr>
        </p:nvSpPr>
        <p:spPr>
          <a:xfrm>
            <a:off x="415600" y="251901"/>
            <a:ext cx="11360800" cy="6519193"/>
          </a:xfrm>
          <a:prstGeom prst="rect">
            <a:avLst/>
          </a:prstGeom>
        </p:spPr>
        <p:txBody>
          <a:bodyPr spcFirstLastPara="1" vert="horz" wrap="square" lIns="121900" tIns="121900" rIns="121900" bIns="121900" rtlCol="0" anchor="t" anchorCtr="0">
            <a:normAutofit fontScale="70000" lnSpcReduction="20000"/>
          </a:bodyPr>
          <a:lstStyle/>
          <a:p>
            <a:pPr indent="-417396">
              <a:lnSpc>
                <a:spcPct val="170000"/>
              </a:lnSpc>
              <a:buClr>
                <a:schemeClr val="dk1"/>
              </a:buClr>
              <a:buSzPct val="100000"/>
              <a:buFont typeface="Times New Roman"/>
              <a:buChar char="●"/>
            </a:pPr>
            <a:r>
              <a:rPr lang="en" sz="2667" dirty="0">
                <a:solidFill>
                  <a:schemeClr val="dk1"/>
                </a:solidFill>
                <a:latin typeface="Times New Roman"/>
                <a:ea typeface="Times New Roman"/>
                <a:cs typeface="Times New Roman"/>
                <a:sym typeface="Times New Roman"/>
              </a:rPr>
              <a:t>Understanding Human Behaviour -  provides a new way of thinking about your own feelings, thoughts, and actions, plus those of other persons</a:t>
            </a:r>
            <a:endParaRPr sz="2667" dirty="0">
              <a:solidFill>
                <a:schemeClr val="dk1"/>
              </a:solidFill>
              <a:latin typeface="Times New Roman"/>
              <a:ea typeface="Times New Roman"/>
              <a:cs typeface="Times New Roman"/>
              <a:sym typeface="Times New Roman"/>
            </a:endParaRPr>
          </a:p>
          <a:p>
            <a:pPr indent="-417396">
              <a:lnSpc>
                <a:spcPct val="170000"/>
              </a:lnSpc>
              <a:buClr>
                <a:schemeClr val="dk1"/>
              </a:buClr>
              <a:buSzPct val="100000"/>
              <a:buFont typeface="Times New Roman"/>
              <a:buChar char="●"/>
            </a:pPr>
            <a:r>
              <a:rPr lang="en" sz="2667" dirty="0">
                <a:solidFill>
                  <a:schemeClr val="dk1"/>
                </a:solidFill>
                <a:latin typeface="Times New Roman"/>
                <a:ea typeface="Times New Roman"/>
                <a:cs typeface="Times New Roman"/>
                <a:sym typeface="Times New Roman"/>
              </a:rPr>
              <a:t> This new way of thinking will enrich your life in many different ways.</a:t>
            </a:r>
            <a:endParaRPr sz="2667" dirty="0">
              <a:solidFill>
                <a:schemeClr val="dk1"/>
              </a:solidFill>
              <a:latin typeface="Times New Roman"/>
              <a:ea typeface="Times New Roman"/>
              <a:cs typeface="Times New Roman"/>
              <a:sym typeface="Times New Roman"/>
            </a:endParaRPr>
          </a:p>
          <a:p>
            <a:pPr indent="-417396">
              <a:lnSpc>
                <a:spcPct val="170000"/>
              </a:lnSpc>
              <a:buClr>
                <a:schemeClr val="dk1"/>
              </a:buClr>
              <a:buSzPct val="100000"/>
              <a:buFont typeface="Times New Roman"/>
              <a:buChar char="●"/>
            </a:pPr>
            <a:r>
              <a:rPr lang="en" sz="2667" dirty="0">
                <a:solidFill>
                  <a:schemeClr val="dk1"/>
                </a:solidFill>
                <a:latin typeface="Times New Roman"/>
                <a:ea typeface="Times New Roman"/>
                <a:cs typeface="Times New Roman"/>
                <a:sym typeface="Times New Roman"/>
              </a:rPr>
              <a:t>Key Focus of this section - Research Methods psychologists use in their efforts to add to our knowledge of human behavior</a:t>
            </a:r>
            <a:endParaRPr sz="2667" dirty="0">
              <a:solidFill>
                <a:schemeClr val="dk1"/>
              </a:solidFill>
              <a:latin typeface="Times New Roman"/>
              <a:ea typeface="Times New Roman"/>
              <a:cs typeface="Times New Roman"/>
              <a:sym typeface="Times New Roman"/>
            </a:endParaRPr>
          </a:p>
          <a:p>
            <a:pPr indent="-417396">
              <a:lnSpc>
                <a:spcPct val="170000"/>
              </a:lnSpc>
              <a:buClr>
                <a:schemeClr val="dk1"/>
              </a:buClr>
              <a:buSzPct val="100000"/>
              <a:buFont typeface="Times New Roman"/>
              <a:buChar char="●"/>
            </a:pPr>
            <a:r>
              <a:rPr lang="en" sz="2667" dirty="0">
                <a:solidFill>
                  <a:schemeClr val="dk1"/>
                </a:solidFill>
                <a:latin typeface="Times New Roman"/>
                <a:ea typeface="Times New Roman"/>
                <a:cs typeface="Times New Roman"/>
                <a:sym typeface="Times New Roman"/>
              </a:rPr>
              <a:t>Studying human behaviour - Common Sense may give a confusing and incorrect human behaviour</a:t>
            </a:r>
            <a:endParaRPr sz="2667" dirty="0">
              <a:solidFill>
                <a:schemeClr val="dk1"/>
              </a:solidFill>
              <a:latin typeface="Times New Roman"/>
              <a:ea typeface="Times New Roman"/>
              <a:cs typeface="Times New Roman"/>
              <a:sym typeface="Times New Roman"/>
            </a:endParaRPr>
          </a:p>
          <a:p>
            <a:pPr indent="0">
              <a:lnSpc>
                <a:spcPct val="170000"/>
              </a:lnSpc>
              <a:spcBef>
                <a:spcPts val="1600"/>
              </a:spcBef>
              <a:buNone/>
            </a:pPr>
            <a:r>
              <a:rPr lang="en" sz="2667" dirty="0">
                <a:solidFill>
                  <a:schemeClr val="dk1"/>
                </a:solidFill>
                <a:latin typeface="Times New Roman"/>
                <a:ea typeface="Times New Roman"/>
                <a:cs typeface="Times New Roman"/>
                <a:sym typeface="Times New Roman"/>
              </a:rPr>
              <a:t>Example - Confirmation Bias or Availability Heuristics or Mood Effects</a:t>
            </a:r>
            <a:endParaRPr sz="2667" dirty="0">
              <a:solidFill>
                <a:schemeClr val="dk1"/>
              </a:solidFill>
              <a:latin typeface="Times New Roman"/>
              <a:ea typeface="Times New Roman"/>
              <a:cs typeface="Times New Roman"/>
              <a:sym typeface="Times New Roman"/>
            </a:endParaRPr>
          </a:p>
          <a:p>
            <a:pPr indent="-417396">
              <a:lnSpc>
                <a:spcPct val="170000"/>
              </a:lnSpc>
              <a:spcBef>
                <a:spcPts val="1600"/>
              </a:spcBef>
              <a:buClr>
                <a:schemeClr val="dk1"/>
              </a:buClr>
              <a:buSzPct val="100000"/>
              <a:buFont typeface="Times New Roman"/>
              <a:buChar char="●"/>
            </a:pPr>
            <a:r>
              <a:rPr lang="en" sz="2667" dirty="0">
                <a:solidFill>
                  <a:schemeClr val="dk1"/>
                </a:solidFill>
                <a:latin typeface="Times New Roman"/>
                <a:ea typeface="Times New Roman"/>
                <a:cs typeface="Times New Roman"/>
                <a:sym typeface="Times New Roman"/>
              </a:rPr>
              <a:t>The solution is - Studying human behaviour using </a:t>
            </a:r>
            <a:r>
              <a:rPr lang="en" sz="2667" b="1" dirty="0">
                <a:solidFill>
                  <a:schemeClr val="dk1"/>
                </a:solidFill>
                <a:latin typeface="Times New Roman"/>
                <a:ea typeface="Times New Roman"/>
                <a:cs typeface="Times New Roman"/>
                <a:sym typeface="Times New Roman"/>
              </a:rPr>
              <a:t>Scientific Method</a:t>
            </a:r>
            <a:endParaRPr sz="2667" b="1" dirty="0">
              <a:solidFill>
                <a:schemeClr val="dk1"/>
              </a:solidFill>
              <a:latin typeface="Times New Roman"/>
              <a:ea typeface="Times New Roman"/>
              <a:cs typeface="Times New Roman"/>
              <a:sym typeface="Times New Roman"/>
            </a:endParaRPr>
          </a:p>
          <a:p>
            <a:pPr indent="-417396">
              <a:lnSpc>
                <a:spcPct val="170000"/>
              </a:lnSpc>
              <a:buClr>
                <a:schemeClr val="dk1"/>
              </a:buClr>
              <a:buSzPct val="100000"/>
              <a:buFont typeface="Times New Roman"/>
              <a:buChar char="●"/>
            </a:pPr>
            <a:r>
              <a:rPr lang="en" sz="2667" b="1" dirty="0">
                <a:solidFill>
                  <a:schemeClr val="dk1"/>
                </a:solidFill>
                <a:latin typeface="Times New Roman"/>
                <a:ea typeface="Times New Roman"/>
                <a:cs typeface="Times New Roman"/>
                <a:sym typeface="Times New Roman"/>
              </a:rPr>
              <a:t>Essential Components of Scientific Method</a:t>
            </a:r>
            <a:endParaRPr sz="2667" b="1" dirty="0">
              <a:solidFill>
                <a:schemeClr val="dk1"/>
              </a:solidFill>
              <a:latin typeface="Times New Roman"/>
              <a:ea typeface="Times New Roman"/>
              <a:cs typeface="Times New Roman"/>
              <a:sym typeface="Times New Roman"/>
            </a:endParaRPr>
          </a:p>
          <a:p>
            <a:pPr marL="1828754" lvl="1" indent="-417396">
              <a:lnSpc>
                <a:spcPct val="170000"/>
              </a:lnSpc>
              <a:buClr>
                <a:schemeClr val="dk1"/>
              </a:buClr>
              <a:buSzPct val="100000"/>
              <a:buFont typeface="Times New Roman"/>
              <a:buChar char="○"/>
            </a:pPr>
            <a:r>
              <a:rPr lang="en" sz="2667" b="1" dirty="0">
                <a:solidFill>
                  <a:schemeClr val="dk1"/>
                </a:solidFill>
                <a:latin typeface="Times New Roman"/>
                <a:ea typeface="Times New Roman"/>
                <a:cs typeface="Times New Roman"/>
                <a:sym typeface="Times New Roman"/>
              </a:rPr>
              <a:t>Accuracy -</a:t>
            </a:r>
            <a:r>
              <a:rPr lang="en" sz="2667" dirty="0">
                <a:solidFill>
                  <a:schemeClr val="dk1"/>
                </a:solidFill>
                <a:latin typeface="Times New Roman"/>
                <a:ea typeface="Times New Roman"/>
                <a:cs typeface="Times New Roman"/>
                <a:sym typeface="Times New Roman"/>
              </a:rPr>
              <a:t> Error free information</a:t>
            </a:r>
            <a:endParaRPr sz="2667" dirty="0">
              <a:solidFill>
                <a:schemeClr val="dk1"/>
              </a:solidFill>
              <a:latin typeface="Times New Roman"/>
              <a:ea typeface="Times New Roman"/>
              <a:cs typeface="Times New Roman"/>
              <a:sym typeface="Times New Roman"/>
            </a:endParaRPr>
          </a:p>
          <a:p>
            <a:pPr marL="1828754" lvl="1" indent="-417396">
              <a:lnSpc>
                <a:spcPct val="170000"/>
              </a:lnSpc>
              <a:buClr>
                <a:schemeClr val="dk1"/>
              </a:buClr>
              <a:buSzPct val="100000"/>
              <a:buFont typeface="Times New Roman"/>
              <a:buChar char="○"/>
            </a:pPr>
            <a:r>
              <a:rPr lang="en" sz="2667" b="1" dirty="0">
                <a:solidFill>
                  <a:schemeClr val="dk1"/>
                </a:solidFill>
                <a:latin typeface="Times New Roman"/>
                <a:ea typeface="Times New Roman"/>
                <a:cs typeface="Times New Roman"/>
                <a:sym typeface="Times New Roman"/>
              </a:rPr>
              <a:t>Objectivity - </a:t>
            </a:r>
            <a:r>
              <a:rPr lang="en" sz="2667" dirty="0">
                <a:solidFill>
                  <a:schemeClr val="dk1"/>
                </a:solidFill>
                <a:latin typeface="Times New Roman"/>
                <a:ea typeface="Times New Roman"/>
                <a:cs typeface="Times New Roman"/>
                <a:sym typeface="Times New Roman"/>
              </a:rPr>
              <a:t>Bias free information</a:t>
            </a:r>
            <a:endParaRPr sz="2667" dirty="0">
              <a:solidFill>
                <a:schemeClr val="dk1"/>
              </a:solidFill>
              <a:latin typeface="Times New Roman"/>
              <a:ea typeface="Times New Roman"/>
              <a:cs typeface="Times New Roman"/>
              <a:sym typeface="Times New Roman"/>
            </a:endParaRPr>
          </a:p>
          <a:p>
            <a:pPr marL="1828754" lvl="1" indent="-417396">
              <a:lnSpc>
                <a:spcPct val="170000"/>
              </a:lnSpc>
              <a:buClr>
                <a:schemeClr val="dk1"/>
              </a:buClr>
              <a:buSzPct val="100000"/>
              <a:buFont typeface="Times New Roman"/>
              <a:buChar char="○"/>
            </a:pPr>
            <a:r>
              <a:rPr lang="en" sz="2667" b="1" dirty="0">
                <a:solidFill>
                  <a:schemeClr val="dk1"/>
                </a:solidFill>
                <a:latin typeface="Times New Roman"/>
                <a:ea typeface="Times New Roman"/>
                <a:cs typeface="Times New Roman"/>
                <a:sym typeface="Times New Roman"/>
              </a:rPr>
              <a:t>Skepticism -</a:t>
            </a:r>
            <a:r>
              <a:rPr lang="en" sz="2667" dirty="0">
                <a:solidFill>
                  <a:schemeClr val="dk1"/>
                </a:solidFill>
                <a:latin typeface="Times New Roman"/>
                <a:ea typeface="Times New Roman"/>
                <a:cs typeface="Times New Roman"/>
                <a:sym typeface="Times New Roman"/>
              </a:rPr>
              <a:t> Information is verified from various sources</a:t>
            </a:r>
            <a:endParaRPr sz="2667" dirty="0">
              <a:solidFill>
                <a:schemeClr val="dk1"/>
              </a:solidFill>
              <a:latin typeface="Times New Roman"/>
              <a:ea typeface="Times New Roman"/>
              <a:cs typeface="Times New Roman"/>
              <a:sym typeface="Times New Roman"/>
            </a:endParaRPr>
          </a:p>
          <a:p>
            <a:pPr marL="1828754" lvl="1" indent="-417396">
              <a:lnSpc>
                <a:spcPct val="170000"/>
              </a:lnSpc>
              <a:buClr>
                <a:schemeClr val="dk1"/>
              </a:buClr>
              <a:buSzPct val="100000"/>
              <a:buFont typeface="Times New Roman"/>
              <a:buChar char="○"/>
            </a:pPr>
            <a:r>
              <a:rPr lang="en" sz="2667" b="1" dirty="0">
                <a:solidFill>
                  <a:schemeClr val="dk1"/>
                </a:solidFill>
                <a:latin typeface="Times New Roman"/>
                <a:ea typeface="Times New Roman"/>
                <a:cs typeface="Times New Roman"/>
                <a:sym typeface="Times New Roman"/>
              </a:rPr>
              <a:t>Open Mindedness - </a:t>
            </a:r>
            <a:r>
              <a:rPr lang="en" sz="2667" dirty="0">
                <a:solidFill>
                  <a:schemeClr val="dk1"/>
                </a:solidFill>
                <a:latin typeface="Times New Roman"/>
                <a:ea typeface="Times New Roman"/>
                <a:cs typeface="Times New Roman"/>
                <a:sym typeface="Times New Roman"/>
              </a:rPr>
              <a:t>openness to change one’s own view</a:t>
            </a:r>
            <a:endParaRPr sz="2667" dirty="0">
              <a:solidFill>
                <a:schemeClr val="dk1"/>
              </a:solidFill>
              <a:latin typeface="Times New Roman"/>
              <a:ea typeface="Times New Roman"/>
              <a:cs typeface="Times New Roman"/>
              <a:sym typeface="Times New Roman"/>
            </a:endParaRPr>
          </a:p>
          <a:p>
            <a:pPr marL="0" indent="0">
              <a:spcBef>
                <a:spcPts val="1600"/>
              </a:spcBef>
              <a:spcAft>
                <a:spcPts val="1600"/>
              </a:spcAft>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body" idx="1"/>
          </p:nvPr>
        </p:nvSpPr>
        <p:spPr>
          <a:xfrm>
            <a:off x="415600" y="296800"/>
            <a:ext cx="11360800" cy="6264400"/>
          </a:xfrm>
          <a:prstGeom prst="rect">
            <a:avLst/>
          </a:prstGeom>
        </p:spPr>
        <p:txBody>
          <a:bodyPr spcFirstLastPara="1" vert="horz" wrap="square" lIns="121900" tIns="121900" rIns="121900" bIns="121900" rtlCol="0" anchor="t" anchorCtr="0">
            <a:normAutofit/>
          </a:bodyPr>
          <a:lstStyle/>
          <a:p>
            <a:pPr marL="1219170" indent="0">
              <a:lnSpc>
                <a:spcPct val="150000"/>
              </a:lnSpc>
              <a:buNone/>
            </a:pPr>
            <a:endParaRPr sz="2200">
              <a:solidFill>
                <a:schemeClr val="dk1"/>
              </a:solidFill>
              <a:latin typeface="Times New Roman"/>
              <a:ea typeface="Times New Roman"/>
              <a:cs typeface="Times New Roman"/>
              <a:sym typeface="Times New Roman"/>
            </a:endParaRPr>
          </a:p>
          <a:p>
            <a:pPr marL="1219170" indent="-413056">
              <a:lnSpc>
                <a:spcPct val="115000"/>
              </a:lnSpc>
              <a:spcBef>
                <a:spcPts val="1600"/>
              </a:spcBef>
              <a:buClr>
                <a:schemeClr val="dk1"/>
              </a:buClr>
              <a:buSzPct val="100000"/>
              <a:buFont typeface="Times New Roman"/>
              <a:buChar char="●"/>
            </a:pPr>
            <a:r>
              <a:rPr lang="en" sz="2200">
                <a:solidFill>
                  <a:schemeClr val="dk1"/>
                </a:solidFill>
                <a:latin typeface="Times New Roman"/>
                <a:ea typeface="Times New Roman"/>
                <a:cs typeface="Times New Roman"/>
                <a:sym typeface="Times New Roman"/>
              </a:rPr>
              <a:t>The basis of Scientific Method in studying behaviour - </a:t>
            </a:r>
            <a:r>
              <a:rPr lang="en" sz="2200" b="1">
                <a:solidFill>
                  <a:schemeClr val="dk1"/>
                </a:solidFill>
                <a:latin typeface="Times New Roman"/>
                <a:ea typeface="Times New Roman"/>
                <a:cs typeface="Times New Roman"/>
                <a:sym typeface="Times New Roman"/>
              </a:rPr>
              <a:t>Critical Thinking</a:t>
            </a:r>
            <a:endParaRPr sz="2200" b="1">
              <a:solidFill>
                <a:schemeClr val="dk1"/>
              </a:solidFill>
              <a:latin typeface="Times New Roman"/>
              <a:ea typeface="Times New Roman"/>
              <a:cs typeface="Times New Roman"/>
              <a:sym typeface="Times New Roman"/>
            </a:endParaRPr>
          </a:p>
          <a:p>
            <a:pPr marL="1219170" indent="-413056">
              <a:lnSpc>
                <a:spcPct val="115000"/>
              </a:lnSpc>
              <a:buClr>
                <a:schemeClr val="dk1"/>
              </a:buClr>
              <a:buSzPct val="100000"/>
              <a:buFont typeface="Times New Roman"/>
              <a:buChar char="●"/>
            </a:pPr>
            <a:r>
              <a:rPr lang="en" sz="2200" b="1">
                <a:solidFill>
                  <a:schemeClr val="dk1"/>
                </a:solidFill>
                <a:latin typeface="Times New Roman"/>
                <a:ea typeface="Times New Roman"/>
                <a:cs typeface="Times New Roman"/>
                <a:sym typeface="Times New Roman"/>
              </a:rPr>
              <a:t>Critical Thinking</a:t>
            </a:r>
            <a:r>
              <a:rPr lang="en" sz="2200">
                <a:solidFill>
                  <a:schemeClr val="dk1"/>
                </a:solidFill>
                <a:latin typeface="Times New Roman"/>
                <a:ea typeface="Times New Roman"/>
                <a:cs typeface="Times New Roman"/>
                <a:sym typeface="Times New Roman"/>
              </a:rPr>
              <a:t> - thinking that avoids blind acceptance of conclusions or arguments and instead closely examines all assumptions, carefully evaluates existing evidence, and cautiously assesses all conclusions.</a:t>
            </a:r>
            <a:endParaRPr sz="2200">
              <a:solidFill>
                <a:schemeClr val="dk1"/>
              </a:solidFill>
              <a:latin typeface="Times New Roman"/>
              <a:ea typeface="Times New Roman"/>
              <a:cs typeface="Times New Roman"/>
              <a:sym typeface="Times New Roman"/>
            </a:endParaRPr>
          </a:p>
          <a:p>
            <a:pPr marL="1219170" indent="-413056">
              <a:lnSpc>
                <a:spcPct val="115000"/>
              </a:lnSpc>
              <a:buClr>
                <a:schemeClr val="dk1"/>
              </a:buClr>
              <a:buSzPct val="100000"/>
              <a:buFont typeface="Times New Roman"/>
              <a:buChar char="●"/>
            </a:pPr>
            <a:r>
              <a:rPr lang="en" sz="2200">
                <a:solidFill>
                  <a:schemeClr val="dk1"/>
                </a:solidFill>
                <a:latin typeface="Times New Roman"/>
                <a:ea typeface="Times New Roman"/>
                <a:cs typeface="Times New Roman"/>
                <a:sym typeface="Times New Roman"/>
              </a:rPr>
              <a:t>Critical Thinking involves following guidelines - </a:t>
            </a:r>
            <a:endParaRPr sz="2200">
              <a:solidFill>
                <a:schemeClr val="dk1"/>
              </a:solidFill>
              <a:latin typeface="Times New Roman"/>
              <a:ea typeface="Times New Roman"/>
              <a:cs typeface="Times New Roman"/>
              <a:sym typeface="Times New Roman"/>
            </a:endParaRPr>
          </a:p>
          <a:p>
            <a:pPr marL="1828754" lvl="1" indent="-413056">
              <a:buClr>
                <a:schemeClr val="dk1"/>
              </a:buClr>
              <a:buSzPct val="100000"/>
              <a:buFont typeface="Times New Roman"/>
              <a:buChar char="○"/>
            </a:pPr>
            <a:r>
              <a:rPr lang="en" sz="2200">
                <a:solidFill>
                  <a:schemeClr val="dk1"/>
                </a:solidFill>
                <a:latin typeface="Times New Roman"/>
                <a:ea typeface="Times New Roman"/>
                <a:cs typeface="Times New Roman"/>
                <a:sym typeface="Times New Roman"/>
              </a:rPr>
              <a:t>Never jump to conclusions</a:t>
            </a:r>
            <a:endParaRPr sz="2200">
              <a:solidFill>
                <a:schemeClr val="dk1"/>
              </a:solidFill>
              <a:latin typeface="Times New Roman"/>
              <a:ea typeface="Times New Roman"/>
              <a:cs typeface="Times New Roman"/>
              <a:sym typeface="Times New Roman"/>
            </a:endParaRPr>
          </a:p>
          <a:p>
            <a:pPr marL="1828754" lvl="1" indent="-413056">
              <a:buClr>
                <a:schemeClr val="dk1"/>
              </a:buClr>
              <a:buSzPct val="100000"/>
              <a:buFont typeface="Times New Roman"/>
              <a:buChar char="○"/>
            </a:pPr>
            <a:r>
              <a:rPr lang="en" sz="2200">
                <a:solidFill>
                  <a:schemeClr val="dk1"/>
                </a:solidFill>
                <a:latin typeface="Times New Roman"/>
                <a:ea typeface="Times New Roman"/>
                <a:cs typeface="Times New Roman"/>
                <a:sym typeface="Times New Roman"/>
              </a:rPr>
              <a:t>Keep an open mind</a:t>
            </a:r>
            <a:endParaRPr sz="2200">
              <a:solidFill>
                <a:schemeClr val="dk1"/>
              </a:solidFill>
              <a:latin typeface="Times New Roman"/>
              <a:ea typeface="Times New Roman"/>
              <a:cs typeface="Times New Roman"/>
              <a:sym typeface="Times New Roman"/>
            </a:endParaRPr>
          </a:p>
          <a:p>
            <a:pPr marL="1828754" lvl="1" indent="-413056">
              <a:buClr>
                <a:schemeClr val="dk1"/>
              </a:buClr>
              <a:buSzPct val="100000"/>
              <a:buFont typeface="Times New Roman"/>
              <a:buChar char="○"/>
            </a:pPr>
            <a:r>
              <a:rPr lang="en" sz="2200">
                <a:solidFill>
                  <a:schemeClr val="dk1"/>
                </a:solidFill>
                <a:latin typeface="Times New Roman"/>
                <a:ea typeface="Times New Roman"/>
                <a:cs typeface="Times New Roman"/>
                <a:sym typeface="Times New Roman"/>
              </a:rPr>
              <a:t>Always ask “HOW”</a:t>
            </a:r>
            <a:endParaRPr sz="2200">
              <a:solidFill>
                <a:schemeClr val="dk1"/>
              </a:solidFill>
              <a:latin typeface="Times New Roman"/>
              <a:ea typeface="Times New Roman"/>
              <a:cs typeface="Times New Roman"/>
              <a:sym typeface="Times New Roman"/>
            </a:endParaRPr>
          </a:p>
          <a:p>
            <a:pPr marL="1828754" lvl="1" indent="-413056">
              <a:buClr>
                <a:schemeClr val="dk1"/>
              </a:buClr>
              <a:buSzPct val="100000"/>
              <a:buFont typeface="Times New Roman"/>
              <a:buChar char="○"/>
            </a:pPr>
            <a:r>
              <a:rPr lang="en" sz="2200">
                <a:solidFill>
                  <a:schemeClr val="dk1"/>
                </a:solidFill>
                <a:latin typeface="Times New Roman"/>
                <a:ea typeface="Times New Roman"/>
                <a:cs typeface="Times New Roman"/>
                <a:sym typeface="Times New Roman"/>
              </a:rPr>
              <a:t>Be skeptical</a:t>
            </a:r>
            <a:endParaRPr sz="2200">
              <a:solidFill>
                <a:schemeClr val="dk1"/>
              </a:solidFill>
              <a:latin typeface="Times New Roman"/>
              <a:ea typeface="Times New Roman"/>
              <a:cs typeface="Times New Roman"/>
              <a:sym typeface="Times New Roman"/>
            </a:endParaRPr>
          </a:p>
          <a:p>
            <a:pPr marL="1828754" lvl="1" indent="-413056">
              <a:buClr>
                <a:schemeClr val="dk1"/>
              </a:buClr>
              <a:buSzPct val="100000"/>
              <a:buFont typeface="Times New Roman"/>
              <a:buChar char="○"/>
            </a:pPr>
            <a:r>
              <a:rPr lang="en" sz="2200">
                <a:solidFill>
                  <a:schemeClr val="dk1"/>
                </a:solidFill>
                <a:latin typeface="Times New Roman"/>
                <a:ea typeface="Times New Roman"/>
                <a:cs typeface="Times New Roman"/>
                <a:sym typeface="Times New Roman"/>
              </a:rPr>
              <a:t>Never be stampeded into accepting some view or position by your own emotions</a:t>
            </a:r>
            <a:endParaRPr sz="2200">
              <a:solidFill>
                <a:schemeClr val="dk1"/>
              </a:solidFill>
              <a:latin typeface="Times New Roman"/>
              <a:ea typeface="Times New Roman"/>
              <a:cs typeface="Times New Roman"/>
              <a:sym typeface="Times New Roman"/>
            </a:endParaRPr>
          </a:p>
          <a:p>
            <a:pPr marL="1828754" indent="0">
              <a:spcBef>
                <a:spcPts val="1600"/>
              </a:spcBef>
              <a:buNone/>
            </a:pPr>
            <a:endParaRPr sz="2200">
              <a:solidFill>
                <a:schemeClr val="dk1"/>
              </a:solidFill>
              <a:latin typeface="Times New Roman"/>
              <a:ea typeface="Times New Roman"/>
              <a:cs typeface="Times New Roman"/>
              <a:sym typeface="Times New Roman"/>
            </a:endParaRPr>
          </a:p>
          <a:p>
            <a:pPr indent="-413056">
              <a:spcBef>
                <a:spcPts val="1600"/>
              </a:spcBef>
              <a:buClr>
                <a:schemeClr val="dk1"/>
              </a:buClr>
              <a:buSzPct val="100000"/>
              <a:buFont typeface="Times New Roman"/>
              <a:buChar char="●"/>
            </a:pPr>
            <a:r>
              <a:rPr lang="en" sz="2200">
                <a:solidFill>
                  <a:schemeClr val="dk1"/>
                </a:solidFill>
                <a:latin typeface="Times New Roman"/>
                <a:ea typeface="Times New Roman"/>
                <a:cs typeface="Times New Roman"/>
                <a:sym typeface="Times New Roman"/>
              </a:rPr>
              <a:t>Critical Thinking is scientific study of human behaviour in everyday life, but how Psychologists study human behaviour? </a:t>
            </a:r>
            <a:endParaRPr sz="2200">
              <a:solidFill>
                <a:schemeClr val="dk1"/>
              </a:solidFill>
              <a:latin typeface="Times New Roman"/>
              <a:ea typeface="Times New Roman"/>
              <a:cs typeface="Times New Roman"/>
              <a:sym typeface="Times New Roman"/>
            </a:endParaRPr>
          </a:p>
          <a:p>
            <a:pPr marL="0" indent="0">
              <a:spcBef>
                <a:spcPts val="1600"/>
              </a:spcBef>
              <a:buNone/>
            </a:pPr>
            <a:endParaRPr/>
          </a:p>
          <a:p>
            <a:pPr marL="1219170" indent="0">
              <a:lnSpc>
                <a:spcPct val="150000"/>
              </a:lnSpc>
              <a:spcBef>
                <a:spcPts val="1600"/>
              </a:spcBef>
              <a:buNone/>
            </a:pPr>
            <a:endParaRPr sz="2000">
              <a:latin typeface="Times New Roman"/>
              <a:ea typeface="Times New Roman"/>
              <a:cs typeface="Times New Roman"/>
              <a:sym typeface="Times New Roman"/>
            </a:endParaRPr>
          </a:p>
          <a:p>
            <a:pPr marL="0" indent="0">
              <a:spcBef>
                <a:spcPts val="1600"/>
              </a:spcBef>
              <a:spcAft>
                <a:spcPts val="16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9"/>
          <p:cNvSpPr txBox="1">
            <a:spLocks noGrp="1"/>
          </p:cNvSpPr>
          <p:nvPr>
            <p:ph type="body" idx="1"/>
          </p:nvPr>
        </p:nvSpPr>
        <p:spPr>
          <a:xfrm>
            <a:off x="200033" y="125833"/>
            <a:ext cx="11360800" cy="4555200"/>
          </a:xfrm>
          <a:prstGeom prst="rect">
            <a:avLst/>
          </a:prstGeom>
        </p:spPr>
        <p:txBody>
          <a:bodyPr spcFirstLastPara="1" vert="horz" wrap="square" lIns="121900" tIns="121900" rIns="121900" bIns="121900" rtlCol="0" anchor="t" anchorCtr="0">
            <a:noAutofit/>
          </a:bodyPr>
          <a:lstStyle/>
          <a:p>
            <a:pPr marL="0" indent="0">
              <a:lnSpc>
                <a:spcPct val="100000"/>
              </a:lnSpc>
              <a:buNone/>
            </a:pPr>
            <a:r>
              <a:rPr lang="en" sz="1733" dirty="0">
                <a:solidFill>
                  <a:srgbClr val="000000"/>
                </a:solidFill>
                <a:latin typeface="Times New Roman"/>
                <a:ea typeface="Times New Roman"/>
                <a:cs typeface="Times New Roman"/>
                <a:sym typeface="Times New Roman"/>
              </a:rPr>
              <a:t>Psychologists study Behaviour through - </a:t>
            </a:r>
            <a:endParaRPr sz="1733" dirty="0">
              <a:solidFill>
                <a:srgbClr val="000000"/>
              </a:solidFill>
              <a:latin typeface="Times New Roman"/>
              <a:ea typeface="Times New Roman"/>
              <a:cs typeface="Times New Roman"/>
              <a:sym typeface="Times New Roman"/>
            </a:endParaRPr>
          </a:p>
          <a:p>
            <a:pPr indent="-414856">
              <a:lnSpc>
                <a:spcPct val="100000"/>
              </a:lnSpc>
              <a:spcBef>
                <a:spcPts val="1600"/>
              </a:spcBef>
              <a:buClr>
                <a:srgbClr val="000000"/>
              </a:buClr>
              <a:buSzPts val="1300"/>
              <a:buAutoNum type="arabicPeriod"/>
            </a:pPr>
            <a:r>
              <a:rPr lang="en" sz="1733" b="1" dirty="0">
                <a:solidFill>
                  <a:srgbClr val="000000"/>
                </a:solidFill>
                <a:latin typeface="Times New Roman"/>
                <a:ea typeface="Times New Roman"/>
                <a:cs typeface="Times New Roman"/>
                <a:sym typeface="Times New Roman"/>
              </a:rPr>
              <a:t>Observation </a:t>
            </a:r>
            <a:r>
              <a:rPr lang="en" sz="1733" dirty="0">
                <a:solidFill>
                  <a:srgbClr val="000000"/>
                </a:solidFill>
                <a:latin typeface="Times New Roman"/>
                <a:ea typeface="Times New Roman"/>
                <a:cs typeface="Times New Roman"/>
                <a:sym typeface="Times New Roman"/>
              </a:rPr>
              <a:t>- observation accompanied by careful, accurate measurements</a:t>
            </a:r>
            <a:endParaRPr sz="1733" dirty="0">
              <a:solidFill>
                <a:srgbClr val="000000"/>
              </a:solidFill>
              <a:latin typeface="Times New Roman"/>
              <a:ea typeface="Times New Roman"/>
              <a:cs typeface="Times New Roman"/>
              <a:sym typeface="Times New Roman"/>
            </a:endParaRPr>
          </a:p>
          <a:p>
            <a:pPr indent="0">
              <a:lnSpc>
                <a:spcPct val="100000"/>
              </a:lnSpc>
              <a:spcBef>
                <a:spcPts val="1600"/>
              </a:spcBef>
              <a:buNone/>
            </a:pPr>
            <a:r>
              <a:rPr lang="en" sz="1733" i="1" u="sng" dirty="0">
                <a:solidFill>
                  <a:srgbClr val="000000"/>
                </a:solidFill>
                <a:latin typeface="Times New Roman"/>
                <a:ea typeface="Times New Roman"/>
                <a:cs typeface="Times New Roman"/>
                <a:sym typeface="Times New Roman"/>
              </a:rPr>
              <a:t>Naturalistic Observation</a:t>
            </a:r>
            <a:r>
              <a:rPr lang="en" sz="1733" dirty="0">
                <a:solidFill>
                  <a:srgbClr val="000000"/>
                </a:solidFill>
                <a:latin typeface="Times New Roman"/>
                <a:ea typeface="Times New Roman"/>
                <a:cs typeface="Times New Roman"/>
                <a:sym typeface="Times New Roman"/>
              </a:rPr>
              <a:t> - systematic study of behavior in natural settings </a:t>
            </a:r>
            <a:endParaRPr sz="1733" dirty="0">
              <a:solidFill>
                <a:srgbClr val="000000"/>
              </a:solidFill>
              <a:latin typeface="Times New Roman"/>
              <a:ea typeface="Times New Roman"/>
              <a:cs typeface="Times New Roman"/>
              <a:sym typeface="Times New Roman"/>
            </a:endParaRPr>
          </a:p>
          <a:p>
            <a:pPr indent="0">
              <a:lnSpc>
                <a:spcPct val="100000"/>
              </a:lnSpc>
              <a:spcBef>
                <a:spcPts val="1600"/>
              </a:spcBef>
              <a:buNone/>
            </a:pPr>
            <a:r>
              <a:rPr lang="en" sz="1733" dirty="0">
                <a:solidFill>
                  <a:srgbClr val="000000"/>
                </a:solidFill>
                <a:latin typeface="Times New Roman"/>
                <a:ea typeface="Times New Roman"/>
                <a:cs typeface="Times New Roman"/>
                <a:sym typeface="Times New Roman"/>
              </a:rPr>
              <a:t>Example - observing student’s attention in a class</a:t>
            </a:r>
            <a:endParaRPr sz="1733" dirty="0">
              <a:solidFill>
                <a:srgbClr val="000000"/>
              </a:solidFill>
              <a:latin typeface="Times New Roman"/>
              <a:ea typeface="Times New Roman"/>
              <a:cs typeface="Times New Roman"/>
              <a:sym typeface="Times New Roman"/>
            </a:endParaRPr>
          </a:p>
          <a:p>
            <a:pPr indent="0">
              <a:lnSpc>
                <a:spcPct val="100000"/>
              </a:lnSpc>
              <a:spcBef>
                <a:spcPts val="1600"/>
              </a:spcBef>
              <a:buNone/>
            </a:pPr>
            <a:r>
              <a:rPr lang="en" sz="1733" i="1" u="sng" dirty="0">
                <a:solidFill>
                  <a:srgbClr val="000000"/>
                </a:solidFill>
                <a:latin typeface="Times New Roman"/>
                <a:ea typeface="Times New Roman"/>
                <a:cs typeface="Times New Roman"/>
                <a:sym typeface="Times New Roman"/>
              </a:rPr>
              <a:t>Case Studies</a:t>
            </a:r>
            <a:r>
              <a:rPr lang="en" sz="1733" dirty="0">
                <a:solidFill>
                  <a:srgbClr val="000000"/>
                </a:solidFill>
                <a:latin typeface="Times New Roman"/>
                <a:ea typeface="Times New Roman"/>
                <a:cs typeface="Times New Roman"/>
                <a:sym typeface="Times New Roman"/>
              </a:rPr>
              <a:t> - A method of research in which detailed information about individuals is used to develop general principles about behavior</a:t>
            </a:r>
            <a:endParaRPr sz="1733" dirty="0">
              <a:solidFill>
                <a:srgbClr val="000000"/>
              </a:solidFill>
              <a:latin typeface="Times New Roman"/>
              <a:ea typeface="Times New Roman"/>
              <a:cs typeface="Times New Roman"/>
              <a:sym typeface="Times New Roman"/>
            </a:endParaRPr>
          </a:p>
          <a:p>
            <a:pPr indent="0">
              <a:lnSpc>
                <a:spcPct val="100000"/>
              </a:lnSpc>
              <a:spcBef>
                <a:spcPts val="1600"/>
              </a:spcBef>
              <a:buNone/>
            </a:pPr>
            <a:r>
              <a:rPr lang="en" sz="1733" i="1" u="sng" dirty="0">
                <a:solidFill>
                  <a:srgbClr val="000000"/>
                </a:solidFill>
                <a:latin typeface="Times New Roman"/>
                <a:ea typeface="Times New Roman"/>
                <a:cs typeface="Times New Roman"/>
                <a:sym typeface="Times New Roman"/>
              </a:rPr>
              <a:t>Survey Method</a:t>
            </a:r>
            <a:r>
              <a:rPr lang="en" sz="1733" dirty="0">
                <a:solidFill>
                  <a:srgbClr val="000000"/>
                </a:solidFill>
                <a:latin typeface="Times New Roman"/>
                <a:ea typeface="Times New Roman"/>
                <a:cs typeface="Times New Roman"/>
                <a:sym typeface="Times New Roman"/>
              </a:rPr>
              <a:t> - A research method in which large numbers of people answer questions about aspects of their views or their behavior</a:t>
            </a:r>
            <a:endParaRPr sz="1733" dirty="0">
              <a:solidFill>
                <a:srgbClr val="000000"/>
              </a:solidFill>
              <a:latin typeface="Times New Roman"/>
              <a:ea typeface="Times New Roman"/>
              <a:cs typeface="Times New Roman"/>
              <a:sym typeface="Times New Roman"/>
            </a:endParaRPr>
          </a:p>
          <a:p>
            <a:pPr marL="651917">
              <a:lnSpc>
                <a:spcPct val="100000"/>
              </a:lnSpc>
              <a:spcBef>
                <a:spcPts val="1600"/>
              </a:spcBef>
              <a:buClr>
                <a:srgbClr val="000000"/>
              </a:buClr>
              <a:buSzPts val="1300"/>
              <a:buFont typeface="+mj-lt"/>
              <a:buAutoNum type="arabicPeriod"/>
            </a:pPr>
            <a:r>
              <a:rPr lang="en" sz="1733" b="1" dirty="0">
                <a:solidFill>
                  <a:srgbClr val="000000"/>
                </a:solidFill>
                <a:latin typeface="Times New Roman"/>
                <a:ea typeface="Times New Roman"/>
                <a:cs typeface="Times New Roman"/>
                <a:sym typeface="Times New Roman"/>
              </a:rPr>
              <a:t>Correlation</a:t>
            </a:r>
            <a:r>
              <a:rPr lang="en" sz="1733" dirty="0">
                <a:solidFill>
                  <a:srgbClr val="000000"/>
                </a:solidFill>
                <a:latin typeface="Times New Roman"/>
                <a:ea typeface="Times New Roman"/>
                <a:cs typeface="Times New Roman"/>
                <a:sym typeface="Times New Roman"/>
              </a:rPr>
              <a:t> - A research method in which researchers attempt to determine whether, and to what extent, different variables are related to each other.</a:t>
            </a:r>
            <a:endParaRPr sz="1733" dirty="0">
              <a:solidFill>
                <a:srgbClr val="000000"/>
              </a:solidFill>
              <a:latin typeface="Times New Roman"/>
              <a:ea typeface="Times New Roman"/>
              <a:cs typeface="Times New Roman"/>
              <a:sym typeface="Times New Roman"/>
            </a:endParaRPr>
          </a:p>
          <a:p>
            <a:pPr indent="0">
              <a:lnSpc>
                <a:spcPct val="100000"/>
              </a:lnSpc>
              <a:spcBef>
                <a:spcPts val="1600"/>
              </a:spcBef>
              <a:buNone/>
            </a:pPr>
            <a:r>
              <a:rPr lang="en" sz="1733" dirty="0">
                <a:solidFill>
                  <a:srgbClr val="000000"/>
                </a:solidFill>
                <a:latin typeface="Times New Roman"/>
                <a:ea typeface="Times New Roman"/>
                <a:cs typeface="Times New Roman"/>
                <a:sym typeface="Times New Roman"/>
              </a:rPr>
              <a:t>Example - Watching lots of TV increase heart attack rates. </a:t>
            </a:r>
            <a:endParaRPr sz="1733" dirty="0">
              <a:solidFill>
                <a:srgbClr val="000000"/>
              </a:solidFill>
              <a:latin typeface="Times New Roman"/>
              <a:ea typeface="Times New Roman"/>
              <a:cs typeface="Times New Roman"/>
              <a:sym typeface="Times New Roman"/>
            </a:endParaRPr>
          </a:p>
          <a:p>
            <a:pPr indent="0">
              <a:lnSpc>
                <a:spcPct val="100000"/>
              </a:lnSpc>
              <a:spcBef>
                <a:spcPts val="1600"/>
              </a:spcBef>
              <a:buNone/>
            </a:pPr>
            <a:r>
              <a:rPr lang="en" sz="1733" dirty="0">
                <a:solidFill>
                  <a:srgbClr val="000000"/>
                </a:solidFill>
                <a:latin typeface="Times New Roman"/>
                <a:ea typeface="Times New Roman"/>
                <a:cs typeface="Times New Roman"/>
                <a:sym typeface="Times New Roman"/>
              </a:rPr>
              <a:t>(Even If Two Variables Are Strongly Correlated, This Does Not Necessarily Mean That Changes in One Cause Changes in the Other)</a:t>
            </a:r>
            <a:endParaRPr sz="1733" dirty="0">
              <a:solidFill>
                <a:srgbClr val="000000"/>
              </a:solidFill>
              <a:latin typeface="Times New Roman"/>
              <a:ea typeface="Times New Roman"/>
              <a:cs typeface="Times New Roman"/>
              <a:sym typeface="Times New Roman"/>
            </a:endParaRPr>
          </a:p>
          <a:p>
            <a:pPr indent="-414856">
              <a:lnSpc>
                <a:spcPct val="100000"/>
              </a:lnSpc>
              <a:spcBef>
                <a:spcPts val="1600"/>
              </a:spcBef>
              <a:buClr>
                <a:srgbClr val="000000"/>
              </a:buClr>
              <a:buSzPts val="1300"/>
              <a:buFont typeface="Times New Roman"/>
              <a:buAutoNum type="arabicPeriod"/>
            </a:pPr>
            <a:r>
              <a:rPr lang="en" sz="1733" b="1" dirty="0">
                <a:solidFill>
                  <a:srgbClr val="000000"/>
                </a:solidFill>
                <a:latin typeface="Times New Roman"/>
                <a:ea typeface="Times New Roman"/>
                <a:cs typeface="Times New Roman"/>
                <a:sym typeface="Times New Roman"/>
              </a:rPr>
              <a:t>Experimental Method </a:t>
            </a:r>
            <a:r>
              <a:rPr lang="en" sz="1733" dirty="0">
                <a:solidFill>
                  <a:srgbClr val="000000"/>
                </a:solidFill>
                <a:latin typeface="Times New Roman"/>
                <a:ea typeface="Times New Roman"/>
                <a:cs typeface="Times New Roman"/>
                <a:sym typeface="Times New Roman"/>
              </a:rPr>
              <a:t>-  A research method in which researchers systematically alter one or more variables (or Independent Variable)  in order to determine whether such changes influence some aspect of behavior (or Dependent Variable)</a:t>
            </a:r>
            <a:endParaRPr sz="1733" dirty="0">
              <a:solidFill>
                <a:srgbClr val="000000"/>
              </a:solidFill>
              <a:latin typeface="Times New Roman"/>
              <a:ea typeface="Times New Roman"/>
              <a:cs typeface="Times New Roman"/>
              <a:sym typeface="Times New Roman"/>
            </a:endParaRPr>
          </a:p>
          <a:p>
            <a:pPr indent="0">
              <a:lnSpc>
                <a:spcPct val="100000"/>
              </a:lnSpc>
              <a:spcBef>
                <a:spcPts val="1600"/>
              </a:spcBef>
              <a:spcAft>
                <a:spcPts val="1600"/>
              </a:spcAft>
              <a:buNone/>
            </a:pPr>
            <a:r>
              <a:rPr lang="en" sz="1733" dirty="0">
                <a:solidFill>
                  <a:srgbClr val="000000"/>
                </a:solidFill>
                <a:latin typeface="Times New Roman"/>
                <a:ea typeface="Times New Roman"/>
                <a:cs typeface="Times New Roman"/>
                <a:sym typeface="Times New Roman"/>
              </a:rPr>
              <a:t>Example - to check whether practicing meditation improves working memory</a:t>
            </a:r>
            <a:endParaRPr sz="1733"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Google Shape;60;p14"/>
          <p:cNvSpPr txBox="1">
            <a:spLocks/>
          </p:cNvSpPr>
          <p:nvPr/>
        </p:nvSpPr>
        <p:spPr>
          <a:xfrm>
            <a:off x="1732229" y="2082019"/>
            <a:ext cx="8949839" cy="1730463"/>
          </a:xfrm>
          <a:prstGeom prst="rect">
            <a:avLst/>
          </a:prstGeom>
        </p:spPr>
        <p:txBody>
          <a:bodyPr spcFirstLastPara="1" wrap="square" lIns="121900" tIns="121900" rIns="121900" bIns="121900"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990"/>
            </a:pPr>
            <a:r>
              <a:rPr lang="en-IN" sz="6400" dirty="0">
                <a:latin typeface="Times New Roman"/>
                <a:ea typeface="Times New Roman"/>
                <a:cs typeface="Times New Roman"/>
                <a:sym typeface="Times New Roman"/>
              </a:rPr>
              <a:t>Branches of Psychology</a:t>
            </a:r>
          </a:p>
        </p:txBody>
      </p:sp>
    </p:spTree>
    <p:extLst>
      <p:ext uri="{BB962C8B-B14F-4D97-AF65-F5344CB8AC3E}">
        <p14:creationId xmlns:p14="http://schemas.microsoft.com/office/powerpoint/2010/main" val="1599536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rotWithShape="1">
          <a:blip r:embed="rId3">
            <a:alphaModFix/>
          </a:blip>
          <a:srcRect t="6182"/>
          <a:stretch/>
        </p:blipFill>
        <p:spPr>
          <a:xfrm>
            <a:off x="593867" y="602067"/>
            <a:ext cx="11104532" cy="57902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1" name="Google Shape;61;p14"/>
          <p:cNvPicPr preferRelativeResize="0"/>
          <p:nvPr/>
        </p:nvPicPr>
        <p:blipFill rotWithShape="1">
          <a:blip r:embed="rId3">
            <a:alphaModFix/>
          </a:blip>
          <a:srcRect t="8424"/>
          <a:stretch/>
        </p:blipFill>
        <p:spPr>
          <a:xfrm>
            <a:off x="691966" y="1314984"/>
            <a:ext cx="10808069" cy="422803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1196</Words>
  <Application>Microsoft Office PowerPoint</Application>
  <PresentationFormat>Widescreen</PresentationFormat>
  <Paragraphs>111</Paragraphs>
  <Slides>18</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Understanding Human Behaviour  Course Code: NHSI 103 </vt:lpstr>
      <vt:lpstr>PowerPoint Presentation</vt:lpstr>
      <vt:lpstr>Major Perspectives in Psychology</vt:lpstr>
      <vt:lpstr>PowerPoint Presentation</vt:lpstr>
      <vt:lpstr>PowerPoint Presentation</vt:lpstr>
      <vt:lpstr>PowerPoint Presentation</vt:lpstr>
      <vt:lpstr>Gestalt Psychology</vt:lpstr>
      <vt:lpstr>PowerPoint Presentation</vt:lpstr>
      <vt:lpstr>PowerPoint Presentation</vt:lpstr>
      <vt:lpstr>PowerPoint Presentation</vt:lpstr>
      <vt:lpstr>PowerPoint Presentation</vt:lpstr>
      <vt:lpstr>Studying Behaviour</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Saumya Rastogi</dc:creator>
  <cp:lastModifiedBy>Saumya Rastogi</cp:lastModifiedBy>
  <cp:revision>1</cp:revision>
  <dcterms:created xsi:type="dcterms:W3CDTF">2024-08-29T21:40:14Z</dcterms:created>
  <dcterms:modified xsi:type="dcterms:W3CDTF">2024-08-29T21:45:13Z</dcterms:modified>
</cp:coreProperties>
</file>