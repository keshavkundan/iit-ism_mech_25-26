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73" r:id="rId6"/>
    <p:sldId id="271" r:id="rId7"/>
    <p:sldId id="274" r:id="rId8"/>
    <p:sldId id="275" r:id="rId9"/>
    <p:sldId id="272" r:id="rId10"/>
    <p:sldId id="260" r:id="rId11"/>
    <p:sldId id="261" r:id="rId12"/>
    <p:sldId id="276" r:id="rId13"/>
    <p:sldId id="262" r:id="rId14"/>
    <p:sldId id="278" r:id="rId15"/>
    <p:sldId id="277" r:id="rId16"/>
    <p:sldId id="263" r:id="rId17"/>
    <p:sldId id="283" r:id="rId18"/>
    <p:sldId id="264" r:id="rId19"/>
    <p:sldId id="284" r:id="rId20"/>
    <p:sldId id="280" r:id="rId21"/>
    <p:sldId id="282" r:id="rId22"/>
    <p:sldId id="281" r:id="rId23"/>
    <p:sldId id="279" r:id="rId24"/>
    <p:sldId id="285" r:id="rId25"/>
    <p:sldId id="286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936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12D6D-1D3C-41D2-9055-A38674C27AE9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4D2CF-093C-4C5A-B6ED-9F8B5999B9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8827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12D6D-1D3C-41D2-9055-A38674C27AE9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4D2CF-093C-4C5A-B6ED-9F8B5999B9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2224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12D6D-1D3C-41D2-9055-A38674C27AE9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4D2CF-093C-4C5A-B6ED-9F8B5999B9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016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12D6D-1D3C-41D2-9055-A38674C27AE9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4D2CF-093C-4C5A-B6ED-9F8B5999B9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3324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12D6D-1D3C-41D2-9055-A38674C27AE9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4D2CF-093C-4C5A-B6ED-9F8B5999B9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9221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12D6D-1D3C-41D2-9055-A38674C27AE9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4D2CF-093C-4C5A-B6ED-9F8B5999B9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7544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12D6D-1D3C-41D2-9055-A38674C27AE9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4D2CF-093C-4C5A-B6ED-9F8B5999B9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147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12D6D-1D3C-41D2-9055-A38674C27AE9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4D2CF-093C-4C5A-B6ED-9F8B5999B9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2382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12D6D-1D3C-41D2-9055-A38674C27AE9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4D2CF-093C-4C5A-B6ED-9F8B5999B9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1536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12D6D-1D3C-41D2-9055-A38674C27AE9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4D2CF-093C-4C5A-B6ED-9F8B5999B9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9053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12D6D-1D3C-41D2-9055-A38674C27AE9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4D2CF-093C-4C5A-B6ED-9F8B5999B9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0895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412D6D-1D3C-41D2-9055-A38674C27AE9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34D2CF-093C-4C5A-B6ED-9F8B5999B9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1373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sh80xjAnO-w&amp;t=14s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LSHJbIJK9TI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b6t_OTHpJJ0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95425" y="314325"/>
            <a:ext cx="9144000" cy="1062038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and Development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Psychology of Learning and Development | Mintbook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93" t="5819" r="17989" b="123"/>
          <a:stretch/>
        </p:blipFill>
        <p:spPr bwMode="auto">
          <a:xfrm>
            <a:off x="3238500" y="1495425"/>
            <a:ext cx="5715000" cy="4895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4971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LECTURE 1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6 Amazing Methods Of Educational Psychology You Must Know - Classplus  Growth Blo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8582" y="1485900"/>
            <a:ext cx="7514835" cy="501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0234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 to Learning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8945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Any relatively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permanent change in behavior,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experience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 temporary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 maturation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Vicarious and Experience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 always positive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Learning: Definition, Characteristics and Types of Learning in Psychology -  Management Study Guid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3654" y="3848100"/>
            <a:ext cx="6644821" cy="1860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1589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Classical Conditioning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7800"/>
            <a:ext cx="10515600" cy="472916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Ivan Pavlov, a Russian physiologist, discovered it during his work on digestion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that some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Stimuli Signal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others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Unconditioned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Stimulus – elicit a automatic response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Unconditioned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– automatic response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Conditioned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Stimulus – non-neutral stimulus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Conditioned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– response to CS</a:t>
            </a:r>
          </a:p>
          <a:p>
            <a:pPr marL="0" indent="0">
              <a:lnSpc>
                <a:spcPct val="150000"/>
              </a:lnSpc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5483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lassical Conditioning Observation Theory In Psychology 14+ Thousand Classical  Conditioning Royalty-Free Images, Stoc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8356" y="285750"/>
            <a:ext cx="7941469" cy="635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4649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Educational Psychology: What is classical conditioning and what ... -  Worksheets Library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77"/>
          <a:stretch/>
        </p:blipFill>
        <p:spPr bwMode="auto">
          <a:xfrm>
            <a:off x="1905000" y="762000"/>
            <a:ext cx="8489950" cy="5267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210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Basic Principles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 descr="JaypeeDigital | eBook Read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4236" y="1854200"/>
            <a:ext cx="9223527" cy="4251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1290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123825"/>
            <a:ext cx="9877425" cy="658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980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Video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www.youtube.com/watch?v=sh80xjAnO-w&amp;t=14s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V1 Classical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Conditioning</a:t>
            </a:r>
          </a:p>
        </p:txBody>
      </p:sp>
    </p:spTree>
    <p:extLst>
      <p:ext uri="{BB962C8B-B14F-4D97-AF65-F5344CB8AC3E}">
        <p14:creationId xmlns:p14="http://schemas.microsoft.com/office/powerpoint/2010/main" val="1323462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LECTURE 2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Why Operant Conditioning Still Matters in Today's Digital Learning Age | by  MaxLearn Microlearning Platform | Mediu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499" y="1690688"/>
            <a:ext cx="7339251" cy="4891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02236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Operant Conditioning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Thorndike later Skinner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Learning Based on Consequences</a:t>
            </a:r>
          </a:p>
          <a:p>
            <a:pPr>
              <a:lnSpc>
                <a:spcPct val="150000"/>
              </a:lnSpc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Yield positive outcomes</a:t>
            </a:r>
          </a:p>
          <a:p>
            <a:pPr>
              <a:lnSpc>
                <a:spcPct val="150000"/>
              </a:lnSpc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Escape negative</a:t>
            </a:r>
          </a:p>
          <a:p>
            <a:pPr>
              <a:lnSpc>
                <a:spcPct val="150000"/>
              </a:lnSpc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</a:t>
            </a:r>
          </a:p>
          <a:p>
            <a:pPr>
              <a:lnSpc>
                <a:spcPct val="150000"/>
              </a:lnSpc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Punishment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Operant Conditioning In Psychology: B.F. Skinner Theory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5550" y="1548209"/>
            <a:ext cx="5886450" cy="4972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50513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Operant Conditioning (Examples + Research) - Practical Psychology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84" t="18868" r="6052" b="4717"/>
          <a:stretch/>
        </p:blipFill>
        <p:spPr bwMode="auto">
          <a:xfrm>
            <a:off x="1228725" y="161925"/>
            <a:ext cx="9848850" cy="6454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80995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51"/>
          <a:stretch/>
        </p:blipFill>
        <p:spPr>
          <a:xfrm>
            <a:off x="807597" y="419100"/>
            <a:ext cx="10431903" cy="6086020"/>
          </a:xfrm>
        </p:spPr>
      </p:pic>
    </p:spTree>
    <p:extLst>
      <p:ext uri="{BB962C8B-B14F-4D97-AF65-F5344CB8AC3E}">
        <p14:creationId xmlns:p14="http://schemas.microsoft.com/office/powerpoint/2010/main" val="9208774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Reinforcement Schedules (4 Types Explained)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5" t="2268" r="1275" b="2399"/>
          <a:stretch/>
        </p:blipFill>
        <p:spPr bwMode="auto">
          <a:xfrm>
            <a:off x="276226" y="209550"/>
            <a:ext cx="11639550" cy="6410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39121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Video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://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www.youtube.com/watch?v=LSHJbIJK9TI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V2 Operant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Conditioning</a:t>
            </a:r>
          </a:p>
        </p:txBody>
      </p:sp>
    </p:spTree>
    <p:extLst>
      <p:ext uri="{BB962C8B-B14F-4D97-AF65-F5344CB8AC3E}">
        <p14:creationId xmlns:p14="http://schemas.microsoft.com/office/powerpoint/2010/main" val="33752500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LECTURE 3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Understanding Observational Learning: Strategies and Benefits - Education  Corner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7" t="3001" r="2823" b="11200"/>
          <a:stretch/>
        </p:blipFill>
        <p:spPr bwMode="auto">
          <a:xfrm>
            <a:off x="2381250" y="1690688"/>
            <a:ext cx="7791450" cy="4761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55670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Observational Learning: Examples, Stages, History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27" b="5337"/>
          <a:stretch/>
        </p:blipFill>
        <p:spPr bwMode="auto">
          <a:xfrm>
            <a:off x="590550" y="285750"/>
            <a:ext cx="10915774" cy="6275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99058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Observational Learning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56125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the Behavior and Outcomes of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Others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learning or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modelling</a:t>
            </a:r>
          </a:p>
          <a:p>
            <a:pPr>
              <a:lnSpc>
                <a:spcPct val="150000"/>
              </a:lnSpc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Bobo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doll experiment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complex than mere imitation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 of observational learning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your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retain some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representation</a:t>
            </a:r>
          </a:p>
          <a:p>
            <a:pPr lvl="1"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representations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 appropriate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actions</a:t>
            </a:r>
          </a:p>
          <a:p>
            <a:pPr lvl="1">
              <a:lnSpc>
                <a:spcPct val="150000"/>
              </a:lnSpc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29001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44" t="72" b="1"/>
          <a:stretch/>
        </p:blipFill>
        <p:spPr>
          <a:xfrm>
            <a:off x="3981450" y="224604"/>
            <a:ext cx="4067175" cy="6462183"/>
          </a:xfrm>
        </p:spPr>
      </p:pic>
    </p:spTree>
    <p:extLst>
      <p:ext uri="{BB962C8B-B14F-4D97-AF65-F5344CB8AC3E}">
        <p14:creationId xmlns:p14="http://schemas.microsoft.com/office/powerpoint/2010/main" val="26697579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10515600" cy="581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4705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3826" y="409575"/>
            <a:ext cx="8631405" cy="5695950"/>
          </a:xfrm>
        </p:spPr>
      </p:pic>
    </p:spTree>
    <p:extLst>
      <p:ext uri="{BB962C8B-B14F-4D97-AF65-F5344CB8AC3E}">
        <p14:creationId xmlns:p14="http://schemas.microsoft.com/office/powerpoint/2010/main" val="306067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Video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www.youtube.com/watch?v=b6t_OTHpJJ0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V3 Observational Learning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07663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 descr="What Is the Psychology of Learning?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8" t="4000" r="955" b="10600"/>
          <a:stretch/>
        </p:blipFill>
        <p:spPr bwMode="auto">
          <a:xfrm>
            <a:off x="838200" y="365125"/>
            <a:ext cx="10515600" cy="6117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47601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Examples Observational Learning And Operant Conditioning Learning In Psych  Reading One Pager Project: Operant, Classical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848" r="34" b="5624"/>
          <a:stretch/>
        </p:blipFill>
        <p:spPr bwMode="auto">
          <a:xfrm>
            <a:off x="774699" y="685800"/>
            <a:ext cx="10667477" cy="532447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96687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13" t="11721" r="3688" b="3390"/>
          <a:stretch/>
        </p:blipFill>
        <p:spPr>
          <a:xfrm>
            <a:off x="2486025" y="914399"/>
            <a:ext cx="6956185" cy="4888654"/>
          </a:xfrm>
        </p:spPr>
      </p:pic>
    </p:spTree>
    <p:extLst>
      <p:ext uri="{BB962C8B-B14F-4D97-AF65-F5344CB8AC3E}">
        <p14:creationId xmlns:p14="http://schemas.microsoft.com/office/powerpoint/2010/main" val="202523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760</TotalTime>
  <Words>153</Words>
  <Application>Microsoft Office PowerPoint</Application>
  <PresentationFormat>Widescreen</PresentationFormat>
  <Paragraphs>45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Times New Roman</vt:lpstr>
      <vt:lpstr>Office Theme</vt:lpstr>
      <vt:lpstr>Learning and Development</vt:lpstr>
      <vt:lpstr>LECTURE 1 </vt:lpstr>
      <vt:lpstr>Introduction  to Learning</vt:lpstr>
      <vt:lpstr>Classical Conditioning</vt:lpstr>
      <vt:lpstr>PowerPoint Presentation</vt:lpstr>
      <vt:lpstr>PowerPoint Presentation</vt:lpstr>
      <vt:lpstr>Basic Principles</vt:lpstr>
      <vt:lpstr>PowerPoint Presentation</vt:lpstr>
      <vt:lpstr>Video</vt:lpstr>
      <vt:lpstr>LECTURE 2 </vt:lpstr>
      <vt:lpstr>Operant Conditioning</vt:lpstr>
      <vt:lpstr>PowerPoint Presentation</vt:lpstr>
      <vt:lpstr>PowerPoint Presentation</vt:lpstr>
      <vt:lpstr>PowerPoint Presentation</vt:lpstr>
      <vt:lpstr>Video</vt:lpstr>
      <vt:lpstr>LECTURE 3</vt:lpstr>
      <vt:lpstr>PowerPoint Presentation</vt:lpstr>
      <vt:lpstr>Observational Learning</vt:lpstr>
      <vt:lpstr>PowerPoint Presentation</vt:lpstr>
      <vt:lpstr>PowerPoint Presentation</vt:lpstr>
      <vt:lpstr>PowerPoint Presentation</vt:lpstr>
      <vt:lpstr>Video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Learning and Development</dc:title>
  <dc:creator>Microsoft account</dc:creator>
  <cp:lastModifiedBy>Microsoft account</cp:lastModifiedBy>
  <cp:revision>32</cp:revision>
  <dcterms:created xsi:type="dcterms:W3CDTF">2026-01-06T07:21:52Z</dcterms:created>
  <dcterms:modified xsi:type="dcterms:W3CDTF">2026-01-13T13:47:19Z</dcterms:modified>
</cp:coreProperties>
</file>