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61" r:id="rId3"/>
    <p:sldId id="257" r:id="rId4"/>
    <p:sldId id="258" r:id="rId5"/>
    <p:sldId id="259" r:id="rId6"/>
    <p:sldId id="263" r:id="rId7"/>
    <p:sldId id="264" r:id="rId8"/>
    <p:sldId id="265" r:id="rId9"/>
    <p:sldId id="266" r:id="rId10"/>
    <p:sldId id="267" r:id="rId11"/>
    <p:sldId id="268" r:id="rId12"/>
    <p:sldId id="269" r:id="rId13"/>
    <p:sldId id="270" r:id="rId14"/>
    <p:sldId id="272" r:id="rId15"/>
    <p:sldId id="273" r:id="rId16"/>
    <p:sldId id="271" r:id="rId17"/>
    <p:sldId id="281" r:id="rId18"/>
    <p:sldId id="274" r:id="rId19"/>
    <p:sldId id="275" r:id="rId20"/>
    <p:sldId id="276" r:id="rId21"/>
    <p:sldId id="278" r:id="rId22"/>
    <p:sldId id="279" r:id="rId23"/>
    <p:sldId id="283" r:id="rId24"/>
    <p:sldId id="277" r:id="rId25"/>
    <p:sldId id="284" r:id="rId26"/>
    <p:sldId id="285" r:id="rId27"/>
    <p:sldId id="287" r:id="rId28"/>
    <p:sldId id="288" r:id="rId29"/>
    <p:sldId id="286" r:id="rId30"/>
    <p:sldId id="289" r:id="rId31"/>
    <p:sldId id="290" r:id="rId32"/>
    <p:sldId id="292" r:id="rId33"/>
    <p:sldId id="293" r:id="rId34"/>
    <p:sldId id="291" r:id="rId35"/>
    <p:sldId id="294" r:id="rId36"/>
    <p:sldId id="295" r:id="rId37"/>
    <p:sldId id="296" r:id="rId38"/>
    <p:sldId id="297" r:id="rId39"/>
    <p:sldId id="298" r:id="rId40"/>
    <p:sldId id="299" r:id="rId41"/>
    <p:sldId id="300" r:id="rId42"/>
    <p:sldId id="302" r:id="rId43"/>
    <p:sldId id="303" r:id="rId44"/>
    <p:sldId id="304" r:id="rId45"/>
    <p:sldId id="301" r:id="rId46"/>
    <p:sldId id="305" r:id="rId47"/>
    <p:sldId id="306" r:id="rId48"/>
    <p:sldId id="308" r:id="rId49"/>
    <p:sldId id="307" r:id="rId50"/>
    <p:sldId id="309" r:id="rId51"/>
    <p:sldId id="310" r:id="rId52"/>
    <p:sldId id="318" r:id="rId53"/>
    <p:sldId id="319" r:id="rId54"/>
    <p:sldId id="320" r:id="rId55"/>
    <p:sldId id="321" r:id="rId56"/>
    <p:sldId id="322" r:id="rId57"/>
    <p:sldId id="323" r:id="rId58"/>
    <p:sldId id="324" r:id="rId59"/>
    <p:sldId id="325" r:id="rId60"/>
    <p:sldId id="326" r:id="rId61"/>
    <p:sldId id="327" r:id="rId62"/>
    <p:sldId id="328" r:id="rId63"/>
    <p:sldId id="311" r:id="rId64"/>
    <p:sldId id="312" r:id="rId65"/>
    <p:sldId id="313" r:id="rId66"/>
    <p:sldId id="314" r:id="rId67"/>
    <p:sldId id="315" r:id="rId68"/>
    <p:sldId id="316" r:id="rId69"/>
    <p:sldId id="317" r:id="rId70"/>
    <p:sldId id="329" r:id="rId71"/>
    <p:sldId id="330" r:id="rId72"/>
    <p:sldId id="331" r:id="rId73"/>
    <p:sldId id="333" r:id="rId74"/>
    <p:sldId id="334" r:id="rId75"/>
    <p:sldId id="335" r:id="rId76"/>
    <p:sldId id="336" r:id="rId77"/>
    <p:sldId id="337" r:id="rId78"/>
    <p:sldId id="338" r:id="rId79"/>
    <p:sldId id="339" r:id="rId80"/>
    <p:sldId id="332" r:id="rId81"/>
    <p:sldId id="340" r:id="rId82"/>
    <p:sldId id="341" r:id="rId83"/>
    <p:sldId id="342" r:id="rId84"/>
    <p:sldId id="343" r:id="rId85"/>
    <p:sldId id="344" r:id="rId86"/>
    <p:sldId id="345" r:id="rId87"/>
    <p:sldId id="346" r:id="rId88"/>
    <p:sldId id="347" r:id="rId89"/>
    <p:sldId id="348" r:id="rId90"/>
    <p:sldId id="349"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E9C53-3EF9-4BF3-B2D6-F8069DB024B6}" v="4" dt="2026-01-01T08:12:22.9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9" autoAdjust="0"/>
    <p:restoredTop sz="76150" autoAdjust="0"/>
  </p:normalViewPr>
  <p:slideViewPr>
    <p:cSldViewPr snapToGrid="0">
      <p:cViewPr varScale="1">
        <p:scale>
          <a:sx n="84" d="100"/>
          <a:sy n="84" d="100"/>
        </p:scale>
        <p:origin x="14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7EF66-74DF-462C-A0A9-230530373DA2}"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83ACA0-8543-4620-9999-31DA01AF27E3}" type="slidenum">
              <a:rPr lang="en-IN" smtClean="0"/>
              <a:t>‹#›</a:t>
            </a:fld>
            <a:endParaRPr lang="en-IN"/>
          </a:p>
        </p:txBody>
      </p:sp>
    </p:spTree>
    <p:extLst>
      <p:ext uri="{BB962C8B-B14F-4D97-AF65-F5344CB8AC3E}">
        <p14:creationId xmlns:p14="http://schemas.microsoft.com/office/powerpoint/2010/main" val="2342591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overshoot and ringing are sometimes produced by stray inductive and capacitive effects. </a:t>
            </a:r>
          </a:p>
          <a:p>
            <a:r>
              <a:rPr lang="en-US" dirty="0"/>
              <a:t>The droop can be caused by stray capacitive and circuit resistance, forming an RC circuit with a low time constant. </a:t>
            </a:r>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6</a:t>
            </a:fld>
            <a:endParaRPr lang="en-IN"/>
          </a:p>
        </p:txBody>
      </p:sp>
    </p:spTree>
    <p:extLst>
      <p:ext uri="{BB962C8B-B14F-4D97-AF65-F5344CB8AC3E}">
        <p14:creationId xmlns:p14="http://schemas.microsoft.com/office/powerpoint/2010/main" val="2472078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15</a:t>
            </a:fld>
            <a:endParaRPr lang="en-IN"/>
          </a:p>
        </p:txBody>
      </p:sp>
    </p:spTree>
    <p:extLst>
      <p:ext uri="{BB962C8B-B14F-4D97-AF65-F5344CB8AC3E}">
        <p14:creationId xmlns:p14="http://schemas.microsoft.com/office/powerpoint/2010/main" val="824384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16</a:t>
            </a:fld>
            <a:endParaRPr lang="en-IN"/>
          </a:p>
        </p:txBody>
      </p:sp>
    </p:spTree>
    <p:extLst>
      <p:ext uri="{BB962C8B-B14F-4D97-AF65-F5344CB8AC3E}">
        <p14:creationId xmlns:p14="http://schemas.microsoft.com/office/powerpoint/2010/main" val="3305156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17</a:t>
            </a:fld>
            <a:endParaRPr lang="en-IN"/>
          </a:p>
        </p:txBody>
      </p:sp>
    </p:spTree>
    <p:extLst>
      <p:ext uri="{BB962C8B-B14F-4D97-AF65-F5344CB8AC3E}">
        <p14:creationId xmlns:p14="http://schemas.microsoft.com/office/powerpoint/2010/main" val="1932590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22</a:t>
            </a:fld>
            <a:endParaRPr lang="en-IN"/>
          </a:p>
        </p:txBody>
      </p:sp>
    </p:spTree>
    <p:extLst>
      <p:ext uri="{BB962C8B-B14F-4D97-AF65-F5344CB8AC3E}">
        <p14:creationId xmlns:p14="http://schemas.microsoft.com/office/powerpoint/2010/main" val="4058592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23</a:t>
            </a:fld>
            <a:endParaRPr lang="en-IN"/>
          </a:p>
        </p:txBody>
      </p:sp>
    </p:spTree>
    <p:extLst>
      <p:ext uri="{BB962C8B-B14F-4D97-AF65-F5344CB8AC3E}">
        <p14:creationId xmlns:p14="http://schemas.microsoft.com/office/powerpoint/2010/main" val="936429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25</a:t>
            </a:fld>
            <a:endParaRPr lang="en-IN"/>
          </a:p>
        </p:txBody>
      </p:sp>
    </p:spTree>
    <p:extLst>
      <p:ext uri="{BB962C8B-B14F-4D97-AF65-F5344CB8AC3E}">
        <p14:creationId xmlns:p14="http://schemas.microsoft.com/office/powerpoint/2010/main" val="2174094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27</a:t>
            </a:fld>
            <a:endParaRPr lang="en-IN"/>
          </a:p>
        </p:txBody>
      </p:sp>
    </p:spTree>
    <p:extLst>
      <p:ext uri="{BB962C8B-B14F-4D97-AF65-F5344CB8AC3E}">
        <p14:creationId xmlns:p14="http://schemas.microsoft.com/office/powerpoint/2010/main" val="4120528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30</a:t>
            </a:fld>
            <a:endParaRPr lang="en-IN"/>
          </a:p>
        </p:txBody>
      </p:sp>
    </p:spTree>
    <p:extLst>
      <p:ext uri="{BB962C8B-B14F-4D97-AF65-F5344CB8AC3E}">
        <p14:creationId xmlns:p14="http://schemas.microsoft.com/office/powerpoint/2010/main" val="2202520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36</a:t>
            </a:fld>
            <a:endParaRPr lang="en-IN"/>
          </a:p>
        </p:txBody>
      </p:sp>
    </p:spTree>
    <p:extLst>
      <p:ext uri="{BB962C8B-B14F-4D97-AF65-F5344CB8AC3E}">
        <p14:creationId xmlns:p14="http://schemas.microsoft.com/office/powerpoint/2010/main" val="4288811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38</a:t>
            </a:fld>
            <a:endParaRPr lang="en-IN"/>
          </a:p>
        </p:txBody>
      </p:sp>
    </p:spTree>
    <p:extLst>
      <p:ext uri="{BB962C8B-B14F-4D97-AF65-F5344CB8AC3E}">
        <p14:creationId xmlns:p14="http://schemas.microsoft.com/office/powerpoint/2010/main" val="3809952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40</a:t>
            </a:fld>
            <a:endParaRPr lang="en-IN"/>
          </a:p>
        </p:txBody>
      </p:sp>
    </p:spTree>
    <p:extLst>
      <p:ext uri="{BB962C8B-B14F-4D97-AF65-F5344CB8AC3E}">
        <p14:creationId xmlns:p14="http://schemas.microsoft.com/office/powerpoint/2010/main" val="4195460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9683-CFF2-C9B1-B93F-E1B9AF6CD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D2079-AE46-E9B7-9999-1FDA5B797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06784-30BB-F8A7-0354-EAF5C0E850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0B32D2-FC84-FF1E-DFE6-DD34BB40FDBB}"/>
              </a:ext>
            </a:extLst>
          </p:cNvPr>
          <p:cNvSpPr>
            <a:spLocks noGrp="1"/>
          </p:cNvSpPr>
          <p:nvPr>
            <p:ph type="sldNum" sz="quarter" idx="5"/>
          </p:nvPr>
        </p:nvSpPr>
        <p:spPr/>
        <p:txBody>
          <a:bodyPr/>
          <a:lstStyle/>
          <a:p>
            <a:fld id="{3C83ACA0-8543-4620-9999-31DA01AF27E3}" type="slidenum">
              <a:rPr lang="en-IN" smtClean="0"/>
              <a:t>41</a:t>
            </a:fld>
            <a:endParaRPr lang="en-IN"/>
          </a:p>
        </p:txBody>
      </p:sp>
    </p:spTree>
    <p:extLst>
      <p:ext uri="{BB962C8B-B14F-4D97-AF65-F5344CB8AC3E}">
        <p14:creationId xmlns:p14="http://schemas.microsoft.com/office/powerpoint/2010/main" val="1639537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1D184-EBA4-1A10-6099-326200171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DE9FA-FE3C-775E-A49F-7DB3B53FA3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D868E-32C2-FB61-733D-9EEC9D352A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43737FC-6EFF-3ADF-C362-4835DADC3E63}"/>
              </a:ext>
            </a:extLst>
          </p:cNvPr>
          <p:cNvSpPr>
            <a:spLocks noGrp="1"/>
          </p:cNvSpPr>
          <p:nvPr>
            <p:ph type="sldNum" sz="quarter" idx="5"/>
          </p:nvPr>
        </p:nvSpPr>
        <p:spPr/>
        <p:txBody>
          <a:bodyPr/>
          <a:lstStyle/>
          <a:p>
            <a:fld id="{3C83ACA0-8543-4620-9999-31DA01AF27E3}" type="slidenum">
              <a:rPr lang="en-IN" smtClean="0"/>
              <a:t>42</a:t>
            </a:fld>
            <a:endParaRPr lang="en-IN"/>
          </a:p>
        </p:txBody>
      </p:sp>
    </p:spTree>
    <p:extLst>
      <p:ext uri="{BB962C8B-B14F-4D97-AF65-F5344CB8AC3E}">
        <p14:creationId xmlns:p14="http://schemas.microsoft.com/office/powerpoint/2010/main" val="2333934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72174-9114-C131-7056-CD42499C1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5389D-4E08-5FB2-B8EC-F88339D43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A753E-97C1-B4E0-811D-BBD57FA0DF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9F4B1AD-0976-ED98-CB0B-F815E03C0337}"/>
              </a:ext>
            </a:extLst>
          </p:cNvPr>
          <p:cNvSpPr>
            <a:spLocks noGrp="1"/>
          </p:cNvSpPr>
          <p:nvPr>
            <p:ph type="sldNum" sz="quarter" idx="5"/>
          </p:nvPr>
        </p:nvSpPr>
        <p:spPr/>
        <p:txBody>
          <a:bodyPr/>
          <a:lstStyle/>
          <a:p>
            <a:fld id="{3C83ACA0-8543-4620-9999-31DA01AF27E3}" type="slidenum">
              <a:rPr lang="en-IN" smtClean="0"/>
              <a:t>43</a:t>
            </a:fld>
            <a:endParaRPr lang="en-IN"/>
          </a:p>
        </p:txBody>
      </p:sp>
    </p:spTree>
    <p:extLst>
      <p:ext uri="{BB962C8B-B14F-4D97-AF65-F5344CB8AC3E}">
        <p14:creationId xmlns:p14="http://schemas.microsoft.com/office/powerpoint/2010/main" val="2738013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3CB6-6147-66EE-0C07-8DE8394E5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D7F29-2956-B76A-C8B1-904097F6A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7CADD-B17E-F841-409F-30DAB72534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320E9A-3A8E-7685-C90B-58D09EA4EA16}"/>
              </a:ext>
            </a:extLst>
          </p:cNvPr>
          <p:cNvSpPr>
            <a:spLocks noGrp="1"/>
          </p:cNvSpPr>
          <p:nvPr>
            <p:ph type="sldNum" sz="quarter" idx="5"/>
          </p:nvPr>
        </p:nvSpPr>
        <p:spPr/>
        <p:txBody>
          <a:bodyPr/>
          <a:lstStyle/>
          <a:p>
            <a:fld id="{3C83ACA0-8543-4620-9999-31DA01AF27E3}" type="slidenum">
              <a:rPr lang="en-IN" smtClean="0"/>
              <a:t>44</a:t>
            </a:fld>
            <a:endParaRPr lang="en-IN"/>
          </a:p>
        </p:txBody>
      </p:sp>
    </p:spTree>
    <p:extLst>
      <p:ext uri="{BB962C8B-B14F-4D97-AF65-F5344CB8AC3E}">
        <p14:creationId xmlns:p14="http://schemas.microsoft.com/office/powerpoint/2010/main" val="1216822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47</a:t>
            </a:fld>
            <a:endParaRPr lang="en-IN"/>
          </a:p>
        </p:txBody>
      </p:sp>
    </p:spTree>
    <p:extLst>
      <p:ext uri="{BB962C8B-B14F-4D97-AF65-F5344CB8AC3E}">
        <p14:creationId xmlns:p14="http://schemas.microsoft.com/office/powerpoint/2010/main" val="4037326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74949-8025-4518-2585-F05B843C1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092B9-C0B9-9EF2-BADF-403325B75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8AD12-2A9F-9D4D-1058-2628026F2F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210FF0-FC6D-A13D-916A-8DBD6D197621}"/>
              </a:ext>
            </a:extLst>
          </p:cNvPr>
          <p:cNvSpPr>
            <a:spLocks noGrp="1"/>
          </p:cNvSpPr>
          <p:nvPr>
            <p:ph type="sldNum" sz="quarter" idx="5"/>
          </p:nvPr>
        </p:nvSpPr>
        <p:spPr/>
        <p:txBody>
          <a:bodyPr/>
          <a:lstStyle/>
          <a:p>
            <a:fld id="{3C83ACA0-8543-4620-9999-31DA01AF27E3}" type="slidenum">
              <a:rPr lang="en-IN" smtClean="0"/>
              <a:t>48</a:t>
            </a:fld>
            <a:endParaRPr lang="en-IN"/>
          </a:p>
        </p:txBody>
      </p:sp>
    </p:spTree>
    <p:extLst>
      <p:ext uri="{BB962C8B-B14F-4D97-AF65-F5344CB8AC3E}">
        <p14:creationId xmlns:p14="http://schemas.microsoft.com/office/powerpoint/2010/main" val="1837747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E80B6-FB9A-93E4-3479-DA903292C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61C60-7A7E-4B02-9A8D-891A1CDFA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B9F7D-CC6B-7B47-EDBA-08858FD5E14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28F485-B781-BFFA-F216-56BAFABCFAC9}"/>
              </a:ext>
            </a:extLst>
          </p:cNvPr>
          <p:cNvSpPr>
            <a:spLocks noGrp="1"/>
          </p:cNvSpPr>
          <p:nvPr>
            <p:ph type="sldNum" sz="quarter" idx="5"/>
          </p:nvPr>
        </p:nvSpPr>
        <p:spPr/>
        <p:txBody>
          <a:bodyPr/>
          <a:lstStyle/>
          <a:p>
            <a:fld id="{3C83ACA0-8543-4620-9999-31DA01AF27E3}" type="slidenum">
              <a:rPr lang="en-IN" smtClean="0"/>
              <a:t>49</a:t>
            </a:fld>
            <a:endParaRPr lang="en-IN"/>
          </a:p>
        </p:txBody>
      </p:sp>
    </p:spTree>
    <p:extLst>
      <p:ext uri="{BB962C8B-B14F-4D97-AF65-F5344CB8AC3E}">
        <p14:creationId xmlns:p14="http://schemas.microsoft.com/office/powerpoint/2010/main" val="2283281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53</a:t>
            </a:fld>
            <a:endParaRPr lang="en-IN"/>
          </a:p>
        </p:txBody>
      </p:sp>
    </p:spTree>
    <p:extLst>
      <p:ext uri="{BB962C8B-B14F-4D97-AF65-F5344CB8AC3E}">
        <p14:creationId xmlns:p14="http://schemas.microsoft.com/office/powerpoint/2010/main" val="2171666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57</a:t>
            </a:fld>
            <a:endParaRPr lang="en-IN"/>
          </a:p>
        </p:txBody>
      </p:sp>
    </p:spTree>
    <p:extLst>
      <p:ext uri="{BB962C8B-B14F-4D97-AF65-F5344CB8AC3E}">
        <p14:creationId xmlns:p14="http://schemas.microsoft.com/office/powerpoint/2010/main" val="2096124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62</a:t>
            </a:fld>
            <a:endParaRPr lang="en-IN"/>
          </a:p>
        </p:txBody>
      </p:sp>
    </p:spTree>
    <p:extLst>
      <p:ext uri="{BB962C8B-B14F-4D97-AF65-F5344CB8AC3E}">
        <p14:creationId xmlns:p14="http://schemas.microsoft.com/office/powerpoint/2010/main" val="742854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64</a:t>
            </a:fld>
            <a:endParaRPr lang="en-IN"/>
          </a:p>
        </p:txBody>
      </p:sp>
    </p:spTree>
    <p:extLst>
      <p:ext uri="{BB962C8B-B14F-4D97-AF65-F5344CB8AC3E}">
        <p14:creationId xmlns:p14="http://schemas.microsoft.com/office/powerpoint/2010/main" val="756134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66</a:t>
            </a:fld>
            <a:endParaRPr lang="en-IN"/>
          </a:p>
        </p:txBody>
      </p:sp>
    </p:spTree>
    <p:extLst>
      <p:ext uri="{BB962C8B-B14F-4D97-AF65-F5344CB8AC3E}">
        <p14:creationId xmlns:p14="http://schemas.microsoft.com/office/powerpoint/2010/main" val="3863607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68</a:t>
            </a:fld>
            <a:endParaRPr lang="en-IN"/>
          </a:p>
        </p:txBody>
      </p:sp>
    </p:spTree>
    <p:extLst>
      <p:ext uri="{BB962C8B-B14F-4D97-AF65-F5344CB8AC3E}">
        <p14:creationId xmlns:p14="http://schemas.microsoft.com/office/powerpoint/2010/main" val="2004820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81</a:t>
            </a:fld>
            <a:endParaRPr lang="en-IN"/>
          </a:p>
        </p:txBody>
      </p:sp>
    </p:spTree>
    <p:extLst>
      <p:ext uri="{BB962C8B-B14F-4D97-AF65-F5344CB8AC3E}">
        <p14:creationId xmlns:p14="http://schemas.microsoft.com/office/powerpoint/2010/main" val="20972389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84</a:t>
            </a:fld>
            <a:endParaRPr lang="en-IN"/>
          </a:p>
        </p:txBody>
      </p:sp>
    </p:spTree>
    <p:extLst>
      <p:ext uri="{BB962C8B-B14F-4D97-AF65-F5344CB8AC3E}">
        <p14:creationId xmlns:p14="http://schemas.microsoft.com/office/powerpoint/2010/main" val="1655723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87</a:t>
            </a:fld>
            <a:endParaRPr lang="en-IN"/>
          </a:p>
        </p:txBody>
      </p:sp>
    </p:spTree>
    <p:extLst>
      <p:ext uri="{BB962C8B-B14F-4D97-AF65-F5344CB8AC3E}">
        <p14:creationId xmlns:p14="http://schemas.microsoft.com/office/powerpoint/2010/main" val="3137408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83ACA0-8543-4620-9999-31DA01AF27E3}" type="slidenum">
              <a:rPr lang="en-IN" smtClean="0"/>
              <a:t>88</a:t>
            </a:fld>
            <a:endParaRPr lang="en-IN"/>
          </a:p>
        </p:txBody>
      </p:sp>
    </p:spTree>
    <p:extLst>
      <p:ext uri="{BB962C8B-B14F-4D97-AF65-F5344CB8AC3E}">
        <p14:creationId xmlns:p14="http://schemas.microsoft.com/office/powerpoint/2010/main" val="4281524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1A04-4563-262B-3039-F6BA899C42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2CE75A-B23B-96AE-17A3-BC20F3F790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6BDD5C-5434-DBD2-49B3-74EB46712514}"/>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5187DF86-4158-E035-B8BD-045C266E1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7F45EE-8965-74E7-07FF-18B67CFC7A73}"/>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4184084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9A3F0-D66E-09F6-C0F9-870FE42594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71BD4B-1A65-C99A-8F98-A54D83753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58A12-CB3D-7B23-159E-BBF81818DB99}"/>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E4CD555C-D0F2-4BCC-DF43-46B2A103E5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BAE13A-4DA7-E9E5-7911-A8BE08378538}"/>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2959572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B09C-E220-FBD0-D46F-0AC6660FB9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93A058-AB8F-6DE7-BC04-93229CEED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83F508-674B-2250-FE9A-87EC1C86D2B2}"/>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4E6F2413-0CC1-EB12-92ED-065156A522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854948-92CC-90B1-C30C-B1BD35B18FE3}"/>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2499803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866A-A98F-2D47-87BF-0B5287471D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8CE834-2B68-9215-D765-CE85C3F370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E03805-59FF-2A2F-EF17-FF71DB3AA4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16E18B-3796-6FEA-F307-39198E61DB76}"/>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6" name="Footer Placeholder 5">
            <a:extLst>
              <a:ext uri="{FF2B5EF4-FFF2-40B4-BE49-F238E27FC236}">
                <a16:creationId xmlns:a16="http://schemas.microsoft.com/office/drawing/2014/main" id="{48391ACD-25ED-4C8D-957A-D2C95B3933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2126FE-7CC4-1ED4-5D32-8E506D72DF60}"/>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4275587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D4A82-C8DA-09DA-FCD4-82A69FAC9C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41678C-6981-CF28-814D-36FB9E83A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E2FC3-1DD0-CFF5-6D39-6A161CB4F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F104C8-A26A-C2F0-C52B-A6C18A0CCC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221549-50D6-93C0-4E9E-8AD213494D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09C2B4-D9A5-1DD3-784A-88CA170FB892}"/>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8" name="Footer Placeholder 7">
            <a:extLst>
              <a:ext uri="{FF2B5EF4-FFF2-40B4-BE49-F238E27FC236}">
                <a16:creationId xmlns:a16="http://schemas.microsoft.com/office/drawing/2014/main" id="{AD548B76-46F5-256A-90D5-79EBD614144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A5D53B-5C2B-28B1-D676-74CA8F12F029}"/>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347403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01AD8-1AD8-EF1E-BC45-4CFD6596B3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299A65-38A0-1C9B-5167-57D8EB9EA9D2}"/>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4" name="Footer Placeholder 3">
            <a:extLst>
              <a:ext uri="{FF2B5EF4-FFF2-40B4-BE49-F238E27FC236}">
                <a16:creationId xmlns:a16="http://schemas.microsoft.com/office/drawing/2014/main" id="{D5DD6CCF-4568-C1A8-E048-42C73474BD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53B62CE-A4E4-CDFB-56C5-A46487E7F3A7}"/>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3268545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7EC82-6664-AE62-7DA5-C980BBA0A9CB}"/>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3" name="Footer Placeholder 2">
            <a:extLst>
              <a:ext uri="{FF2B5EF4-FFF2-40B4-BE49-F238E27FC236}">
                <a16:creationId xmlns:a16="http://schemas.microsoft.com/office/drawing/2014/main" id="{4B06C948-F92C-6DAD-907E-A45F656064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7CE0D4-AD52-439E-F588-938922156CBD}"/>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1134381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52004-C2BA-E371-B21C-ADE11D2981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938736-8EE9-0953-A86A-44079FF031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5A831D-F8C6-FD6B-1F43-B03BAB7AA9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72D2AF-398D-D37C-7077-8A33020A5739}"/>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6" name="Footer Placeholder 5">
            <a:extLst>
              <a:ext uri="{FF2B5EF4-FFF2-40B4-BE49-F238E27FC236}">
                <a16:creationId xmlns:a16="http://schemas.microsoft.com/office/drawing/2014/main" id="{27CB16F9-2261-C672-54A1-F682812245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FA71C0-6F8C-1709-5CB9-F9C72B1210A1}"/>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1305590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17009-AB40-18FD-70EC-19F2558B3C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D42704-CF88-B6F1-1B47-EE756C22CA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1D64A1-2F2A-12C8-1EC4-1C00F90A3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FA0D3-9A84-72AD-60B7-CAE2B738F5B9}"/>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6" name="Footer Placeholder 5">
            <a:extLst>
              <a:ext uri="{FF2B5EF4-FFF2-40B4-BE49-F238E27FC236}">
                <a16:creationId xmlns:a16="http://schemas.microsoft.com/office/drawing/2014/main" id="{5EDB2AD1-9F1B-7FBE-7C82-0E54EBC5E8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9526DC-DBBA-5945-3133-A02DCB5C1BCD}"/>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2197389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23F05-F137-D1E2-6402-A738978CE9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8271B2-ADFE-00D5-F191-41E6C8748C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C807D-8564-EFE4-2697-511808E4B50B}"/>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8F9A9CE6-4838-0552-5321-5AB00A657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F570ED-1C32-D26C-DFF0-797385BE8D95}"/>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2022862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24A37A-2B5A-DB96-E725-518BC855FB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803E09-B259-EE91-EF98-086CA50DFC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CD2337-B7FC-2ECE-8DD0-460A0A63449D}"/>
              </a:ext>
            </a:extLst>
          </p:cNvPr>
          <p:cNvSpPr>
            <a:spLocks noGrp="1"/>
          </p:cNvSpPr>
          <p:nvPr>
            <p:ph type="dt" sz="half" idx="10"/>
          </p:nvPr>
        </p:nvSpPr>
        <p:spPr/>
        <p:txBody>
          <a:body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5E5D899B-FEA4-E8EC-ED8D-4889FE0B7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10A286-2E8D-91C6-C783-1BF7619AD9C8}"/>
              </a:ext>
            </a:extLst>
          </p:cNvPr>
          <p:cNvSpPr>
            <a:spLocks noGrp="1"/>
          </p:cNvSpPr>
          <p:nvPr>
            <p:ph type="sldNum" sz="quarter" idx="12"/>
          </p:nvPr>
        </p:nvSpPr>
        <p:spPr/>
        <p:txBody>
          <a:bodyPr/>
          <a:lstStyle/>
          <a:p>
            <a:fld id="{88EC27D6-AB72-454A-869A-A9DBABABCCE7}" type="slidenum">
              <a:rPr lang="en-IN" smtClean="0"/>
              <a:t>‹#›</a:t>
            </a:fld>
            <a:endParaRPr lang="en-IN"/>
          </a:p>
        </p:txBody>
      </p:sp>
    </p:spTree>
    <p:extLst>
      <p:ext uri="{BB962C8B-B14F-4D97-AF65-F5344CB8AC3E}">
        <p14:creationId xmlns:p14="http://schemas.microsoft.com/office/powerpoint/2010/main" val="1566619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C58D9C-75FE-6EFD-1860-73DB20F76A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BA306B-D468-7536-C664-0594F2AB4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9C8C79-3E92-304D-7B36-C4AA010D1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705156-F6F7-429D-9B6B-238DC5BDFAF0}" type="datetimeFigureOut">
              <a:rPr lang="en-IN" smtClean="0"/>
              <a:t>09-04-2026</a:t>
            </a:fld>
            <a:endParaRPr lang="en-IN"/>
          </a:p>
        </p:txBody>
      </p:sp>
      <p:sp>
        <p:nvSpPr>
          <p:cNvPr id="5" name="Footer Placeholder 4">
            <a:extLst>
              <a:ext uri="{FF2B5EF4-FFF2-40B4-BE49-F238E27FC236}">
                <a16:creationId xmlns:a16="http://schemas.microsoft.com/office/drawing/2014/main" id="{1C004D6B-DEE6-4F3E-2EAE-F5441D4BF1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E393F5F-7C2B-972C-FCBE-1942F6EA99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EC27D6-AB72-454A-869A-A9DBABABCCE7}" type="slidenum">
              <a:rPr lang="en-IN" smtClean="0"/>
              <a:t>‹#›</a:t>
            </a:fld>
            <a:endParaRPr lang="en-IN"/>
          </a:p>
        </p:txBody>
      </p:sp>
    </p:spTree>
    <p:extLst>
      <p:ext uri="{BB962C8B-B14F-4D97-AF65-F5344CB8AC3E}">
        <p14:creationId xmlns:p14="http://schemas.microsoft.com/office/powerpoint/2010/main" val="3748688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1.png"/><Relationship Id="rId4" Type="http://schemas.openxmlformats.org/officeDocument/2006/relationships/image" Target="../media/image54.png"/><Relationship Id="rId9" Type="http://schemas.openxmlformats.org/officeDocument/2006/relationships/image" Target="../media/image49.png"/></Relationships>
</file>

<file path=ppt/slides/_rels/slide2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2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3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3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3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4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4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s>
</file>

<file path=ppt/slides/_rels/slide4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4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4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4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4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49.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 Id="rId9" Type="http://schemas.openxmlformats.org/officeDocument/2006/relationships/image" Target="../media/image1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3.png"/><Relationship Id="rId7" Type="http://schemas.openxmlformats.org/officeDocument/2006/relationships/image" Target="../media/image14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1.png"/></Relationships>
</file>

<file path=ppt/slides/_rels/slide5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7.png"/><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41.png"/></Relationships>
</file>

<file path=ppt/slides/_rels/slide5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6.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2.png"/><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 Id="rId9"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6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3.png"/><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61.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74.png"/></Relationships>
</file>

<file path=ppt/slides/_rels/slide6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6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8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83.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94.png"/><Relationship Id="rId7" Type="http://schemas.openxmlformats.org/officeDocument/2006/relationships/image" Target="../media/image19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97.png"/><Relationship Id="rId5" Type="http://schemas.openxmlformats.org/officeDocument/2006/relationships/image" Target="../media/image196.png"/><Relationship Id="rId4" Type="http://schemas.openxmlformats.org/officeDocument/2006/relationships/image" Target="../media/image195.png"/></Relationships>
</file>

<file path=ppt/slides/_rels/slide8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201.png"/></Relationships>
</file>

<file path=ppt/slides/_rels/slide8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2.png"/><Relationship Id="rId1" Type="http://schemas.openxmlformats.org/officeDocument/2006/relationships/slideLayout" Target="../slideLayouts/slideLayout2.xml"/><Relationship Id="rId5" Type="http://schemas.openxmlformats.org/officeDocument/2006/relationships/image" Target="../media/image205.png"/><Relationship Id="rId4" Type="http://schemas.openxmlformats.org/officeDocument/2006/relationships/image" Target="../media/image199.png"/></Relationships>
</file>

<file path=ppt/slides/_rels/slide90.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 Id="rId5" Type="http://schemas.openxmlformats.org/officeDocument/2006/relationships/image" Target="../media/image206.png"/><Relationship Id="rId4" Type="http://schemas.openxmlformats.org/officeDocument/2006/relationships/image" Target="../media/image20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BB9E-F953-A36F-E65D-2A9BF6434504}"/>
              </a:ext>
            </a:extLst>
          </p:cNvPr>
          <p:cNvSpPr>
            <a:spLocks noGrp="1"/>
          </p:cNvSpPr>
          <p:nvPr>
            <p:ph type="ctrTitle"/>
          </p:nvPr>
        </p:nvSpPr>
        <p:spPr/>
        <p:txBody>
          <a:bodyPr/>
          <a:lstStyle/>
          <a:p>
            <a:r>
              <a:rPr lang="en-IN" dirty="0"/>
              <a:t>Digital Electronics</a:t>
            </a:r>
          </a:p>
        </p:txBody>
      </p:sp>
      <p:sp>
        <p:nvSpPr>
          <p:cNvPr id="3" name="Subtitle 2">
            <a:extLst>
              <a:ext uri="{FF2B5EF4-FFF2-40B4-BE49-F238E27FC236}">
                <a16:creationId xmlns:a16="http://schemas.microsoft.com/office/drawing/2014/main" id="{9FB4117D-2DCB-FB79-88B6-9629798A7AD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84413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5162D-BC58-298C-1C05-1FA28513B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DF2C9-E8BC-F58E-F33D-1FD27B8EA32A}"/>
              </a:ext>
            </a:extLst>
          </p:cNvPr>
          <p:cNvSpPr>
            <a:spLocks noGrp="1"/>
          </p:cNvSpPr>
          <p:nvPr>
            <p:ph type="title"/>
          </p:nvPr>
        </p:nvSpPr>
        <p:spPr>
          <a:xfrm>
            <a:off x="836617" y="226737"/>
            <a:ext cx="10515600" cy="1325563"/>
          </a:xfrm>
        </p:spPr>
        <p:txBody>
          <a:bodyPr/>
          <a:lstStyle/>
          <a:p>
            <a:r>
              <a:rPr lang="en-IN" dirty="0"/>
              <a:t>Mechatronics</a:t>
            </a:r>
          </a:p>
        </p:txBody>
      </p:sp>
      <p:pic>
        <p:nvPicPr>
          <p:cNvPr id="5" name="Picture 4">
            <a:extLst>
              <a:ext uri="{FF2B5EF4-FFF2-40B4-BE49-F238E27FC236}">
                <a16:creationId xmlns:a16="http://schemas.microsoft.com/office/drawing/2014/main" id="{A7383F3B-A75A-2486-FE38-F2683E85B141}"/>
              </a:ext>
            </a:extLst>
          </p:cNvPr>
          <p:cNvPicPr>
            <a:picLocks noChangeAspect="1"/>
          </p:cNvPicPr>
          <p:nvPr/>
        </p:nvPicPr>
        <p:blipFill>
          <a:blip r:embed="rId2"/>
          <a:stretch>
            <a:fillRect/>
          </a:stretch>
        </p:blipFill>
        <p:spPr>
          <a:xfrm>
            <a:off x="7981362" y="2307389"/>
            <a:ext cx="4210638" cy="2572109"/>
          </a:xfrm>
          <a:prstGeom prst="rect">
            <a:avLst/>
          </a:prstGeom>
        </p:spPr>
      </p:pic>
      <p:pic>
        <p:nvPicPr>
          <p:cNvPr id="7" name="Picture 6">
            <a:extLst>
              <a:ext uri="{FF2B5EF4-FFF2-40B4-BE49-F238E27FC236}">
                <a16:creationId xmlns:a16="http://schemas.microsoft.com/office/drawing/2014/main" id="{CBC98A8A-FD9E-255A-DAE7-452EF0A7A1F0}"/>
              </a:ext>
            </a:extLst>
          </p:cNvPr>
          <p:cNvPicPr>
            <a:picLocks noChangeAspect="1"/>
          </p:cNvPicPr>
          <p:nvPr/>
        </p:nvPicPr>
        <p:blipFill>
          <a:blip r:embed="rId3"/>
          <a:stretch>
            <a:fillRect/>
          </a:stretch>
        </p:blipFill>
        <p:spPr>
          <a:xfrm>
            <a:off x="4465841" y="1552300"/>
            <a:ext cx="3514730" cy="3840659"/>
          </a:xfrm>
          <a:prstGeom prst="rect">
            <a:avLst/>
          </a:prstGeom>
        </p:spPr>
      </p:pic>
      <p:pic>
        <p:nvPicPr>
          <p:cNvPr id="9" name="Picture 8">
            <a:extLst>
              <a:ext uri="{FF2B5EF4-FFF2-40B4-BE49-F238E27FC236}">
                <a16:creationId xmlns:a16="http://schemas.microsoft.com/office/drawing/2014/main" id="{F54D12F2-7C4B-CB41-2CEE-9F8945C17A21}"/>
              </a:ext>
            </a:extLst>
          </p:cNvPr>
          <p:cNvPicPr>
            <a:picLocks noChangeAspect="1"/>
          </p:cNvPicPr>
          <p:nvPr/>
        </p:nvPicPr>
        <p:blipFill>
          <a:blip r:embed="rId4"/>
          <a:stretch>
            <a:fillRect/>
          </a:stretch>
        </p:blipFill>
        <p:spPr>
          <a:xfrm>
            <a:off x="836617" y="1552300"/>
            <a:ext cx="3334215" cy="3943900"/>
          </a:xfrm>
          <a:prstGeom prst="rect">
            <a:avLst/>
          </a:prstGeom>
        </p:spPr>
      </p:pic>
    </p:spTree>
    <p:extLst>
      <p:ext uri="{BB962C8B-B14F-4D97-AF65-F5344CB8AC3E}">
        <p14:creationId xmlns:p14="http://schemas.microsoft.com/office/powerpoint/2010/main" val="299330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6047F-ADDF-BCAB-84D7-FF8E53A9276A}"/>
              </a:ext>
            </a:extLst>
          </p:cNvPr>
          <p:cNvSpPr>
            <a:spLocks noGrp="1"/>
          </p:cNvSpPr>
          <p:nvPr>
            <p:ph type="title"/>
          </p:nvPr>
        </p:nvSpPr>
        <p:spPr/>
        <p:txBody>
          <a:bodyPr/>
          <a:lstStyle/>
          <a:p>
            <a:r>
              <a:rPr lang="en-IN" dirty="0"/>
              <a:t>Digital and Analog Quantities</a:t>
            </a:r>
          </a:p>
        </p:txBody>
      </p:sp>
      <p:pic>
        <p:nvPicPr>
          <p:cNvPr id="5" name="Picture 4">
            <a:extLst>
              <a:ext uri="{FF2B5EF4-FFF2-40B4-BE49-F238E27FC236}">
                <a16:creationId xmlns:a16="http://schemas.microsoft.com/office/drawing/2014/main" id="{0C43DE64-21FF-82CE-F1A3-820D39E06440}"/>
              </a:ext>
            </a:extLst>
          </p:cNvPr>
          <p:cNvPicPr>
            <a:picLocks noChangeAspect="1"/>
          </p:cNvPicPr>
          <p:nvPr/>
        </p:nvPicPr>
        <p:blipFill>
          <a:blip r:embed="rId2"/>
          <a:stretch>
            <a:fillRect/>
          </a:stretch>
        </p:blipFill>
        <p:spPr>
          <a:xfrm>
            <a:off x="2804520" y="1509713"/>
            <a:ext cx="5760000" cy="2582491"/>
          </a:xfrm>
          <a:prstGeom prst="rect">
            <a:avLst/>
          </a:prstGeom>
        </p:spPr>
      </p:pic>
      <p:pic>
        <p:nvPicPr>
          <p:cNvPr id="7" name="Picture 6">
            <a:extLst>
              <a:ext uri="{FF2B5EF4-FFF2-40B4-BE49-F238E27FC236}">
                <a16:creationId xmlns:a16="http://schemas.microsoft.com/office/drawing/2014/main" id="{27A34A07-65EA-643F-4E68-87FBA1FDE449}"/>
              </a:ext>
            </a:extLst>
          </p:cNvPr>
          <p:cNvPicPr>
            <a:picLocks noChangeAspect="1"/>
          </p:cNvPicPr>
          <p:nvPr/>
        </p:nvPicPr>
        <p:blipFill>
          <a:blip r:embed="rId3"/>
          <a:stretch>
            <a:fillRect/>
          </a:stretch>
        </p:blipFill>
        <p:spPr>
          <a:xfrm>
            <a:off x="2804520" y="4043808"/>
            <a:ext cx="5760000" cy="2591999"/>
          </a:xfrm>
          <a:prstGeom prst="rect">
            <a:avLst/>
          </a:prstGeom>
        </p:spPr>
      </p:pic>
    </p:spTree>
    <p:extLst>
      <p:ext uri="{BB962C8B-B14F-4D97-AF65-F5344CB8AC3E}">
        <p14:creationId xmlns:p14="http://schemas.microsoft.com/office/powerpoint/2010/main" val="81100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65E5-2EED-CFED-4939-C083BBC039D8}"/>
              </a:ext>
            </a:extLst>
          </p:cNvPr>
          <p:cNvSpPr>
            <a:spLocks noGrp="1"/>
          </p:cNvSpPr>
          <p:nvPr>
            <p:ph type="title"/>
          </p:nvPr>
        </p:nvSpPr>
        <p:spPr/>
        <p:txBody>
          <a:bodyPr/>
          <a:lstStyle/>
          <a:p>
            <a:r>
              <a:rPr lang="en-IN" dirty="0"/>
              <a:t>An Analog System</a:t>
            </a:r>
          </a:p>
        </p:txBody>
      </p:sp>
      <p:pic>
        <p:nvPicPr>
          <p:cNvPr id="5" name="Picture 4">
            <a:extLst>
              <a:ext uri="{FF2B5EF4-FFF2-40B4-BE49-F238E27FC236}">
                <a16:creationId xmlns:a16="http://schemas.microsoft.com/office/drawing/2014/main" id="{2C44A911-7757-0D54-B67C-8DFC96A01AF6}"/>
              </a:ext>
            </a:extLst>
          </p:cNvPr>
          <p:cNvPicPr>
            <a:picLocks noChangeAspect="1"/>
          </p:cNvPicPr>
          <p:nvPr/>
        </p:nvPicPr>
        <p:blipFill>
          <a:blip r:embed="rId2"/>
          <a:stretch>
            <a:fillRect/>
          </a:stretch>
        </p:blipFill>
        <p:spPr>
          <a:xfrm>
            <a:off x="2466468" y="1714260"/>
            <a:ext cx="7259063" cy="3429479"/>
          </a:xfrm>
          <a:prstGeom prst="rect">
            <a:avLst/>
          </a:prstGeom>
        </p:spPr>
      </p:pic>
    </p:spTree>
    <p:extLst>
      <p:ext uri="{BB962C8B-B14F-4D97-AF65-F5344CB8AC3E}">
        <p14:creationId xmlns:p14="http://schemas.microsoft.com/office/powerpoint/2010/main" val="20258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8AD41-38F5-049F-8563-C1865FD42C65}"/>
              </a:ext>
            </a:extLst>
          </p:cNvPr>
          <p:cNvSpPr>
            <a:spLocks noGrp="1"/>
          </p:cNvSpPr>
          <p:nvPr>
            <p:ph type="title"/>
          </p:nvPr>
        </p:nvSpPr>
        <p:spPr/>
        <p:txBody>
          <a:bodyPr/>
          <a:lstStyle/>
          <a:p>
            <a:r>
              <a:rPr lang="en-US" dirty="0"/>
              <a:t>A System Using Digital and Analog Methods</a:t>
            </a:r>
            <a:endParaRPr lang="en-IN" dirty="0"/>
          </a:p>
        </p:txBody>
      </p:sp>
      <p:pic>
        <p:nvPicPr>
          <p:cNvPr id="5" name="Picture 4">
            <a:extLst>
              <a:ext uri="{FF2B5EF4-FFF2-40B4-BE49-F238E27FC236}">
                <a16:creationId xmlns:a16="http://schemas.microsoft.com/office/drawing/2014/main" id="{A727AD4A-C264-2F03-8DCE-51922D49FC1B}"/>
              </a:ext>
            </a:extLst>
          </p:cNvPr>
          <p:cNvPicPr>
            <a:picLocks noChangeAspect="1"/>
          </p:cNvPicPr>
          <p:nvPr/>
        </p:nvPicPr>
        <p:blipFill>
          <a:blip r:embed="rId2"/>
          <a:stretch>
            <a:fillRect/>
          </a:stretch>
        </p:blipFill>
        <p:spPr>
          <a:xfrm>
            <a:off x="1599572" y="1785708"/>
            <a:ext cx="8992855" cy="3286584"/>
          </a:xfrm>
          <a:prstGeom prst="rect">
            <a:avLst/>
          </a:prstGeom>
        </p:spPr>
      </p:pic>
    </p:spTree>
    <p:extLst>
      <p:ext uri="{BB962C8B-B14F-4D97-AF65-F5344CB8AC3E}">
        <p14:creationId xmlns:p14="http://schemas.microsoft.com/office/powerpoint/2010/main" val="12691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2789E-1C9A-D27A-A358-E13B81FF2F5C}"/>
              </a:ext>
            </a:extLst>
          </p:cNvPr>
          <p:cNvSpPr>
            <a:spLocks noGrp="1"/>
          </p:cNvSpPr>
          <p:nvPr>
            <p:ph type="title"/>
          </p:nvPr>
        </p:nvSpPr>
        <p:spPr/>
        <p:txBody>
          <a:bodyPr/>
          <a:lstStyle/>
          <a:p>
            <a:r>
              <a:rPr lang="en-IN" dirty="0"/>
              <a:t>Basic Terminology</a:t>
            </a:r>
          </a:p>
        </p:txBody>
      </p:sp>
      <p:pic>
        <p:nvPicPr>
          <p:cNvPr id="5" name="Picture 4">
            <a:extLst>
              <a:ext uri="{FF2B5EF4-FFF2-40B4-BE49-F238E27FC236}">
                <a16:creationId xmlns:a16="http://schemas.microsoft.com/office/drawing/2014/main" id="{6B196826-90D3-0BF9-7D18-01008E4E7253}"/>
              </a:ext>
            </a:extLst>
          </p:cNvPr>
          <p:cNvPicPr>
            <a:picLocks noChangeAspect="1"/>
          </p:cNvPicPr>
          <p:nvPr/>
        </p:nvPicPr>
        <p:blipFill>
          <a:blip r:embed="rId3"/>
          <a:stretch>
            <a:fillRect/>
          </a:stretch>
        </p:blipFill>
        <p:spPr>
          <a:xfrm>
            <a:off x="5022607" y="3030116"/>
            <a:ext cx="6480000" cy="3676854"/>
          </a:xfrm>
          <a:prstGeom prst="rect">
            <a:avLst/>
          </a:prstGeom>
        </p:spPr>
      </p:pic>
      <p:pic>
        <p:nvPicPr>
          <p:cNvPr id="7" name="Picture 6">
            <a:extLst>
              <a:ext uri="{FF2B5EF4-FFF2-40B4-BE49-F238E27FC236}">
                <a16:creationId xmlns:a16="http://schemas.microsoft.com/office/drawing/2014/main" id="{52CAE72E-9F73-3F78-E771-15A4E439C896}"/>
              </a:ext>
            </a:extLst>
          </p:cNvPr>
          <p:cNvPicPr>
            <a:picLocks noChangeAspect="1"/>
          </p:cNvPicPr>
          <p:nvPr/>
        </p:nvPicPr>
        <p:blipFill>
          <a:blip r:embed="rId4"/>
          <a:srcRect l="1" r="554"/>
          <a:stretch>
            <a:fillRect/>
          </a:stretch>
        </p:blipFill>
        <p:spPr>
          <a:xfrm>
            <a:off x="5022607" y="937885"/>
            <a:ext cx="6480000" cy="1982503"/>
          </a:xfrm>
          <a:prstGeom prst="rect">
            <a:avLst/>
          </a:prstGeom>
        </p:spPr>
      </p:pic>
      <p:sp>
        <p:nvSpPr>
          <p:cNvPr id="9" name="TextBox 8">
            <a:extLst>
              <a:ext uri="{FF2B5EF4-FFF2-40B4-BE49-F238E27FC236}">
                <a16:creationId xmlns:a16="http://schemas.microsoft.com/office/drawing/2014/main" id="{1B5AFDD7-9C64-09EC-673D-FC51D2B64ACB}"/>
              </a:ext>
            </a:extLst>
          </p:cNvPr>
          <p:cNvSpPr txBox="1"/>
          <p:nvPr/>
        </p:nvSpPr>
        <p:spPr>
          <a:xfrm>
            <a:off x="957072" y="1690688"/>
            <a:ext cx="5594985"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Binary Digits</a:t>
            </a:r>
          </a:p>
          <a:p>
            <a:pPr marL="342900" indent="-342900">
              <a:buFont typeface="Arial" panose="020B0604020202020204" pitchFamily="34" charset="0"/>
              <a:buChar char="•"/>
            </a:pPr>
            <a:r>
              <a:rPr lang="en-US" sz="2400" dirty="0"/>
              <a:t>Codes</a:t>
            </a:r>
          </a:p>
          <a:p>
            <a:pPr marL="342900" indent="-342900">
              <a:buFont typeface="Arial" panose="020B0604020202020204" pitchFamily="34" charset="0"/>
              <a:buChar char="•"/>
            </a:pPr>
            <a:r>
              <a:rPr lang="en-US" sz="2400" dirty="0"/>
              <a:t>Logic Levels</a:t>
            </a:r>
          </a:p>
          <a:p>
            <a:pPr marL="342900" indent="-342900">
              <a:buFont typeface="Arial" panose="020B0604020202020204" pitchFamily="34" charset="0"/>
              <a:buChar char="•"/>
            </a:pPr>
            <a:r>
              <a:rPr lang="en-US" sz="2400" dirty="0"/>
              <a:t>Digital Waveforms</a:t>
            </a:r>
          </a:p>
          <a:p>
            <a:pPr marL="342900" indent="-342900">
              <a:buFont typeface="Arial" panose="020B0604020202020204" pitchFamily="34" charset="0"/>
              <a:buChar char="•"/>
            </a:pPr>
            <a:r>
              <a:rPr lang="en-US" sz="2400" dirty="0"/>
              <a:t>Ideal Pulse</a:t>
            </a:r>
          </a:p>
          <a:p>
            <a:pPr marL="342900" indent="-342900">
              <a:buFont typeface="Arial" panose="020B0604020202020204" pitchFamily="34" charset="0"/>
              <a:buChar char="•"/>
            </a:pPr>
            <a:r>
              <a:rPr lang="en-IN" sz="2400" dirty="0"/>
              <a:t>Nonideal pulse </a:t>
            </a:r>
          </a:p>
        </p:txBody>
      </p:sp>
    </p:spTree>
    <p:extLst>
      <p:ext uri="{BB962C8B-B14F-4D97-AF65-F5344CB8AC3E}">
        <p14:creationId xmlns:p14="http://schemas.microsoft.com/office/powerpoint/2010/main" val="41910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7D24-5721-4503-392B-6226B4D3F4DF}"/>
              </a:ext>
            </a:extLst>
          </p:cNvPr>
          <p:cNvSpPr>
            <a:spLocks noGrp="1"/>
          </p:cNvSpPr>
          <p:nvPr>
            <p:ph type="title"/>
          </p:nvPr>
        </p:nvSpPr>
        <p:spPr/>
        <p:txBody>
          <a:bodyPr/>
          <a:lstStyle/>
          <a:p>
            <a:r>
              <a:rPr lang="en-IN" dirty="0"/>
              <a:t>Waveform Characteristics</a:t>
            </a:r>
          </a:p>
        </p:txBody>
      </p:sp>
      <p:pic>
        <p:nvPicPr>
          <p:cNvPr id="5" name="Picture 4">
            <a:extLst>
              <a:ext uri="{FF2B5EF4-FFF2-40B4-BE49-F238E27FC236}">
                <a16:creationId xmlns:a16="http://schemas.microsoft.com/office/drawing/2014/main" id="{A0E237BA-21E8-495C-58F9-AC126B9B0ADC}"/>
              </a:ext>
            </a:extLst>
          </p:cNvPr>
          <p:cNvPicPr>
            <a:picLocks noChangeAspect="1"/>
          </p:cNvPicPr>
          <p:nvPr/>
        </p:nvPicPr>
        <p:blipFill>
          <a:blip r:embed="rId2"/>
          <a:stretch>
            <a:fillRect/>
          </a:stretch>
        </p:blipFill>
        <p:spPr>
          <a:xfrm>
            <a:off x="838200" y="2036694"/>
            <a:ext cx="4667901" cy="2267266"/>
          </a:xfrm>
          <a:prstGeom prst="rect">
            <a:avLst/>
          </a:prstGeom>
        </p:spPr>
      </p:pic>
      <p:pic>
        <p:nvPicPr>
          <p:cNvPr id="7" name="Picture 6">
            <a:extLst>
              <a:ext uri="{FF2B5EF4-FFF2-40B4-BE49-F238E27FC236}">
                <a16:creationId xmlns:a16="http://schemas.microsoft.com/office/drawing/2014/main" id="{EB0767E8-E434-F4AA-6703-A8B5E35E3A98}"/>
              </a:ext>
            </a:extLst>
          </p:cNvPr>
          <p:cNvPicPr>
            <a:picLocks noChangeAspect="1"/>
          </p:cNvPicPr>
          <p:nvPr/>
        </p:nvPicPr>
        <p:blipFill>
          <a:blip r:embed="rId3"/>
          <a:stretch>
            <a:fillRect/>
          </a:stretch>
        </p:blipFill>
        <p:spPr>
          <a:xfrm>
            <a:off x="6096000" y="2183353"/>
            <a:ext cx="5882640" cy="741374"/>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DD09D0B-A9F5-E8D0-0226-9C8F6A242A89}"/>
                  </a:ext>
                </a:extLst>
              </p:cNvPr>
              <p:cNvSpPr txBox="1"/>
              <p:nvPr/>
            </p:nvSpPr>
            <p:spPr>
              <a:xfrm>
                <a:off x="838200" y="4967991"/>
                <a:ext cx="3492110" cy="618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𝐷𝑢𝑡𝑦</m:t>
                      </m:r>
                      <m:r>
                        <a:rPr lang="en-IN" b="0" i="1" smtClean="0">
                          <a:latin typeface="Cambria Math" panose="02040503050406030204" pitchFamily="18" charset="0"/>
                        </a:rPr>
                        <m:t> </m:t>
                      </m:r>
                      <m:r>
                        <a:rPr lang="en-IN" b="0" i="1" smtClean="0">
                          <a:latin typeface="Cambria Math" panose="02040503050406030204" pitchFamily="18" charset="0"/>
                        </a:rPr>
                        <m:t>𝐶𝑦𝑐𝑙𝑒</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𝑃𝑢𝑙𝑠𝑒</m:t>
                          </m:r>
                          <m:r>
                            <a:rPr lang="en-IN" b="0" i="1" smtClean="0">
                              <a:latin typeface="Cambria Math" panose="02040503050406030204" pitchFamily="18" charset="0"/>
                            </a:rPr>
                            <m:t> </m:t>
                          </m:r>
                          <m:r>
                            <a:rPr lang="en-IN" b="0" i="1" smtClean="0">
                              <a:latin typeface="Cambria Math" panose="02040503050406030204" pitchFamily="18" charset="0"/>
                            </a:rPr>
                            <m:t>𝑤𝑖𝑑𝑡h</m:t>
                          </m:r>
                        </m:num>
                        <m:den>
                          <m:r>
                            <a:rPr lang="en-IN" b="0" i="1" smtClean="0">
                              <a:latin typeface="Cambria Math" panose="02040503050406030204" pitchFamily="18" charset="0"/>
                            </a:rPr>
                            <m:t>𝑃𝑒𝑟𝑖𝑜𝑑</m:t>
                          </m:r>
                        </m:den>
                      </m:f>
                      <m:r>
                        <a:rPr lang="en-IN" b="0" i="1" smtClean="0">
                          <a:latin typeface="Cambria Math" panose="02040503050406030204" pitchFamily="18" charset="0"/>
                        </a:rPr>
                        <m:t>∗100</m:t>
                      </m:r>
                    </m:oMath>
                  </m:oMathPara>
                </a14:m>
                <a:endParaRPr lang="en-IN" dirty="0"/>
              </a:p>
            </p:txBody>
          </p:sp>
        </mc:Choice>
        <mc:Fallback xmlns="">
          <p:sp>
            <p:nvSpPr>
              <p:cNvPr id="10" name="TextBox 9">
                <a:extLst>
                  <a:ext uri="{FF2B5EF4-FFF2-40B4-BE49-F238E27FC236}">
                    <a16:creationId xmlns:a16="http://schemas.microsoft.com/office/drawing/2014/main" id="{BDD09D0B-A9F5-E8D0-0226-9C8F6A242A89}"/>
                  </a:ext>
                </a:extLst>
              </p:cNvPr>
              <p:cNvSpPr txBox="1">
                <a:spLocks noRot="1" noChangeAspect="1" noMove="1" noResize="1" noEditPoints="1" noAdjustHandles="1" noChangeArrowheads="1" noChangeShapeType="1" noTextEdit="1"/>
              </p:cNvSpPr>
              <p:nvPr/>
            </p:nvSpPr>
            <p:spPr>
              <a:xfrm>
                <a:off x="838200" y="4967991"/>
                <a:ext cx="3492110" cy="618311"/>
              </a:xfrm>
              <a:prstGeom prst="rect">
                <a:avLst/>
              </a:prstGeom>
              <a:blipFill>
                <a:blip r:embed="rId4"/>
                <a:stretch>
                  <a:fillRect/>
                </a:stretch>
              </a:blipFill>
            </p:spPr>
            <p:txBody>
              <a:bodyPr/>
              <a:lstStyle/>
              <a:p>
                <a:r>
                  <a:rPr lang="en-IN">
                    <a:noFill/>
                  </a:rPr>
                  <a:t> </a:t>
                </a:r>
              </a:p>
            </p:txBody>
          </p:sp>
        </mc:Fallback>
      </mc:AlternateContent>
      <p:pic>
        <p:nvPicPr>
          <p:cNvPr id="12" name="Picture 11">
            <a:extLst>
              <a:ext uri="{FF2B5EF4-FFF2-40B4-BE49-F238E27FC236}">
                <a16:creationId xmlns:a16="http://schemas.microsoft.com/office/drawing/2014/main" id="{B7D62EDC-1CEB-33D8-0C65-B15013B1FD5B}"/>
              </a:ext>
            </a:extLst>
          </p:cNvPr>
          <p:cNvPicPr>
            <a:picLocks noChangeAspect="1"/>
          </p:cNvPicPr>
          <p:nvPr/>
        </p:nvPicPr>
        <p:blipFill>
          <a:blip r:embed="rId5"/>
          <a:stretch>
            <a:fillRect/>
          </a:stretch>
        </p:blipFill>
        <p:spPr>
          <a:xfrm>
            <a:off x="6309360" y="4303960"/>
            <a:ext cx="5882640" cy="1726703"/>
          </a:xfrm>
          <a:prstGeom prst="rect">
            <a:avLst/>
          </a:prstGeom>
        </p:spPr>
      </p:pic>
      <p:sp>
        <p:nvSpPr>
          <p:cNvPr id="13" name="TextBox 12">
            <a:extLst>
              <a:ext uri="{FF2B5EF4-FFF2-40B4-BE49-F238E27FC236}">
                <a16:creationId xmlns:a16="http://schemas.microsoft.com/office/drawing/2014/main" id="{AD964C02-2793-24FC-2487-D778E1077209}"/>
              </a:ext>
            </a:extLst>
          </p:cNvPr>
          <p:cNvSpPr txBox="1"/>
          <p:nvPr/>
        </p:nvSpPr>
        <p:spPr>
          <a:xfrm>
            <a:off x="10664669" y="4477186"/>
            <a:ext cx="1378262" cy="923330"/>
          </a:xfrm>
          <a:prstGeom prst="rect">
            <a:avLst/>
          </a:prstGeom>
          <a:noFill/>
        </p:spPr>
        <p:txBody>
          <a:bodyPr wrap="none" rtlCol="0">
            <a:spAutoFit/>
          </a:bodyPr>
          <a:lstStyle/>
          <a:p>
            <a:r>
              <a:rPr lang="en-IN" dirty="0"/>
              <a:t>?Period</a:t>
            </a:r>
          </a:p>
          <a:p>
            <a:r>
              <a:rPr lang="en-IN" dirty="0"/>
              <a:t>?Frequency</a:t>
            </a:r>
          </a:p>
          <a:p>
            <a:r>
              <a:rPr lang="en-IN" dirty="0"/>
              <a:t>?Duty Cycle</a:t>
            </a:r>
          </a:p>
        </p:txBody>
      </p:sp>
    </p:spTree>
    <p:extLst>
      <p:ext uri="{BB962C8B-B14F-4D97-AF65-F5344CB8AC3E}">
        <p14:creationId xmlns:p14="http://schemas.microsoft.com/office/powerpoint/2010/main" val="273303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A19C-623D-F042-1324-D5C3F41EFB95}"/>
              </a:ext>
            </a:extLst>
          </p:cNvPr>
          <p:cNvSpPr>
            <a:spLocks noGrp="1"/>
          </p:cNvSpPr>
          <p:nvPr>
            <p:ph type="title"/>
          </p:nvPr>
        </p:nvSpPr>
        <p:spPr/>
        <p:txBody>
          <a:bodyPr/>
          <a:lstStyle/>
          <a:p>
            <a:r>
              <a:rPr lang="en-IN" dirty="0"/>
              <a:t>The Clock</a:t>
            </a:r>
          </a:p>
        </p:txBody>
      </p:sp>
      <p:pic>
        <p:nvPicPr>
          <p:cNvPr id="5" name="Picture 4">
            <a:extLst>
              <a:ext uri="{FF2B5EF4-FFF2-40B4-BE49-F238E27FC236}">
                <a16:creationId xmlns:a16="http://schemas.microsoft.com/office/drawing/2014/main" id="{9CE0E163-167E-68B2-E0CA-40F36C44D0B5}"/>
              </a:ext>
            </a:extLst>
          </p:cNvPr>
          <p:cNvPicPr>
            <a:picLocks noChangeAspect="1"/>
          </p:cNvPicPr>
          <p:nvPr/>
        </p:nvPicPr>
        <p:blipFill>
          <a:blip r:embed="rId2"/>
          <a:stretch>
            <a:fillRect/>
          </a:stretch>
        </p:blipFill>
        <p:spPr>
          <a:xfrm>
            <a:off x="838200" y="1598662"/>
            <a:ext cx="10433483" cy="3660675"/>
          </a:xfrm>
          <a:prstGeom prst="rect">
            <a:avLst/>
          </a:prstGeom>
        </p:spPr>
      </p:pic>
    </p:spTree>
    <p:extLst>
      <p:ext uri="{BB962C8B-B14F-4D97-AF65-F5344CB8AC3E}">
        <p14:creationId xmlns:p14="http://schemas.microsoft.com/office/powerpoint/2010/main" val="1868658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2DFB-ADCE-6F64-DA0F-9DAEBE217A86}"/>
              </a:ext>
            </a:extLst>
          </p:cNvPr>
          <p:cNvSpPr>
            <a:spLocks noGrp="1"/>
          </p:cNvSpPr>
          <p:nvPr>
            <p:ph type="title"/>
          </p:nvPr>
        </p:nvSpPr>
        <p:spPr/>
        <p:txBody>
          <a:bodyPr/>
          <a:lstStyle/>
          <a:p>
            <a:r>
              <a:rPr lang="en-IN" dirty="0"/>
              <a:t>Timing Diagrams</a:t>
            </a:r>
          </a:p>
        </p:txBody>
      </p:sp>
      <p:pic>
        <p:nvPicPr>
          <p:cNvPr id="5" name="Picture 4">
            <a:extLst>
              <a:ext uri="{FF2B5EF4-FFF2-40B4-BE49-F238E27FC236}">
                <a16:creationId xmlns:a16="http://schemas.microsoft.com/office/drawing/2014/main" id="{442D0FAD-CA33-5477-3E69-C644EF439B76}"/>
              </a:ext>
            </a:extLst>
          </p:cNvPr>
          <p:cNvPicPr>
            <a:picLocks noChangeAspect="1"/>
          </p:cNvPicPr>
          <p:nvPr/>
        </p:nvPicPr>
        <p:blipFill>
          <a:blip r:embed="rId2"/>
          <a:stretch>
            <a:fillRect/>
          </a:stretch>
        </p:blipFill>
        <p:spPr>
          <a:xfrm>
            <a:off x="1058698" y="1690688"/>
            <a:ext cx="9189069" cy="4226464"/>
          </a:xfrm>
          <a:prstGeom prst="rect">
            <a:avLst/>
          </a:prstGeom>
        </p:spPr>
      </p:pic>
    </p:spTree>
    <p:extLst>
      <p:ext uri="{BB962C8B-B14F-4D97-AF65-F5344CB8AC3E}">
        <p14:creationId xmlns:p14="http://schemas.microsoft.com/office/powerpoint/2010/main" val="361003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064C-FC3F-1AF9-F6D2-998BF2DCF426}"/>
              </a:ext>
            </a:extLst>
          </p:cNvPr>
          <p:cNvSpPr>
            <a:spLocks noGrp="1"/>
          </p:cNvSpPr>
          <p:nvPr>
            <p:ph type="title"/>
          </p:nvPr>
        </p:nvSpPr>
        <p:spPr/>
        <p:txBody>
          <a:bodyPr/>
          <a:lstStyle/>
          <a:p>
            <a:r>
              <a:rPr lang="en-IN" dirty="0"/>
              <a:t>Data Transfer</a:t>
            </a:r>
          </a:p>
        </p:txBody>
      </p:sp>
      <p:pic>
        <p:nvPicPr>
          <p:cNvPr id="5" name="Picture 4">
            <a:extLst>
              <a:ext uri="{FF2B5EF4-FFF2-40B4-BE49-F238E27FC236}">
                <a16:creationId xmlns:a16="http://schemas.microsoft.com/office/drawing/2014/main" id="{7D3A5723-C900-AE22-E578-4046ED3D5F5C}"/>
              </a:ext>
            </a:extLst>
          </p:cNvPr>
          <p:cNvPicPr>
            <a:picLocks noChangeAspect="1"/>
          </p:cNvPicPr>
          <p:nvPr/>
        </p:nvPicPr>
        <p:blipFill>
          <a:blip r:embed="rId2"/>
          <a:stretch>
            <a:fillRect/>
          </a:stretch>
        </p:blipFill>
        <p:spPr>
          <a:xfrm>
            <a:off x="3483858" y="1468464"/>
            <a:ext cx="4320000" cy="1373120"/>
          </a:xfrm>
          <a:prstGeom prst="rect">
            <a:avLst/>
          </a:prstGeom>
        </p:spPr>
      </p:pic>
      <p:pic>
        <p:nvPicPr>
          <p:cNvPr id="7" name="Picture 6">
            <a:extLst>
              <a:ext uri="{FF2B5EF4-FFF2-40B4-BE49-F238E27FC236}">
                <a16:creationId xmlns:a16="http://schemas.microsoft.com/office/drawing/2014/main" id="{2451ACD0-B890-D45A-9D5D-C44BEC97CB26}"/>
              </a:ext>
            </a:extLst>
          </p:cNvPr>
          <p:cNvPicPr>
            <a:picLocks noChangeAspect="1"/>
          </p:cNvPicPr>
          <p:nvPr/>
        </p:nvPicPr>
        <p:blipFill>
          <a:blip r:embed="rId3"/>
          <a:stretch>
            <a:fillRect/>
          </a:stretch>
        </p:blipFill>
        <p:spPr>
          <a:xfrm>
            <a:off x="3483858" y="2992102"/>
            <a:ext cx="4320000" cy="3644536"/>
          </a:xfrm>
          <a:prstGeom prst="rect">
            <a:avLst/>
          </a:prstGeom>
        </p:spPr>
      </p:pic>
    </p:spTree>
    <p:extLst>
      <p:ext uri="{BB962C8B-B14F-4D97-AF65-F5344CB8AC3E}">
        <p14:creationId xmlns:p14="http://schemas.microsoft.com/office/powerpoint/2010/main" val="203022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D062AF5-1479-E5D1-7EC8-B1AFDEA04B5B}"/>
              </a:ext>
            </a:extLst>
          </p:cNvPr>
          <p:cNvGraphicFramePr>
            <a:graphicFrameLocks noGrp="1"/>
          </p:cNvGraphicFramePr>
          <p:nvPr>
            <p:extLst>
              <p:ext uri="{D42A27DB-BD31-4B8C-83A1-F6EECF244321}">
                <p14:modId xmlns:p14="http://schemas.microsoft.com/office/powerpoint/2010/main" val="3693589272"/>
              </p:ext>
            </p:extLst>
          </p:nvPr>
        </p:nvGraphicFramePr>
        <p:xfrm>
          <a:off x="649525" y="847889"/>
          <a:ext cx="10892950" cy="5507426"/>
        </p:xfrm>
        <a:graphic>
          <a:graphicData uri="http://schemas.openxmlformats.org/drawingml/2006/table">
            <a:tbl>
              <a:tblPr/>
              <a:tblGrid>
                <a:gridCol w="743110">
                  <a:extLst>
                    <a:ext uri="{9D8B030D-6E8A-4147-A177-3AD203B41FA5}">
                      <a16:colId xmlns:a16="http://schemas.microsoft.com/office/drawing/2014/main" val="1112618788"/>
                    </a:ext>
                  </a:extLst>
                </a:gridCol>
                <a:gridCol w="10149840">
                  <a:extLst>
                    <a:ext uri="{9D8B030D-6E8A-4147-A177-3AD203B41FA5}">
                      <a16:colId xmlns:a16="http://schemas.microsoft.com/office/drawing/2014/main" val="1599921519"/>
                    </a:ext>
                  </a:extLst>
                </a:gridCol>
              </a:tblGrid>
              <a:tr h="151351">
                <a:tc>
                  <a:txBody>
                    <a:bodyPr/>
                    <a:lstStyle/>
                    <a:p>
                      <a:pPr>
                        <a:buNone/>
                      </a:pPr>
                      <a:r>
                        <a:rPr lang="en-IN" sz="1600" b="1"/>
                        <a:t>Unit No.</a:t>
                      </a:r>
                      <a:endParaRPr lang="en-IN" sz="1600"/>
                    </a:p>
                  </a:txBody>
                  <a:tcPr marL="37838" marR="37838" marT="18919" marB="18919" anchor="ctr">
                    <a:lnL>
                      <a:noFill/>
                    </a:lnL>
                    <a:lnR>
                      <a:noFill/>
                    </a:lnR>
                    <a:lnT>
                      <a:noFill/>
                    </a:lnT>
                    <a:lnB>
                      <a:noFill/>
                    </a:lnB>
                    <a:noFill/>
                  </a:tcPr>
                </a:tc>
                <a:tc>
                  <a:txBody>
                    <a:bodyPr/>
                    <a:lstStyle/>
                    <a:p>
                      <a:pPr algn="ctr">
                        <a:buNone/>
                      </a:pPr>
                      <a:r>
                        <a:rPr lang="en-IN" sz="1600" b="1" dirty="0"/>
                        <a:t>Topics</a:t>
                      </a:r>
                      <a:endParaRPr lang="en-IN" sz="1600" dirty="0"/>
                    </a:p>
                  </a:txBody>
                  <a:tcPr marL="37838" marR="37838" marT="18919" marB="18919" anchor="ctr">
                    <a:lnL>
                      <a:noFill/>
                    </a:lnL>
                    <a:lnR>
                      <a:noFill/>
                    </a:lnR>
                    <a:lnT>
                      <a:noFill/>
                    </a:lnT>
                    <a:lnB>
                      <a:noFill/>
                    </a:lnB>
                    <a:noFill/>
                  </a:tcPr>
                </a:tc>
                <a:extLst>
                  <a:ext uri="{0D108BD9-81ED-4DB2-BD59-A6C34878D82A}">
                    <a16:rowId xmlns:a16="http://schemas.microsoft.com/office/drawing/2014/main" val="1772907577"/>
                  </a:ext>
                </a:extLst>
              </a:tr>
              <a:tr h="506357">
                <a:tc>
                  <a:txBody>
                    <a:bodyPr/>
                    <a:lstStyle/>
                    <a:p>
                      <a:pPr>
                        <a:buNone/>
                      </a:pPr>
                      <a:r>
                        <a:rPr lang="en-IN" sz="1400" b="1" dirty="0"/>
                        <a:t>1</a:t>
                      </a:r>
                      <a:endParaRPr lang="en-IN" sz="1400" dirty="0"/>
                    </a:p>
                  </a:txBody>
                  <a:tcPr marL="37838" marR="37838" marT="18919" marB="18919" anchor="ctr">
                    <a:lnL>
                      <a:noFill/>
                    </a:lnL>
                    <a:lnR>
                      <a:noFill/>
                    </a:lnR>
                    <a:lnT>
                      <a:noFill/>
                    </a:lnT>
                    <a:lnB>
                      <a:noFill/>
                    </a:lnB>
                    <a:noFill/>
                  </a:tcPr>
                </a:tc>
                <a:tc>
                  <a:txBody>
                    <a:bodyPr/>
                    <a:lstStyle/>
                    <a:p>
                      <a:pPr>
                        <a:buNone/>
                      </a:pPr>
                      <a:r>
                        <a:rPr lang="en-US" sz="2400" dirty="0"/>
                        <a:t>Number system, Logic gates, Boolean algebra, NAND and NOR implementation of logic functions. Determination of Boolean functions from Digital Circuits.</a:t>
                      </a:r>
                    </a:p>
                  </a:txBody>
                  <a:tcPr marL="37838" marR="37838" marT="18919" marB="18919" anchor="ctr">
                    <a:lnL>
                      <a:noFill/>
                    </a:lnL>
                    <a:lnR>
                      <a:noFill/>
                    </a:lnR>
                    <a:lnT>
                      <a:noFill/>
                    </a:lnT>
                    <a:lnB>
                      <a:noFill/>
                    </a:lnB>
                    <a:noFill/>
                  </a:tcPr>
                </a:tc>
                <a:extLst>
                  <a:ext uri="{0D108BD9-81ED-4DB2-BD59-A6C34878D82A}">
                    <a16:rowId xmlns:a16="http://schemas.microsoft.com/office/drawing/2014/main" val="1507328633"/>
                  </a:ext>
                </a:extLst>
              </a:tr>
              <a:tr h="82537">
                <a:tc>
                  <a:txBody>
                    <a:bodyPr/>
                    <a:lstStyle/>
                    <a:p>
                      <a:pPr>
                        <a:buNone/>
                      </a:pPr>
                      <a:r>
                        <a:rPr lang="en-IN" sz="1400" b="1"/>
                        <a:t>2</a:t>
                      </a:r>
                      <a:endParaRPr lang="en-IN" sz="1400"/>
                    </a:p>
                  </a:txBody>
                  <a:tcPr marL="37838" marR="37838" marT="18919" marB="18919" anchor="ctr">
                    <a:lnL>
                      <a:noFill/>
                    </a:lnL>
                    <a:lnR>
                      <a:noFill/>
                    </a:lnR>
                    <a:lnT>
                      <a:noFill/>
                    </a:lnT>
                    <a:lnB>
                      <a:noFill/>
                    </a:lnB>
                    <a:noFill/>
                  </a:tcPr>
                </a:tc>
                <a:tc>
                  <a:txBody>
                    <a:bodyPr/>
                    <a:lstStyle/>
                    <a:p>
                      <a:pPr>
                        <a:buNone/>
                      </a:pPr>
                      <a:r>
                        <a:rPr lang="en-US" sz="2400" dirty="0"/>
                        <a:t>Standard Representations of Logical Functions, SOP and POS form, Simplification of Logical functions using K-map.</a:t>
                      </a:r>
                    </a:p>
                  </a:txBody>
                  <a:tcPr marL="37838" marR="37838" marT="18919" marB="18919" anchor="ctr">
                    <a:lnL>
                      <a:noFill/>
                    </a:lnL>
                    <a:lnR>
                      <a:noFill/>
                    </a:lnR>
                    <a:lnT>
                      <a:noFill/>
                    </a:lnT>
                    <a:lnB>
                      <a:noFill/>
                    </a:lnB>
                    <a:noFill/>
                  </a:tcPr>
                </a:tc>
                <a:extLst>
                  <a:ext uri="{0D108BD9-81ED-4DB2-BD59-A6C34878D82A}">
                    <a16:rowId xmlns:a16="http://schemas.microsoft.com/office/drawing/2014/main" val="1689691106"/>
                  </a:ext>
                </a:extLst>
              </a:tr>
              <a:tr h="354592">
                <a:tc>
                  <a:txBody>
                    <a:bodyPr/>
                    <a:lstStyle/>
                    <a:p>
                      <a:pPr>
                        <a:buNone/>
                      </a:pPr>
                      <a:r>
                        <a:rPr lang="en-IN" sz="1400" b="1"/>
                        <a:t>3</a:t>
                      </a:r>
                      <a:endParaRPr lang="en-IN" sz="1400"/>
                    </a:p>
                  </a:txBody>
                  <a:tcPr marL="37838" marR="37838" marT="18919" marB="18919" anchor="ctr">
                    <a:lnL>
                      <a:noFill/>
                    </a:lnL>
                    <a:lnR>
                      <a:noFill/>
                    </a:lnR>
                    <a:lnT>
                      <a:noFill/>
                    </a:lnT>
                    <a:lnB>
                      <a:noFill/>
                    </a:lnB>
                    <a:noFill/>
                  </a:tcPr>
                </a:tc>
                <a:tc>
                  <a:txBody>
                    <a:bodyPr/>
                    <a:lstStyle/>
                    <a:p>
                      <a:pPr>
                        <a:buNone/>
                      </a:pPr>
                      <a:r>
                        <a:rPr lang="fr-FR" sz="2400" dirty="0" err="1"/>
                        <a:t>Combinational</a:t>
                      </a:r>
                      <a:r>
                        <a:rPr lang="fr-FR" sz="2400" dirty="0"/>
                        <a:t> Logic Circuit: </a:t>
                      </a:r>
                      <a:r>
                        <a:rPr lang="fr-FR" sz="2400" dirty="0" err="1"/>
                        <a:t>Adder</a:t>
                      </a:r>
                      <a:r>
                        <a:rPr lang="fr-FR" sz="2400" dirty="0"/>
                        <a:t>, </a:t>
                      </a:r>
                      <a:r>
                        <a:rPr lang="fr-FR" sz="2400" dirty="0" err="1"/>
                        <a:t>Subtractor</a:t>
                      </a:r>
                      <a:r>
                        <a:rPr lang="fr-FR" sz="2400" dirty="0"/>
                        <a:t>, Magnitude </a:t>
                      </a:r>
                      <a:r>
                        <a:rPr lang="fr-FR" sz="2400" dirty="0" err="1"/>
                        <a:t>Comparator</a:t>
                      </a:r>
                      <a:r>
                        <a:rPr lang="fr-FR" sz="2400" dirty="0"/>
                        <a:t>, Code </a:t>
                      </a:r>
                      <a:r>
                        <a:rPr lang="fr-FR" sz="2400" dirty="0" err="1"/>
                        <a:t>converters</a:t>
                      </a:r>
                      <a:r>
                        <a:rPr lang="fr-FR" sz="2400" dirty="0"/>
                        <a:t> etc. MSI Circuits: </a:t>
                      </a:r>
                      <a:r>
                        <a:rPr lang="fr-FR" sz="2400" dirty="0" err="1"/>
                        <a:t>Multiplexers</a:t>
                      </a:r>
                      <a:r>
                        <a:rPr lang="fr-FR" sz="2400" dirty="0"/>
                        <a:t>, </a:t>
                      </a:r>
                      <a:r>
                        <a:rPr lang="fr-FR" sz="2400" dirty="0" err="1"/>
                        <a:t>Demultiplexers</a:t>
                      </a:r>
                      <a:r>
                        <a:rPr lang="fr-FR" sz="2400" dirty="0"/>
                        <a:t>, </a:t>
                      </a:r>
                      <a:r>
                        <a:rPr lang="fr-FR" sz="2400" dirty="0" err="1"/>
                        <a:t>Decoders</a:t>
                      </a:r>
                      <a:r>
                        <a:rPr lang="fr-FR" sz="2400" dirty="0"/>
                        <a:t>, </a:t>
                      </a:r>
                      <a:r>
                        <a:rPr lang="fr-FR" sz="2400" dirty="0" err="1"/>
                        <a:t>Encoders</a:t>
                      </a:r>
                      <a:r>
                        <a:rPr lang="fr-FR" sz="2400" dirty="0"/>
                        <a:t> etc.</a:t>
                      </a:r>
                    </a:p>
                  </a:txBody>
                  <a:tcPr marL="37838" marR="37838" marT="18919" marB="18919" anchor="ctr">
                    <a:lnL>
                      <a:noFill/>
                    </a:lnL>
                    <a:lnR>
                      <a:noFill/>
                    </a:lnR>
                    <a:lnT>
                      <a:noFill/>
                    </a:lnT>
                    <a:lnB>
                      <a:noFill/>
                    </a:lnB>
                    <a:noFill/>
                  </a:tcPr>
                </a:tc>
                <a:extLst>
                  <a:ext uri="{0D108BD9-81ED-4DB2-BD59-A6C34878D82A}">
                    <a16:rowId xmlns:a16="http://schemas.microsoft.com/office/drawing/2014/main" val="1210156412"/>
                  </a:ext>
                </a:extLst>
              </a:tr>
              <a:tr h="152924">
                <a:tc>
                  <a:txBody>
                    <a:bodyPr/>
                    <a:lstStyle/>
                    <a:p>
                      <a:pPr>
                        <a:buNone/>
                      </a:pPr>
                      <a:r>
                        <a:rPr lang="en-IN" sz="1400" b="1"/>
                        <a:t>4</a:t>
                      </a:r>
                      <a:endParaRPr lang="en-IN" sz="1400"/>
                    </a:p>
                  </a:txBody>
                  <a:tcPr marL="37838" marR="37838" marT="18919" marB="18919" anchor="ctr">
                    <a:lnL>
                      <a:noFill/>
                    </a:lnL>
                    <a:lnR>
                      <a:noFill/>
                    </a:lnR>
                    <a:lnT>
                      <a:noFill/>
                    </a:lnT>
                    <a:lnB>
                      <a:noFill/>
                    </a:lnB>
                    <a:noFill/>
                  </a:tcPr>
                </a:tc>
                <a:tc>
                  <a:txBody>
                    <a:bodyPr/>
                    <a:lstStyle/>
                    <a:p>
                      <a:pPr>
                        <a:buNone/>
                      </a:pPr>
                      <a:r>
                        <a:rPr lang="en-US" sz="2400"/>
                        <a:t>Sequential circuits: Latches and Flip-flops, Counters, Shift registers.</a:t>
                      </a:r>
                    </a:p>
                  </a:txBody>
                  <a:tcPr marL="37838" marR="37838" marT="18919" marB="18919" anchor="ctr">
                    <a:lnL>
                      <a:noFill/>
                    </a:lnL>
                    <a:lnR>
                      <a:noFill/>
                    </a:lnR>
                    <a:lnT>
                      <a:noFill/>
                    </a:lnT>
                    <a:lnB>
                      <a:noFill/>
                    </a:lnB>
                    <a:noFill/>
                  </a:tcPr>
                </a:tc>
                <a:extLst>
                  <a:ext uri="{0D108BD9-81ED-4DB2-BD59-A6C34878D82A}">
                    <a16:rowId xmlns:a16="http://schemas.microsoft.com/office/drawing/2014/main" val="2907430726"/>
                  </a:ext>
                </a:extLst>
              </a:tr>
              <a:tr h="73176">
                <a:tc>
                  <a:txBody>
                    <a:bodyPr/>
                    <a:lstStyle/>
                    <a:p>
                      <a:pPr>
                        <a:buNone/>
                      </a:pPr>
                      <a:r>
                        <a:rPr lang="en-IN" sz="1400" b="1"/>
                        <a:t>5</a:t>
                      </a:r>
                      <a:endParaRPr lang="en-IN" sz="1400"/>
                    </a:p>
                  </a:txBody>
                  <a:tcPr marL="37838" marR="37838" marT="18919" marB="18919" anchor="ctr">
                    <a:lnL>
                      <a:noFill/>
                    </a:lnL>
                    <a:lnR>
                      <a:noFill/>
                    </a:lnR>
                    <a:lnT>
                      <a:noFill/>
                    </a:lnT>
                    <a:lnB>
                      <a:noFill/>
                    </a:lnB>
                    <a:noFill/>
                  </a:tcPr>
                </a:tc>
                <a:tc>
                  <a:txBody>
                    <a:bodyPr/>
                    <a:lstStyle/>
                    <a:p>
                      <a:pPr>
                        <a:buNone/>
                      </a:pPr>
                      <a:r>
                        <a:rPr lang="en-US" sz="2400" dirty="0"/>
                        <a:t>Analysis of sequential circuits: State tables and state diagrams. Timing circuits.</a:t>
                      </a:r>
                    </a:p>
                  </a:txBody>
                  <a:tcPr marL="37838" marR="37838" marT="18919" marB="18919" anchor="ctr">
                    <a:lnL>
                      <a:noFill/>
                    </a:lnL>
                    <a:lnR>
                      <a:noFill/>
                    </a:lnR>
                    <a:lnT>
                      <a:noFill/>
                    </a:lnT>
                    <a:lnB>
                      <a:noFill/>
                    </a:lnB>
                    <a:noFill/>
                  </a:tcPr>
                </a:tc>
                <a:extLst>
                  <a:ext uri="{0D108BD9-81ED-4DB2-BD59-A6C34878D82A}">
                    <a16:rowId xmlns:a16="http://schemas.microsoft.com/office/drawing/2014/main" val="1413043489"/>
                  </a:ext>
                </a:extLst>
              </a:tr>
              <a:tr h="251074">
                <a:tc>
                  <a:txBody>
                    <a:bodyPr/>
                    <a:lstStyle/>
                    <a:p>
                      <a:pPr>
                        <a:buNone/>
                      </a:pPr>
                      <a:r>
                        <a:rPr lang="en-IN" sz="1400" b="1"/>
                        <a:t>6</a:t>
                      </a:r>
                      <a:endParaRPr lang="en-IN" sz="1400"/>
                    </a:p>
                  </a:txBody>
                  <a:tcPr marL="37838" marR="37838" marT="18919" marB="18919" anchor="ctr">
                    <a:lnL>
                      <a:noFill/>
                    </a:lnL>
                    <a:lnR>
                      <a:noFill/>
                    </a:lnR>
                    <a:lnT>
                      <a:noFill/>
                    </a:lnT>
                    <a:lnB>
                      <a:noFill/>
                    </a:lnB>
                    <a:noFill/>
                  </a:tcPr>
                </a:tc>
                <a:tc>
                  <a:txBody>
                    <a:bodyPr/>
                    <a:lstStyle/>
                    <a:p>
                      <a:pPr>
                        <a:buNone/>
                      </a:pPr>
                      <a:r>
                        <a:rPr lang="en-US" sz="2400" dirty="0"/>
                        <a:t>Introduction to logic families. Semiconductor memories, ROM, PAL, PLA and Microprocessor.</a:t>
                      </a:r>
                    </a:p>
                  </a:txBody>
                  <a:tcPr marL="37838" marR="37838" marT="18919" marB="18919" anchor="ctr">
                    <a:lnL>
                      <a:noFill/>
                    </a:lnL>
                    <a:lnR>
                      <a:noFill/>
                    </a:lnR>
                    <a:lnT>
                      <a:noFill/>
                    </a:lnT>
                    <a:lnB>
                      <a:noFill/>
                    </a:lnB>
                    <a:noFill/>
                  </a:tcPr>
                </a:tc>
                <a:extLst>
                  <a:ext uri="{0D108BD9-81ED-4DB2-BD59-A6C34878D82A}">
                    <a16:rowId xmlns:a16="http://schemas.microsoft.com/office/drawing/2014/main" val="3639759635"/>
                  </a:ext>
                </a:extLst>
              </a:tr>
            </a:tbl>
          </a:graphicData>
        </a:graphic>
      </p:graphicFrame>
    </p:spTree>
    <p:extLst>
      <p:ext uri="{BB962C8B-B14F-4D97-AF65-F5344CB8AC3E}">
        <p14:creationId xmlns:p14="http://schemas.microsoft.com/office/powerpoint/2010/main" val="663595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395605-2E01-D426-58C2-A10709BA3AA6}"/>
              </a:ext>
            </a:extLst>
          </p:cNvPr>
          <p:cNvSpPr txBox="1"/>
          <p:nvPr/>
        </p:nvSpPr>
        <p:spPr>
          <a:xfrm>
            <a:off x="602932" y="792331"/>
            <a:ext cx="9489757" cy="2585323"/>
          </a:xfrm>
          <a:prstGeom prst="rect">
            <a:avLst/>
          </a:prstGeom>
          <a:noFill/>
        </p:spPr>
        <p:txBody>
          <a:bodyPr wrap="square">
            <a:spAutoFit/>
          </a:bodyPr>
          <a:lstStyle/>
          <a:p>
            <a:pPr>
              <a:buNone/>
            </a:pPr>
            <a:r>
              <a:rPr lang="en-US" b="1" dirty="0"/>
              <a:t>Textbook</a:t>
            </a:r>
            <a:endParaRPr lang="en-US" dirty="0"/>
          </a:p>
          <a:p>
            <a:pPr>
              <a:buFont typeface="+mj-lt"/>
              <a:buAutoNum type="arabicPeriod"/>
            </a:pPr>
            <a:r>
              <a:rPr lang="en-US" i="1" dirty="0"/>
              <a:t>Digital Logic and Computer Design</a:t>
            </a:r>
            <a:r>
              <a:rPr lang="en-US" dirty="0"/>
              <a:t> by M. Morris Mano, Prentice-Hall, 2015.</a:t>
            </a:r>
          </a:p>
          <a:p>
            <a:pPr>
              <a:buFont typeface="+mj-lt"/>
              <a:buAutoNum type="arabicPeriod"/>
            </a:pPr>
            <a:r>
              <a:rPr lang="en-US" dirty="0"/>
              <a:t>Floyd T. L., </a:t>
            </a:r>
            <a:r>
              <a:rPr lang="en-US" i="1" dirty="0"/>
              <a:t>Digital Fundamentals</a:t>
            </a:r>
            <a:r>
              <a:rPr lang="en-US" dirty="0"/>
              <a:t>, 10th Edition, Pearson Education, 2011.</a:t>
            </a:r>
          </a:p>
          <a:p>
            <a:pPr>
              <a:buFont typeface="+mj-lt"/>
              <a:buAutoNum type="arabicPeriod"/>
            </a:pPr>
            <a:endParaRPr lang="en-US" dirty="0"/>
          </a:p>
          <a:p>
            <a:pPr>
              <a:buNone/>
            </a:pPr>
            <a:r>
              <a:rPr lang="en-US" b="1" dirty="0"/>
              <a:t>Reference Books</a:t>
            </a:r>
          </a:p>
          <a:p>
            <a:pPr>
              <a:buFont typeface="+mj-lt"/>
              <a:buAutoNum type="arabicPeriod"/>
            </a:pPr>
            <a:r>
              <a:rPr lang="en-US" i="1" dirty="0"/>
              <a:t>Fundamental of Digital Electronics</a:t>
            </a:r>
            <a:r>
              <a:rPr lang="en-US" dirty="0"/>
              <a:t> by A. Anand Kumar, 4th Edition, Prentice Hall, 2016.</a:t>
            </a:r>
          </a:p>
          <a:p>
            <a:pPr>
              <a:buFont typeface="+mj-lt"/>
              <a:buAutoNum type="arabicPeriod"/>
            </a:pPr>
            <a:r>
              <a:rPr lang="en-US" i="1" dirty="0"/>
              <a:t>Digital Principles and Applications</a:t>
            </a:r>
            <a:r>
              <a:rPr lang="en-US" dirty="0"/>
              <a:t> by </a:t>
            </a:r>
            <a:r>
              <a:rPr lang="en-US" dirty="0" err="1"/>
              <a:t>Malvino</a:t>
            </a:r>
            <a:r>
              <a:rPr lang="en-US" dirty="0"/>
              <a:t> &amp; Leach, 8th Edition, McGraw Hill, 2014.</a:t>
            </a:r>
          </a:p>
          <a:p>
            <a:pPr>
              <a:buFont typeface="+mj-lt"/>
              <a:buAutoNum type="arabicPeriod"/>
            </a:pPr>
            <a:r>
              <a:rPr lang="en-US" i="1" dirty="0"/>
              <a:t>Modern Digital Electronics</a:t>
            </a:r>
            <a:r>
              <a:rPr lang="en-US" dirty="0"/>
              <a:t> by R. P. Jain, 4th Edition, McGraw Hill, 2009.</a:t>
            </a:r>
          </a:p>
          <a:p>
            <a:pPr>
              <a:buFont typeface="+mj-lt"/>
              <a:buAutoNum type="arabicPeriod"/>
            </a:pPr>
            <a:r>
              <a:rPr lang="en-US" i="1" dirty="0"/>
              <a:t>Digital Integrated Electronics</a:t>
            </a:r>
            <a:r>
              <a:rPr lang="en-US" dirty="0"/>
              <a:t> by Paul &amp; Schilling, McGraw Hill, 2008.</a:t>
            </a:r>
          </a:p>
        </p:txBody>
      </p:sp>
      <p:sp>
        <p:nvSpPr>
          <p:cNvPr id="6" name="TextBox 5">
            <a:extLst>
              <a:ext uri="{FF2B5EF4-FFF2-40B4-BE49-F238E27FC236}">
                <a16:creationId xmlns:a16="http://schemas.microsoft.com/office/drawing/2014/main" id="{4A8A31D2-A08B-08DB-2AFD-06403B472DBE}"/>
              </a:ext>
            </a:extLst>
          </p:cNvPr>
          <p:cNvSpPr txBox="1"/>
          <p:nvPr/>
        </p:nvSpPr>
        <p:spPr>
          <a:xfrm>
            <a:off x="602932" y="3757345"/>
            <a:ext cx="7249478" cy="2308324"/>
          </a:xfrm>
          <a:prstGeom prst="rect">
            <a:avLst/>
          </a:prstGeom>
          <a:noFill/>
        </p:spPr>
        <p:txBody>
          <a:bodyPr wrap="square" rtlCol="0">
            <a:spAutoFit/>
          </a:bodyPr>
          <a:lstStyle/>
          <a:p>
            <a:r>
              <a:rPr lang="en-US" dirty="0"/>
              <a:t>The evaluation scheme is as follows:</a:t>
            </a:r>
          </a:p>
          <a:p>
            <a:endParaRPr lang="en-US" dirty="0"/>
          </a:p>
          <a:p>
            <a:r>
              <a:rPr lang="en-US" dirty="0"/>
              <a:t>	End Semester Examination: 50 marks</a:t>
            </a:r>
          </a:p>
          <a:p>
            <a:endParaRPr lang="en-US" dirty="0"/>
          </a:p>
          <a:p>
            <a:r>
              <a:rPr lang="en-US" dirty="0"/>
              <a:t>	Mid Semester Examination: 30 marks</a:t>
            </a:r>
          </a:p>
          <a:p>
            <a:endParaRPr lang="en-US" dirty="0"/>
          </a:p>
          <a:p>
            <a:r>
              <a:rPr lang="en-US" dirty="0"/>
              <a:t>	Quizzes: 2 quizzes of 10 marks each</a:t>
            </a:r>
          </a:p>
          <a:p>
            <a:endParaRPr lang="en-IN" dirty="0"/>
          </a:p>
        </p:txBody>
      </p:sp>
    </p:spTree>
    <p:extLst>
      <p:ext uri="{BB962C8B-B14F-4D97-AF65-F5344CB8AC3E}">
        <p14:creationId xmlns:p14="http://schemas.microsoft.com/office/powerpoint/2010/main" val="2709116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6159-D371-8866-7A14-84300F2E12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E95457-C5E7-C9C0-2DA6-9828176A8B5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92770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3B5093-77B0-DB67-3F78-B60A77F207C4}"/>
              </a:ext>
            </a:extLst>
          </p:cNvPr>
          <p:cNvPicPr>
            <a:picLocks noChangeAspect="1"/>
          </p:cNvPicPr>
          <p:nvPr/>
        </p:nvPicPr>
        <p:blipFill>
          <a:blip r:embed="rId2"/>
          <a:stretch>
            <a:fillRect/>
          </a:stretch>
        </p:blipFill>
        <p:spPr>
          <a:xfrm>
            <a:off x="1032510" y="1026358"/>
            <a:ext cx="9545382" cy="3134162"/>
          </a:xfrm>
          <a:prstGeom prst="rect">
            <a:avLst/>
          </a:prstGeom>
        </p:spPr>
      </p:pic>
      <p:pic>
        <p:nvPicPr>
          <p:cNvPr id="7" name="Picture 6">
            <a:extLst>
              <a:ext uri="{FF2B5EF4-FFF2-40B4-BE49-F238E27FC236}">
                <a16:creationId xmlns:a16="http://schemas.microsoft.com/office/drawing/2014/main" id="{1B228F67-8B9F-458F-7F9C-2E7AA2BF8E46}"/>
              </a:ext>
            </a:extLst>
          </p:cNvPr>
          <p:cNvPicPr>
            <a:picLocks noChangeAspect="1"/>
          </p:cNvPicPr>
          <p:nvPr/>
        </p:nvPicPr>
        <p:blipFill>
          <a:blip r:embed="rId3"/>
          <a:stretch>
            <a:fillRect/>
          </a:stretch>
        </p:blipFill>
        <p:spPr>
          <a:xfrm>
            <a:off x="994405" y="2188570"/>
            <a:ext cx="9583487" cy="1971950"/>
          </a:xfrm>
          <a:prstGeom prst="rect">
            <a:avLst/>
          </a:prstGeom>
        </p:spPr>
      </p:pic>
      <p:pic>
        <p:nvPicPr>
          <p:cNvPr id="9" name="Picture 8">
            <a:extLst>
              <a:ext uri="{FF2B5EF4-FFF2-40B4-BE49-F238E27FC236}">
                <a16:creationId xmlns:a16="http://schemas.microsoft.com/office/drawing/2014/main" id="{7F3A2A3E-1674-EDE5-BD07-577E94F80362}"/>
              </a:ext>
            </a:extLst>
          </p:cNvPr>
          <p:cNvPicPr>
            <a:picLocks noChangeAspect="1"/>
          </p:cNvPicPr>
          <p:nvPr/>
        </p:nvPicPr>
        <p:blipFill>
          <a:blip r:embed="rId4"/>
          <a:stretch>
            <a:fillRect/>
          </a:stretch>
        </p:blipFill>
        <p:spPr>
          <a:xfrm>
            <a:off x="1118247" y="2286000"/>
            <a:ext cx="9497750" cy="1737360"/>
          </a:xfrm>
          <a:prstGeom prst="rect">
            <a:avLst/>
          </a:prstGeom>
        </p:spPr>
      </p:pic>
      <p:pic>
        <p:nvPicPr>
          <p:cNvPr id="11" name="Picture 10">
            <a:extLst>
              <a:ext uri="{FF2B5EF4-FFF2-40B4-BE49-F238E27FC236}">
                <a16:creationId xmlns:a16="http://schemas.microsoft.com/office/drawing/2014/main" id="{E1A67DDA-F370-DF72-DBE2-241F837FD934}"/>
              </a:ext>
            </a:extLst>
          </p:cNvPr>
          <p:cNvPicPr>
            <a:picLocks noChangeAspect="1"/>
          </p:cNvPicPr>
          <p:nvPr/>
        </p:nvPicPr>
        <p:blipFill>
          <a:blip r:embed="rId5"/>
          <a:stretch>
            <a:fillRect/>
          </a:stretch>
        </p:blipFill>
        <p:spPr>
          <a:xfrm>
            <a:off x="1141107" y="2286000"/>
            <a:ext cx="9364382" cy="1737359"/>
          </a:xfrm>
          <a:prstGeom prst="rect">
            <a:avLst/>
          </a:prstGeom>
        </p:spPr>
      </p:pic>
      <p:pic>
        <p:nvPicPr>
          <p:cNvPr id="13" name="Picture 12">
            <a:extLst>
              <a:ext uri="{FF2B5EF4-FFF2-40B4-BE49-F238E27FC236}">
                <a16:creationId xmlns:a16="http://schemas.microsoft.com/office/drawing/2014/main" id="{0F01C821-3397-10A3-CB65-316731067A43}"/>
              </a:ext>
            </a:extLst>
          </p:cNvPr>
          <p:cNvPicPr>
            <a:picLocks noChangeAspect="1"/>
          </p:cNvPicPr>
          <p:nvPr/>
        </p:nvPicPr>
        <p:blipFill>
          <a:blip r:embed="rId6"/>
          <a:stretch>
            <a:fillRect/>
          </a:stretch>
        </p:blipFill>
        <p:spPr>
          <a:xfrm>
            <a:off x="1118247" y="2260988"/>
            <a:ext cx="9583487" cy="1762371"/>
          </a:xfrm>
          <a:prstGeom prst="rect">
            <a:avLst/>
          </a:prstGeom>
        </p:spPr>
      </p:pic>
      <p:pic>
        <p:nvPicPr>
          <p:cNvPr id="15" name="Picture 14">
            <a:extLst>
              <a:ext uri="{FF2B5EF4-FFF2-40B4-BE49-F238E27FC236}">
                <a16:creationId xmlns:a16="http://schemas.microsoft.com/office/drawing/2014/main" id="{973AA909-ABE1-7672-261F-B40689D657A2}"/>
              </a:ext>
            </a:extLst>
          </p:cNvPr>
          <p:cNvPicPr>
            <a:picLocks noChangeAspect="1"/>
          </p:cNvPicPr>
          <p:nvPr/>
        </p:nvPicPr>
        <p:blipFill>
          <a:blip r:embed="rId7"/>
          <a:stretch>
            <a:fillRect/>
          </a:stretch>
        </p:blipFill>
        <p:spPr>
          <a:xfrm>
            <a:off x="1199221" y="2260987"/>
            <a:ext cx="9440592" cy="1695687"/>
          </a:xfrm>
          <a:prstGeom prst="rect">
            <a:avLst/>
          </a:prstGeom>
        </p:spPr>
      </p:pic>
      <p:pic>
        <p:nvPicPr>
          <p:cNvPr id="17" name="Picture 16">
            <a:extLst>
              <a:ext uri="{FF2B5EF4-FFF2-40B4-BE49-F238E27FC236}">
                <a16:creationId xmlns:a16="http://schemas.microsoft.com/office/drawing/2014/main" id="{4064C41E-B79F-B7D2-DB66-11DA570D8BF1}"/>
              </a:ext>
            </a:extLst>
          </p:cNvPr>
          <p:cNvPicPr>
            <a:picLocks noChangeAspect="1"/>
          </p:cNvPicPr>
          <p:nvPr/>
        </p:nvPicPr>
        <p:blipFill>
          <a:blip r:embed="rId8"/>
          <a:stretch>
            <a:fillRect/>
          </a:stretch>
        </p:blipFill>
        <p:spPr>
          <a:xfrm>
            <a:off x="1118247" y="2232409"/>
            <a:ext cx="9573961" cy="1790950"/>
          </a:xfrm>
          <a:prstGeom prst="rect">
            <a:avLst/>
          </a:prstGeom>
        </p:spPr>
      </p:pic>
      <p:pic>
        <p:nvPicPr>
          <p:cNvPr id="19" name="Picture 18">
            <a:extLst>
              <a:ext uri="{FF2B5EF4-FFF2-40B4-BE49-F238E27FC236}">
                <a16:creationId xmlns:a16="http://schemas.microsoft.com/office/drawing/2014/main" id="{5D1D0414-0F5E-D3AE-4C4B-F3BD6F8DADB4}"/>
              </a:ext>
            </a:extLst>
          </p:cNvPr>
          <p:cNvPicPr>
            <a:picLocks noChangeAspect="1"/>
          </p:cNvPicPr>
          <p:nvPr/>
        </p:nvPicPr>
        <p:blipFill>
          <a:blip r:embed="rId9"/>
          <a:stretch>
            <a:fillRect/>
          </a:stretch>
        </p:blipFill>
        <p:spPr>
          <a:xfrm>
            <a:off x="1223036" y="2232408"/>
            <a:ext cx="9354856" cy="1762371"/>
          </a:xfrm>
          <a:prstGeom prst="rect">
            <a:avLst/>
          </a:prstGeom>
        </p:spPr>
      </p:pic>
    </p:spTree>
    <p:extLst>
      <p:ext uri="{BB962C8B-B14F-4D97-AF65-F5344CB8AC3E}">
        <p14:creationId xmlns:p14="http://schemas.microsoft.com/office/powerpoint/2010/main" val="417604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605BF7-3183-6A79-BDCE-D6D15FA70923}"/>
              </a:ext>
            </a:extLst>
          </p:cNvPr>
          <p:cNvPicPr>
            <a:picLocks noChangeAspect="1"/>
          </p:cNvPicPr>
          <p:nvPr/>
        </p:nvPicPr>
        <p:blipFill>
          <a:blip r:embed="rId3"/>
          <a:srcRect t="79845"/>
          <a:stretch>
            <a:fillRect/>
          </a:stretch>
        </p:blipFill>
        <p:spPr>
          <a:xfrm>
            <a:off x="2648472" y="3360421"/>
            <a:ext cx="6163535" cy="764168"/>
          </a:xfrm>
          <a:prstGeom prst="rect">
            <a:avLst/>
          </a:prstGeom>
        </p:spPr>
      </p:pic>
      <p:pic>
        <p:nvPicPr>
          <p:cNvPr id="6" name="Picture 5">
            <a:extLst>
              <a:ext uri="{FF2B5EF4-FFF2-40B4-BE49-F238E27FC236}">
                <a16:creationId xmlns:a16="http://schemas.microsoft.com/office/drawing/2014/main" id="{320B7210-B897-D8B8-87BB-5665ED5D5A07}"/>
              </a:ext>
            </a:extLst>
          </p:cNvPr>
          <p:cNvPicPr>
            <a:picLocks noChangeAspect="1"/>
          </p:cNvPicPr>
          <p:nvPr/>
        </p:nvPicPr>
        <p:blipFill>
          <a:blip r:embed="rId3"/>
          <a:srcRect t="59948" b="20155"/>
          <a:stretch>
            <a:fillRect/>
          </a:stretch>
        </p:blipFill>
        <p:spPr>
          <a:xfrm>
            <a:off x="2648472" y="2606041"/>
            <a:ext cx="6163535" cy="754380"/>
          </a:xfrm>
          <a:prstGeom prst="rect">
            <a:avLst/>
          </a:prstGeom>
        </p:spPr>
      </p:pic>
      <p:pic>
        <p:nvPicPr>
          <p:cNvPr id="7" name="Picture 6">
            <a:extLst>
              <a:ext uri="{FF2B5EF4-FFF2-40B4-BE49-F238E27FC236}">
                <a16:creationId xmlns:a16="http://schemas.microsoft.com/office/drawing/2014/main" id="{F1351FDC-6A6B-AC4A-BDD9-6240A9678D0B}"/>
              </a:ext>
            </a:extLst>
          </p:cNvPr>
          <p:cNvPicPr>
            <a:picLocks noChangeAspect="1"/>
          </p:cNvPicPr>
          <p:nvPr/>
        </p:nvPicPr>
        <p:blipFill>
          <a:blip r:embed="rId3"/>
          <a:srcRect t="42463" b="35228"/>
          <a:stretch>
            <a:fillRect/>
          </a:stretch>
        </p:blipFill>
        <p:spPr>
          <a:xfrm>
            <a:off x="2648472" y="1943101"/>
            <a:ext cx="6163535" cy="845819"/>
          </a:xfrm>
          <a:prstGeom prst="rect">
            <a:avLst/>
          </a:prstGeom>
        </p:spPr>
      </p:pic>
      <p:pic>
        <p:nvPicPr>
          <p:cNvPr id="8" name="Picture 7">
            <a:extLst>
              <a:ext uri="{FF2B5EF4-FFF2-40B4-BE49-F238E27FC236}">
                <a16:creationId xmlns:a16="http://schemas.microsoft.com/office/drawing/2014/main" id="{DFCB0D91-99EA-45EE-4F9E-E77D6A454B2E}"/>
              </a:ext>
            </a:extLst>
          </p:cNvPr>
          <p:cNvPicPr>
            <a:picLocks noChangeAspect="1"/>
          </p:cNvPicPr>
          <p:nvPr/>
        </p:nvPicPr>
        <p:blipFill>
          <a:blip r:embed="rId3"/>
          <a:srcRect b="57536"/>
          <a:stretch>
            <a:fillRect/>
          </a:stretch>
        </p:blipFill>
        <p:spPr>
          <a:xfrm>
            <a:off x="2648472" y="333111"/>
            <a:ext cx="6163535" cy="1609990"/>
          </a:xfrm>
          <a:prstGeom prst="rect">
            <a:avLst/>
          </a:prstGeom>
        </p:spPr>
      </p:pic>
      <p:pic>
        <p:nvPicPr>
          <p:cNvPr id="10" name="Picture 9">
            <a:extLst>
              <a:ext uri="{FF2B5EF4-FFF2-40B4-BE49-F238E27FC236}">
                <a16:creationId xmlns:a16="http://schemas.microsoft.com/office/drawing/2014/main" id="{EEE0BBB1-3AA7-ABA7-AD40-7D476F535AA4}"/>
              </a:ext>
            </a:extLst>
          </p:cNvPr>
          <p:cNvPicPr>
            <a:picLocks noChangeAspect="1"/>
          </p:cNvPicPr>
          <p:nvPr/>
        </p:nvPicPr>
        <p:blipFill>
          <a:blip r:embed="rId4"/>
          <a:stretch>
            <a:fillRect/>
          </a:stretch>
        </p:blipFill>
        <p:spPr>
          <a:xfrm>
            <a:off x="2157802" y="4398910"/>
            <a:ext cx="8059275" cy="1933845"/>
          </a:xfrm>
          <a:prstGeom prst="rect">
            <a:avLst/>
          </a:prstGeom>
        </p:spPr>
      </p:pic>
    </p:spTree>
    <p:extLst>
      <p:ext uri="{BB962C8B-B14F-4D97-AF65-F5344CB8AC3E}">
        <p14:creationId xmlns:p14="http://schemas.microsoft.com/office/powerpoint/2010/main" val="219658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8D8B-B945-D85B-B1EB-80E51D959F8D}"/>
              </a:ext>
            </a:extLst>
          </p:cNvPr>
          <p:cNvSpPr>
            <a:spLocks noGrp="1"/>
          </p:cNvSpPr>
          <p:nvPr>
            <p:ph type="title"/>
          </p:nvPr>
        </p:nvSpPr>
        <p:spPr/>
        <p:txBody>
          <a:bodyPr/>
          <a:lstStyle/>
          <a:p>
            <a:r>
              <a:rPr lang="en-US" dirty="0"/>
              <a:t>Postulates and Theorems of Boolean Algebra </a:t>
            </a:r>
            <a:endParaRPr lang="en-IN" dirty="0"/>
          </a:p>
        </p:txBody>
      </p:sp>
      <p:pic>
        <p:nvPicPr>
          <p:cNvPr id="7" name="Picture 6">
            <a:extLst>
              <a:ext uri="{FF2B5EF4-FFF2-40B4-BE49-F238E27FC236}">
                <a16:creationId xmlns:a16="http://schemas.microsoft.com/office/drawing/2014/main" id="{FFC69957-2D2E-4A81-C814-4B151E54B7B2}"/>
              </a:ext>
            </a:extLst>
          </p:cNvPr>
          <p:cNvPicPr>
            <a:picLocks noChangeAspect="1"/>
          </p:cNvPicPr>
          <p:nvPr/>
        </p:nvPicPr>
        <p:blipFill>
          <a:blip r:embed="rId3"/>
          <a:stretch>
            <a:fillRect/>
          </a:stretch>
        </p:blipFill>
        <p:spPr>
          <a:xfrm>
            <a:off x="714375" y="1806741"/>
            <a:ext cx="11151870" cy="3981643"/>
          </a:xfrm>
          <a:prstGeom prst="rect">
            <a:avLst/>
          </a:prstGeom>
        </p:spPr>
      </p:pic>
      <p:pic>
        <p:nvPicPr>
          <p:cNvPr id="10" name="Picture 9">
            <a:extLst>
              <a:ext uri="{FF2B5EF4-FFF2-40B4-BE49-F238E27FC236}">
                <a16:creationId xmlns:a16="http://schemas.microsoft.com/office/drawing/2014/main" id="{13481A8A-D412-3062-C633-552DE01B99F2}"/>
              </a:ext>
            </a:extLst>
          </p:cNvPr>
          <p:cNvPicPr>
            <a:picLocks noChangeAspect="1"/>
          </p:cNvPicPr>
          <p:nvPr/>
        </p:nvPicPr>
        <p:blipFill>
          <a:blip r:embed="rId3"/>
          <a:srcRect b="9020"/>
          <a:stretch>
            <a:fillRect/>
          </a:stretch>
        </p:blipFill>
        <p:spPr>
          <a:xfrm>
            <a:off x="714375" y="1806741"/>
            <a:ext cx="11151870" cy="3622509"/>
          </a:xfrm>
          <a:prstGeom prst="rect">
            <a:avLst/>
          </a:prstGeom>
        </p:spPr>
      </p:pic>
      <p:pic>
        <p:nvPicPr>
          <p:cNvPr id="11" name="Picture 10">
            <a:extLst>
              <a:ext uri="{FF2B5EF4-FFF2-40B4-BE49-F238E27FC236}">
                <a16:creationId xmlns:a16="http://schemas.microsoft.com/office/drawing/2014/main" id="{CC8B49DF-5425-1FC0-8143-D04F821AEC6C}"/>
              </a:ext>
            </a:extLst>
          </p:cNvPr>
          <p:cNvPicPr>
            <a:picLocks noChangeAspect="1"/>
          </p:cNvPicPr>
          <p:nvPr/>
        </p:nvPicPr>
        <p:blipFill>
          <a:blip r:embed="rId3"/>
          <a:srcRect b="19928"/>
          <a:stretch>
            <a:fillRect/>
          </a:stretch>
        </p:blipFill>
        <p:spPr>
          <a:xfrm>
            <a:off x="714375" y="1806741"/>
            <a:ext cx="11151870" cy="3188169"/>
          </a:xfrm>
          <a:prstGeom prst="rect">
            <a:avLst/>
          </a:prstGeom>
        </p:spPr>
      </p:pic>
      <p:pic>
        <p:nvPicPr>
          <p:cNvPr id="12" name="Picture 11">
            <a:extLst>
              <a:ext uri="{FF2B5EF4-FFF2-40B4-BE49-F238E27FC236}">
                <a16:creationId xmlns:a16="http://schemas.microsoft.com/office/drawing/2014/main" id="{8FF6A6D4-5F48-E30C-E3E0-1A07F2110DF6}"/>
              </a:ext>
            </a:extLst>
          </p:cNvPr>
          <p:cNvPicPr>
            <a:picLocks noChangeAspect="1"/>
          </p:cNvPicPr>
          <p:nvPr/>
        </p:nvPicPr>
        <p:blipFill>
          <a:blip r:embed="rId3"/>
          <a:srcRect b="30837"/>
          <a:stretch>
            <a:fillRect/>
          </a:stretch>
        </p:blipFill>
        <p:spPr>
          <a:xfrm>
            <a:off x="714375" y="1806741"/>
            <a:ext cx="11151870" cy="2753829"/>
          </a:xfrm>
          <a:prstGeom prst="rect">
            <a:avLst/>
          </a:prstGeom>
        </p:spPr>
      </p:pic>
      <p:pic>
        <p:nvPicPr>
          <p:cNvPr id="13" name="Picture 12">
            <a:extLst>
              <a:ext uri="{FF2B5EF4-FFF2-40B4-BE49-F238E27FC236}">
                <a16:creationId xmlns:a16="http://schemas.microsoft.com/office/drawing/2014/main" id="{C3BBEF0F-829B-C454-1173-215CC828B283}"/>
              </a:ext>
            </a:extLst>
          </p:cNvPr>
          <p:cNvPicPr>
            <a:picLocks noChangeAspect="1"/>
          </p:cNvPicPr>
          <p:nvPr/>
        </p:nvPicPr>
        <p:blipFill>
          <a:blip r:embed="rId3"/>
          <a:srcRect b="41171"/>
          <a:stretch>
            <a:fillRect/>
          </a:stretch>
        </p:blipFill>
        <p:spPr>
          <a:xfrm>
            <a:off x="714375" y="1806741"/>
            <a:ext cx="11151870" cy="2342349"/>
          </a:xfrm>
          <a:prstGeom prst="rect">
            <a:avLst/>
          </a:prstGeom>
        </p:spPr>
      </p:pic>
      <p:pic>
        <p:nvPicPr>
          <p:cNvPr id="14" name="Picture 13">
            <a:extLst>
              <a:ext uri="{FF2B5EF4-FFF2-40B4-BE49-F238E27FC236}">
                <a16:creationId xmlns:a16="http://schemas.microsoft.com/office/drawing/2014/main" id="{3DF9208E-FB51-E37E-4538-5214A29EEFE9}"/>
              </a:ext>
            </a:extLst>
          </p:cNvPr>
          <p:cNvPicPr>
            <a:picLocks noChangeAspect="1"/>
          </p:cNvPicPr>
          <p:nvPr/>
        </p:nvPicPr>
        <p:blipFill>
          <a:blip r:embed="rId3"/>
          <a:srcRect b="50070"/>
          <a:stretch>
            <a:fillRect/>
          </a:stretch>
        </p:blipFill>
        <p:spPr>
          <a:xfrm>
            <a:off x="714375" y="1806741"/>
            <a:ext cx="11151870" cy="1988019"/>
          </a:xfrm>
          <a:prstGeom prst="rect">
            <a:avLst/>
          </a:prstGeom>
        </p:spPr>
      </p:pic>
      <p:pic>
        <p:nvPicPr>
          <p:cNvPr id="15" name="Picture 14">
            <a:extLst>
              <a:ext uri="{FF2B5EF4-FFF2-40B4-BE49-F238E27FC236}">
                <a16:creationId xmlns:a16="http://schemas.microsoft.com/office/drawing/2014/main" id="{B02D677E-54C1-AD76-AC45-C78F90DABB28}"/>
              </a:ext>
            </a:extLst>
          </p:cNvPr>
          <p:cNvPicPr>
            <a:picLocks noChangeAspect="1"/>
          </p:cNvPicPr>
          <p:nvPr/>
        </p:nvPicPr>
        <p:blipFill>
          <a:blip r:embed="rId3"/>
          <a:srcRect b="59257"/>
          <a:stretch>
            <a:fillRect/>
          </a:stretch>
        </p:blipFill>
        <p:spPr>
          <a:xfrm>
            <a:off x="714375" y="1806741"/>
            <a:ext cx="11151870" cy="1622259"/>
          </a:xfrm>
          <a:prstGeom prst="rect">
            <a:avLst/>
          </a:prstGeom>
        </p:spPr>
      </p:pic>
      <p:pic>
        <p:nvPicPr>
          <p:cNvPr id="16" name="Picture 15">
            <a:extLst>
              <a:ext uri="{FF2B5EF4-FFF2-40B4-BE49-F238E27FC236}">
                <a16:creationId xmlns:a16="http://schemas.microsoft.com/office/drawing/2014/main" id="{D760DDFB-F2FD-BAD1-00F0-547E941C4F34}"/>
              </a:ext>
            </a:extLst>
          </p:cNvPr>
          <p:cNvPicPr>
            <a:picLocks noChangeAspect="1"/>
          </p:cNvPicPr>
          <p:nvPr/>
        </p:nvPicPr>
        <p:blipFill>
          <a:blip r:embed="rId3"/>
          <a:srcRect b="71888"/>
          <a:stretch>
            <a:fillRect/>
          </a:stretch>
        </p:blipFill>
        <p:spPr>
          <a:xfrm>
            <a:off x="714375" y="1806741"/>
            <a:ext cx="11151870" cy="1119339"/>
          </a:xfrm>
          <a:prstGeom prst="rect">
            <a:avLst/>
          </a:prstGeom>
        </p:spPr>
      </p:pic>
      <p:pic>
        <p:nvPicPr>
          <p:cNvPr id="17" name="Picture 16">
            <a:extLst>
              <a:ext uri="{FF2B5EF4-FFF2-40B4-BE49-F238E27FC236}">
                <a16:creationId xmlns:a16="http://schemas.microsoft.com/office/drawing/2014/main" id="{0F7A32D3-DACA-C26D-3FE8-32CCD2CFC736}"/>
              </a:ext>
            </a:extLst>
          </p:cNvPr>
          <p:cNvPicPr>
            <a:picLocks noChangeAspect="1"/>
          </p:cNvPicPr>
          <p:nvPr/>
        </p:nvPicPr>
        <p:blipFill>
          <a:blip r:embed="rId3"/>
          <a:srcRect b="80500"/>
          <a:stretch>
            <a:fillRect/>
          </a:stretch>
        </p:blipFill>
        <p:spPr>
          <a:xfrm>
            <a:off x="714375" y="1806741"/>
            <a:ext cx="11151870" cy="776439"/>
          </a:xfrm>
          <a:prstGeom prst="rect">
            <a:avLst/>
          </a:prstGeom>
        </p:spPr>
      </p:pic>
      <p:pic>
        <p:nvPicPr>
          <p:cNvPr id="18" name="Picture 17">
            <a:extLst>
              <a:ext uri="{FF2B5EF4-FFF2-40B4-BE49-F238E27FC236}">
                <a16:creationId xmlns:a16="http://schemas.microsoft.com/office/drawing/2014/main" id="{93067429-D476-E880-429C-4A11BF8A1865}"/>
              </a:ext>
            </a:extLst>
          </p:cNvPr>
          <p:cNvPicPr>
            <a:picLocks noChangeAspect="1"/>
          </p:cNvPicPr>
          <p:nvPr/>
        </p:nvPicPr>
        <p:blipFill>
          <a:blip r:embed="rId3"/>
          <a:srcRect b="90260"/>
          <a:stretch>
            <a:fillRect/>
          </a:stretch>
        </p:blipFill>
        <p:spPr>
          <a:xfrm>
            <a:off x="714375" y="1806741"/>
            <a:ext cx="11151870" cy="387819"/>
          </a:xfrm>
          <a:prstGeom prst="rect">
            <a:avLst/>
          </a:prstGeom>
        </p:spPr>
      </p:pic>
    </p:spTree>
    <p:extLst>
      <p:ext uri="{BB962C8B-B14F-4D97-AF65-F5344CB8AC3E}">
        <p14:creationId xmlns:p14="http://schemas.microsoft.com/office/powerpoint/2010/main" val="182754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69DB5-9EAA-9867-9B29-5333F34B4394}"/>
              </a:ext>
            </a:extLst>
          </p:cNvPr>
          <p:cNvSpPr>
            <a:spLocks noGrp="1"/>
          </p:cNvSpPr>
          <p:nvPr>
            <p:ph type="title"/>
          </p:nvPr>
        </p:nvSpPr>
        <p:spPr/>
        <p:txBody>
          <a:bodyPr/>
          <a:lstStyle/>
          <a:p>
            <a:r>
              <a:rPr lang="en-US" dirty="0"/>
              <a:t>Draw logic diagrams to implement the following Boolean expression</a:t>
            </a:r>
            <a:endParaRPr lang="en-IN" dirty="0"/>
          </a:p>
        </p:txBody>
      </p:sp>
      <p:pic>
        <p:nvPicPr>
          <p:cNvPr id="5" name="Picture 4">
            <a:extLst>
              <a:ext uri="{FF2B5EF4-FFF2-40B4-BE49-F238E27FC236}">
                <a16:creationId xmlns:a16="http://schemas.microsoft.com/office/drawing/2014/main" id="{0B606C54-B760-E5F1-EB8D-16B83C85CA56}"/>
              </a:ext>
            </a:extLst>
          </p:cNvPr>
          <p:cNvPicPr>
            <a:picLocks noChangeAspect="1"/>
          </p:cNvPicPr>
          <p:nvPr/>
        </p:nvPicPr>
        <p:blipFill>
          <a:blip r:embed="rId3"/>
          <a:srcRect t="13016"/>
          <a:stretch>
            <a:fillRect/>
          </a:stretch>
        </p:blipFill>
        <p:spPr>
          <a:xfrm>
            <a:off x="533739" y="1858536"/>
            <a:ext cx="8792802" cy="2311903"/>
          </a:xfrm>
          <a:prstGeom prst="rect">
            <a:avLst/>
          </a:prstGeom>
        </p:spPr>
      </p:pic>
      <p:pic>
        <p:nvPicPr>
          <p:cNvPr id="6" name="Picture 5">
            <a:extLst>
              <a:ext uri="{FF2B5EF4-FFF2-40B4-BE49-F238E27FC236}">
                <a16:creationId xmlns:a16="http://schemas.microsoft.com/office/drawing/2014/main" id="{4BC15CA0-530F-3DAB-7BE3-232E06198F2C}"/>
              </a:ext>
            </a:extLst>
          </p:cNvPr>
          <p:cNvPicPr>
            <a:picLocks noChangeAspect="1"/>
          </p:cNvPicPr>
          <p:nvPr/>
        </p:nvPicPr>
        <p:blipFill>
          <a:blip r:embed="rId4"/>
          <a:stretch>
            <a:fillRect/>
          </a:stretch>
        </p:blipFill>
        <p:spPr>
          <a:xfrm>
            <a:off x="4583430" y="3546892"/>
            <a:ext cx="7330998" cy="2600759"/>
          </a:xfrm>
          <a:prstGeom prst="rect">
            <a:avLst/>
          </a:prstGeom>
        </p:spPr>
      </p:pic>
      <p:pic>
        <p:nvPicPr>
          <p:cNvPr id="8" name="Picture 7">
            <a:extLst>
              <a:ext uri="{FF2B5EF4-FFF2-40B4-BE49-F238E27FC236}">
                <a16:creationId xmlns:a16="http://schemas.microsoft.com/office/drawing/2014/main" id="{71D38E4C-8ED4-58CF-51AF-7D6CE8E1EF98}"/>
              </a:ext>
            </a:extLst>
          </p:cNvPr>
          <p:cNvPicPr>
            <a:picLocks noChangeAspect="1"/>
          </p:cNvPicPr>
          <p:nvPr/>
        </p:nvPicPr>
        <p:blipFill>
          <a:blip r:embed="rId5"/>
          <a:stretch>
            <a:fillRect/>
          </a:stretch>
        </p:blipFill>
        <p:spPr>
          <a:xfrm>
            <a:off x="4760162" y="3604121"/>
            <a:ext cx="7154266" cy="2938752"/>
          </a:xfrm>
          <a:prstGeom prst="rect">
            <a:avLst/>
          </a:prstGeom>
        </p:spPr>
      </p:pic>
      <p:pic>
        <p:nvPicPr>
          <p:cNvPr id="10" name="Picture 9">
            <a:extLst>
              <a:ext uri="{FF2B5EF4-FFF2-40B4-BE49-F238E27FC236}">
                <a16:creationId xmlns:a16="http://schemas.microsoft.com/office/drawing/2014/main" id="{BE216E55-D26B-3262-6634-77092D5053D5}"/>
              </a:ext>
            </a:extLst>
          </p:cNvPr>
          <p:cNvPicPr>
            <a:picLocks noChangeAspect="1"/>
          </p:cNvPicPr>
          <p:nvPr/>
        </p:nvPicPr>
        <p:blipFill>
          <a:blip r:embed="rId6"/>
          <a:stretch>
            <a:fillRect/>
          </a:stretch>
        </p:blipFill>
        <p:spPr>
          <a:xfrm>
            <a:off x="4481265" y="3696942"/>
            <a:ext cx="7535327" cy="2753109"/>
          </a:xfrm>
          <a:prstGeom prst="rect">
            <a:avLst/>
          </a:prstGeom>
        </p:spPr>
      </p:pic>
      <p:pic>
        <p:nvPicPr>
          <p:cNvPr id="12" name="Picture 11">
            <a:extLst>
              <a:ext uri="{FF2B5EF4-FFF2-40B4-BE49-F238E27FC236}">
                <a16:creationId xmlns:a16="http://schemas.microsoft.com/office/drawing/2014/main" id="{23C63EE7-2BEC-479E-6821-7E2ED22943B6}"/>
              </a:ext>
            </a:extLst>
          </p:cNvPr>
          <p:cNvPicPr>
            <a:picLocks noChangeAspect="1"/>
          </p:cNvPicPr>
          <p:nvPr/>
        </p:nvPicPr>
        <p:blipFill>
          <a:blip r:embed="rId7"/>
          <a:stretch>
            <a:fillRect/>
          </a:stretch>
        </p:blipFill>
        <p:spPr>
          <a:xfrm>
            <a:off x="4514607" y="3815972"/>
            <a:ext cx="7468642" cy="2876951"/>
          </a:xfrm>
          <a:prstGeom prst="rect">
            <a:avLst/>
          </a:prstGeom>
        </p:spPr>
      </p:pic>
      <p:pic>
        <p:nvPicPr>
          <p:cNvPr id="14" name="Picture 13">
            <a:extLst>
              <a:ext uri="{FF2B5EF4-FFF2-40B4-BE49-F238E27FC236}">
                <a16:creationId xmlns:a16="http://schemas.microsoft.com/office/drawing/2014/main" id="{8B77B93E-35B9-F4BA-C833-DBCAAD13D741}"/>
              </a:ext>
            </a:extLst>
          </p:cNvPr>
          <p:cNvPicPr>
            <a:picLocks noChangeAspect="1"/>
          </p:cNvPicPr>
          <p:nvPr/>
        </p:nvPicPr>
        <p:blipFill>
          <a:blip r:embed="rId8"/>
          <a:stretch>
            <a:fillRect/>
          </a:stretch>
        </p:blipFill>
        <p:spPr>
          <a:xfrm>
            <a:off x="4422637" y="3864790"/>
            <a:ext cx="7769363" cy="2753108"/>
          </a:xfrm>
          <a:prstGeom prst="rect">
            <a:avLst/>
          </a:prstGeom>
        </p:spPr>
      </p:pic>
      <p:pic>
        <p:nvPicPr>
          <p:cNvPr id="16" name="Picture 15">
            <a:extLst>
              <a:ext uri="{FF2B5EF4-FFF2-40B4-BE49-F238E27FC236}">
                <a16:creationId xmlns:a16="http://schemas.microsoft.com/office/drawing/2014/main" id="{E0B3A6EC-EA6A-7A2A-08F0-0B0DB01C60E8}"/>
              </a:ext>
            </a:extLst>
          </p:cNvPr>
          <p:cNvPicPr>
            <a:picLocks noChangeAspect="1"/>
          </p:cNvPicPr>
          <p:nvPr/>
        </p:nvPicPr>
        <p:blipFill>
          <a:blip r:embed="rId9"/>
          <a:stretch>
            <a:fillRect/>
          </a:stretch>
        </p:blipFill>
        <p:spPr>
          <a:xfrm>
            <a:off x="4521791" y="3615421"/>
            <a:ext cx="7602011" cy="2991267"/>
          </a:xfrm>
          <a:prstGeom prst="rect">
            <a:avLst/>
          </a:prstGeom>
        </p:spPr>
      </p:pic>
    </p:spTree>
    <p:extLst>
      <p:ext uri="{BB962C8B-B14F-4D97-AF65-F5344CB8AC3E}">
        <p14:creationId xmlns:p14="http://schemas.microsoft.com/office/powerpoint/2010/main" val="12291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0757C-136C-2853-29FC-56879AF734FA}"/>
              </a:ext>
            </a:extLst>
          </p:cNvPr>
          <p:cNvSpPr>
            <a:spLocks noGrp="1"/>
          </p:cNvSpPr>
          <p:nvPr>
            <p:ph type="title"/>
          </p:nvPr>
        </p:nvSpPr>
        <p:spPr/>
        <p:txBody>
          <a:bodyPr/>
          <a:lstStyle/>
          <a:p>
            <a:r>
              <a:rPr lang="en-IN" dirty="0"/>
              <a:t>Write Boolean Expression</a:t>
            </a:r>
          </a:p>
        </p:txBody>
      </p:sp>
      <p:pic>
        <p:nvPicPr>
          <p:cNvPr id="5" name="Picture 4">
            <a:extLst>
              <a:ext uri="{FF2B5EF4-FFF2-40B4-BE49-F238E27FC236}">
                <a16:creationId xmlns:a16="http://schemas.microsoft.com/office/drawing/2014/main" id="{D4DAC981-5AFD-36FE-D37F-B751BECFC025}"/>
              </a:ext>
            </a:extLst>
          </p:cNvPr>
          <p:cNvPicPr>
            <a:picLocks noChangeAspect="1"/>
          </p:cNvPicPr>
          <p:nvPr/>
        </p:nvPicPr>
        <p:blipFill>
          <a:blip r:embed="rId2"/>
          <a:stretch>
            <a:fillRect/>
          </a:stretch>
        </p:blipFill>
        <p:spPr>
          <a:xfrm>
            <a:off x="2914262" y="2081024"/>
            <a:ext cx="5563376" cy="2695951"/>
          </a:xfrm>
          <a:prstGeom prst="rect">
            <a:avLst/>
          </a:prstGeom>
        </p:spPr>
      </p:pic>
      <p:pic>
        <p:nvPicPr>
          <p:cNvPr id="7" name="Picture 6">
            <a:extLst>
              <a:ext uri="{FF2B5EF4-FFF2-40B4-BE49-F238E27FC236}">
                <a16:creationId xmlns:a16="http://schemas.microsoft.com/office/drawing/2014/main" id="{B4C47EA8-E916-3478-1D19-101D7239FCF5}"/>
              </a:ext>
            </a:extLst>
          </p:cNvPr>
          <p:cNvPicPr>
            <a:picLocks noChangeAspect="1"/>
          </p:cNvPicPr>
          <p:nvPr/>
        </p:nvPicPr>
        <p:blipFill>
          <a:blip r:embed="rId3"/>
          <a:stretch>
            <a:fillRect/>
          </a:stretch>
        </p:blipFill>
        <p:spPr>
          <a:xfrm>
            <a:off x="2998159" y="5167311"/>
            <a:ext cx="4458322" cy="485843"/>
          </a:xfrm>
          <a:prstGeom prst="rect">
            <a:avLst/>
          </a:prstGeom>
        </p:spPr>
      </p:pic>
    </p:spTree>
    <p:extLst>
      <p:ext uri="{BB962C8B-B14F-4D97-AF65-F5344CB8AC3E}">
        <p14:creationId xmlns:p14="http://schemas.microsoft.com/office/powerpoint/2010/main" val="135625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49B2C-8CCC-BE6B-8F30-0306C2852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EFCB1-8353-5A7B-96B0-942B83C9E2F9}"/>
              </a:ext>
            </a:extLst>
          </p:cNvPr>
          <p:cNvSpPr>
            <a:spLocks noGrp="1"/>
          </p:cNvSpPr>
          <p:nvPr>
            <p:ph type="title"/>
          </p:nvPr>
        </p:nvSpPr>
        <p:spPr/>
        <p:txBody>
          <a:bodyPr/>
          <a:lstStyle/>
          <a:p>
            <a:r>
              <a:rPr lang="en-IN" dirty="0"/>
              <a:t>Write Boolean Expression</a:t>
            </a:r>
          </a:p>
        </p:txBody>
      </p:sp>
      <p:pic>
        <p:nvPicPr>
          <p:cNvPr id="4" name="Picture 3">
            <a:extLst>
              <a:ext uri="{FF2B5EF4-FFF2-40B4-BE49-F238E27FC236}">
                <a16:creationId xmlns:a16="http://schemas.microsoft.com/office/drawing/2014/main" id="{525924CF-0D12-C566-1366-3C7FA5B7EE42}"/>
              </a:ext>
            </a:extLst>
          </p:cNvPr>
          <p:cNvPicPr>
            <a:picLocks noChangeAspect="1"/>
          </p:cNvPicPr>
          <p:nvPr/>
        </p:nvPicPr>
        <p:blipFill>
          <a:blip r:embed="rId2"/>
          <a:stretch>
            <a:fillRect/>
          </a:stretch>
        </p:blipFill>
        <p:spPr>
          <a:xfrm>
            <a:off x="2909443" y="1733313"/>
            <a:ext cx="6373114" cy="3391373"/>
          </a:xfrm>
          <a:prstGeom prst="rect">
            <a:avLst/>
          </a:prstGeom>
        </p:spPr>
      </p:pic>
      <p:pic>
        <p:nvPicPr>
          <p:cNvPr id="8" name="Picture 7">
            <a:extLst>
              <a:ext uri="{FF2B5EF4-FFF2-40B4-BE49-F238E27FC236}">
                <a16:creationId xmlns:a16="http://schemas.microsoft.com/office/drawing/2014/main" id="{78F58CB4-6054-DBE1-E5B1-4FE876142C53}"/>
              </a:ext>
            </a:extLst>
          </p:cNvPr>
          <p:cNvPicPr>
            <a:picLocks noChangeAspect="1"/>
          </p:cNvPicPr>
          <p:nvPr/>
        </p:nvPicPr>
        <p:blipFill>
          <a:blip r:embed="rId3"/>
          <a:stretch>
            <a:fillRect/>
          </a:stretch>
        </p:blipFill>
        <p:spPr>
          <a:xfrm>
            <a:off x="8886364" y="2298675"/>
            <a:ext cx="3305636" cy="362001"/>
          </a:xfrm>
          <a:prstGeom prst="rect">
            <a:avLst/>
          </a:prstGeom>
        </p:spPr>
      </p:pic>
      <p:pic>
        <p:nvPicPr>
          <p:cNvPr id="10" name="Picture 9">
            <a:extLst>
              <a:ext uri="{FF2B5EF4-FFF2-40B4-BE49-F238E27FC236}">
                <a16:creationId xmlns:a16="http://schemas.microsoft.com/office/drawing/2014/main" id="{E554C1E7-1E0B-9B1A-ACB8-BAD618CC2EBE}"/>
              </a:ext>
            </a:extLst>
          </p:cNvPr>
          <p:cNvPicPr>
            <a:picLocks noChangeAspect="1"/>
          </p:cNvPicPr>
          <p:nvPr/>
        </p:nvPicPr>
        <p:blipFill>
          <a:blip r:embed="rId4"/>
          <a:stretch>
            <a:fillRect/>
          </a:stretch>
        </p:blipFill>
        <p:spPr>
          <a:xfrm>
            <a:off x="9123826" y="3588040"/>
            <a:ext cx="2448267" cy="390580"/>
          </a:xfrm>
          <a:prstGeom prst="rect">
            <a:avLst/>
          </a:prstGeom>
        </p:spPr>
      </p:pic>
    </p:spTree>
    <p:extLst>
      <p:ext uri="{BB962C8B-B14F-4D97-AF65-F5344CB8AC3E}">
        <p14:creationId xmlns:p14="http://schemas.microsoft.com/office/powerpoint/2010/main" val="233167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DAFE-A33D-1D68-6EEE-A4F878A37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CBBCE-6300-50E0-58D1-B914C84AA2A8}"/>
              </a:ext>
            </a:extLst>
          </p:cNvPr>
          <p:cNvSpPr>
            <a:spLocks noGrp="1"/>
          </p:cNvSpPr>
          <p:nvPr>
            <p:ph type="title"/>
          </p:nvPr>
        </p:nvSpPr>
        <p:spPr/>
        <p:txBody>
          <a:bodyPr/>
          <a:lstStyle/>
          <a:p>
            <a:r>
              <a:rPr lang="en-IN" dirty="0"/>
              <a:t>Write Boolean Expression</a:t>
            </a:r>
          </a:p>
        </p:txBody>
      </p:sp>
      <p:pic>
        <p:nvPicPr>
          <p:cNvPr id="5" name="Picture 4">
            <a:extLst>
              <a:ext uri="{FF2B5EF4-FFF2-40B4-BE49-F238E27FC236}">
                <a16:creationId xmlns:a16="http://schemas.microsoft.com/office/drawing/2014/main" id="{3187536F-4922-B552-7F84-4FEA19A52200}"/>
              </a:ext>
            </a:extLst>
          </p:cNvPr>
          <p:cNvPicPr>
            <a:picLocks noChangeAspect="1"/>
          </p:cNvPicPr>
          <p:nvPr/>
        </p:nvPicPr>
        <p:blipFill>
          <a:blip r:embed="rId2"/>
          <a:stretch>
            <a:fillRect/>
          </a:stretch>
        </p:blipFill>
        <p:spPr>
          <a:xfrm>
            <a:off x="2633251" y="1453447"/>
            <a:ext cx="5896798" cy="5039428"/>
          </a:xfrm>
          <a:prstGeom prst="rect">
            <a:avLst/>
          </a:prstGeom>
        </p:spPr>
      </p:pic>
    </p:spTree>
    <p:extLst>
      <p:ext uri="{BB962C8B-B14F-4D97-AF65-F5344CB8AC3E}">
        <p14:creationId xmlns:p14="http://schemas.microsoft.com/office/powerpoint/2010/main" val="2297581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EF48A-5658-9A89-679C-FB6CB87E6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0D048-AD3C-6057-576E-B2D1C422DDC3}"/>
              </a:ext>
            </a:extLst>
          </p:cNvPr>
          <p:cNvSpPr>
            <a:spLocks noGrp="1"/>
          </p:cNvSpPr>
          <p:nvPr>
            <p:ph type="title"/>
          </p:nvPr>
        </p:nvSpPr>
        <p:spPr/>
        <p:txBody>
          <a:bodyPr/>
          <a:lstStyle/>
          <a:p>
            <a:r>
              <a:rPr lang="en-IN" dirty="0"/>
              <a:t>Write Boolean Expression</a:t>
            </a:r>
          </a:p>
        </p:txBody>
      </p:sp>
      <p:pic>
        <p:nvPicPr>
          <p:cNvPr id="3" name="Picture 2">
            <a:extLst>
              <a:ext uri="{FF2B5EF4-FFF2-40B4-BE49-F238E27FC236}">
                <a16:creationId xmlns:a16="http://schemas.microsoft.com/office/drawing/2014/main" id="{DDE2F7FD-70EC-37C3-4E85-5195DD027BAC}"/>
              </a:ext>
            </a:extLst>
          </p:cNvPr>
          <p:cNvPicPr>
            <a:picLocks noChangeAspect="1"/>
          </p:cNvPicPr>
          <p:nvPr/>
        </p:nvPicPr>
        <p:blipFill>
          <a:blip r:embed="rId2"/>
          <a:stretch>
            <a:fillRect/>
          </a:stretch>
        </p:blipFill>
        <p:spPr>
          <a:xfrm>
            <a:off x="2579844" y="1690688"/>
            <a:ext cx="6849431" cy="4544059"/>
          </a:xfrm>
          <a:prstGeom prst="rect">
            <a:avLst/>
          </a:prstGeom>
        </p:spPr>
      </p:pic>
    </p:spTree>
    <p:extLst>
      <p:ext uri="{BB962C8B-B14F-4D97-AF65-F5344CB8AC3E}">
        <p14:creationId xmlns:p14="http://schemas.microsoft.com/office/powerpoint/2010/main" val="2158446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7BD36-C1C1-FEF6-2B7B-D1CE8F92E1AE}"/>
              </a:ext>
            </a:extLst>
          </p:cNvPr>
          <p:cNvSpPr>
            <a:spLocks noGrp="1"/>
          </p:cNvSpPr>
          <p:nvPr>
            <p:ph type="title"/>
          </p:nvPr>
        </p:nvSpPr>
        <p:spPr/>
        <p:txBody>
          <a:bodyPr/>
          <a:lstStyle/>
          <a:p>
            <a:endParaRPr lang="en-IN"/>
          </a:p>
        </p:txBody>
      </p:sp>
      <p:grpSp>
        <p:nvGrpSpPr>
          <p:cNvPr id="10" name="Group 9">
            <a:extLst>
              <a:ext uri="{FF2B5EF4-FFF2-40B4-BE49-F238E27FC236}">
                <a16:creationId xmlns:a16="http://schemas.microsoft.com/office/drawing/2014/main" id="{2B971045-60F2-811D-AE51-FA260B060286}"/>
              </a:ext>
            </a:extLst>
          </p:cNvPr>
          <p:cNvGrpSpPr/>
          <p:nvPr/>
        </p:nvGrpSpPr>
        <p:grpSpPr>
          <a:xfrm>
            <a:off x="838200" y="2013456"/>
            <a:ext cx="10183626" cy="3678684"/>
            <a:chOff x="885124" y="2002026"/>
            <a:chExt cx="10183626" cy="3678684"/>
          </a:xfrm>
        </p:grpSpPr>
        <p:pic>
          <p:nvPicPr>
            <p:cNvPr id="5" name="Picture 4">
              <a:extLst>
                <a:ext uri="{FF2B5EF4-FFF2-40B4-BE49-F238E27FC236}">
                  <a16:creationId xmlns:a16="http://schemas.microsoft.com/office/drawing/2014/main" id="{465B7563-CBEC-8B6B-FDB1-95011FE21AE2}"/>
                </a:ext>
              </a:extLst>
            </p:cNvPr>
            <p:cNvPicPr>
              <a:picLocks noChangeAspect="1"/>
            </p:cNvPicPr>
            <p:nvPr/>
          </p:nvPicPr>
          <p:blipFill>
            <a:blip r:embed="rId3"/>
            <a:stretch>
              <a:fillRect/>
            </a:stretch>
          </p:blipFill>
          <p:spPr>
            <a:xfrm>
              <a:off x="1075624" y="2002026"/>
              <a:ext cx="9993126" cy="3678684"/>
            </a:xfrm>
            <a:prstGeom prst="rect">
              <a:avLst/>
            </a:prstGeom>
          </p:spPr>
        </p:pic>
        <p:sp>
          <p:nvSpPr>
            <p:cNvPr id="6" name="Rectangle 5">
              <a:extLst>
                <a:ext uri="{FF2B5EF4-FFF2-40B4-BE49-F238E27FC236}">
                  <a16:creationId xmlns:a16="http://schemas.microsoft.com/office/drawing/2014/main" id="{15B63C39-0BC2-F244-6EB3-591E546E8535}"/>
                </a:ext>
              </a:extLst>
            </p:cNvPr>
            <p:cNvSpPr/>
            <p:nvPr/>
          </p:nvSpPr>
          <p:spPr>
            <a:xfrm>
              <a:off x="4800600" y="4106098"/>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d</a:t>
              </a:r>
            </a:p>
          </p:txBody>
        </p:sp>
        <p:sp>
          <p:nvSpPr>
            <p:cNvPr id="7" name="Rectangle 6">
              <a:extLst>
                <a:ext uri="{FF2B5EF4-FFF2-40B4-BE49-F238E27FC236}">
                  <a16:creationId xmlns:a16="http://schemas.microsoft.com/office/drawing/2014/main" id="{7D5039BD-C9EB-A940-8C08-1694575EDBEE}"/>
                </a:ext>
              </a:extLst>
            </p:cNvPr>
            <p:cNvSpPr/>
            <p:nvPr/>
          </p:nvSpPr>
          <p:spPr>
            <a:xfrm>
              <a:off x="1069909" y="4106098"/>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a:t>
              </a:r>
            </a:p>
          </p:txBody>
        </p:sp>
        <p:sp>
          <p:nvSpPr>
            <p:cNvPr id="8" name="Rectangle 7">
              <a:extLst>
                <a:ext uri="{FF2B5EF4-FFF2-40B4-BE49-F238E27FC236}">
                  <a16:creationId xmlns:a16="http://schemas.microsoft.com/office/drawing/2014/main" id="{6E4B0703-5E42-D647-DB62-910373C5C0A5}"/>
                </a:ext>
              </a:extLst>
            </p:cNvPr>
            <p:cNvSpPr/>
            <p:nvPr/>
          </p:nvSpPr>
          <p:spPr>
            <a:xfrm>
              <a:off x="885124" y="2322542"/>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a</a:t>
              </a:r>
            </a:p>
          </p:txBody>
        </p:sp>
        <p:sp>
          <p:nvSpPr>
            <p:cNvPr id="9" name="Rectangle 8">
              <a:extLst>
                <a:ext uri="{FF2B5EF4-FFF2-40B4-BE49-F238E27FC236}">
                  <a16:creationId xmlns:a16="http://schemas.microsoft.com/office/drawing/2014/main" id="{6F7D8B1B-9248-4887-5685-B078712E4A35}"/>
                </a:ext>
              </a:extLst>
            </p:cNvPr>
            <p:cNvSpPr/>
            <p:nvPr/>
          </p:nvSpPr>
          <p:spPr>
            <a:xfrm>
              <a:off x="4800600" y="2322542"/>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b</a:t>
              </a:r>
            </a:p>
          </p:txBody>
        </p:sp>
      </p:grpSp>
    </p:spTree>
    <p:extLst>
      <p:ext uri="{BB962C8B-B14F-4D97-AF65-F5344CB8AC3E}">
        <p14:creationId xmlns:p14="http://schemas.microsoft.com/office/powerpoint/2010/main" val="1637167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B51CDA-7E2A-049A-C238-BC899E9D4715}"/>
              </a:ext>
            </a:extLst>
          </p:cNvPr>
          <p:cNvPicPr>
            <a:picLocks noChangeAspect="1"/>
          </p:cNvPicPr>
          <p:nvPr/>
        </p:nvPicPr>
        <p:blipFill>
          <a:blip r:embed="rId3"/>
          <a:stretch>
            <a:fillRect/>
          </a:stretch>
        </p:blipFill>
        <p:spPr>
          <a:xfrm>
            <a:off x="6560820" y="1694719"/>
            <a:ext cx="3972290" cy="2542266"/>
          </a:xfrm>
          <a:prstGeom prst="rect">
            <a:avLst/>
          </a:prstGeom>
        </p:spPr>
      </p:pic>
      <p:pic>
        <p:nvPicPr>
          <p:cNvPr id="6" name="Picture 5">
            <a:extLst>
              <a:ext uri="{FF2B5EF4-FFF2-40B4-BE49-F238E27FC236}">
                <a16:creationId xmlns:a16="http://schemas.microsoft.com/office/drawing/2014/main" id="{0F9A0E37-04EA-B9DE-7C4B-273163693297}"/>
              </a:ext>
            </a:extLst>
          </p:cNvPr>
          <p:cNvPicPr>
            <a:picLocks noChangeAspect="1"/>
          </p:cNvPicPr>
          <p:nvPr/>
        </p:nvPicPr>
        <p:blipFill>
          <a:blip r:embed="rId4"/>
          <a:stretch>
            <a:fillRect/>
          </a:stretch>
        </p:blipFill>
        <p:spPr>
          <a:xfrm>
            <a:off x="1617909" y="1665911"/>
            <a:ext cx="3516192" cy="2211895"/>
          </a:xfrm>
          <a:prstGeom prst="rect">
            <a:avLst/>
          </a:prstGeom>
        </p:spPr>
      </p:pic>
      <p:pic>
        <p:nvPicPr>
          <p:cNvPr id="8" name="Picture 7">
            <a:extLst>
              <a:ext uri="{FF2B5EF4-FFF2-40B4-BE49-F238E27FC236}">
                <a16:creationId xmlns:a16="http://schemas.microsoft.com/office/drawing/2014/main" id="{F7351AAC-4596-A2FE-A495-B16709F49340}"/>
              </a:ext>
            </a:extLst>
          </p:cNvPr>
          <p:cNvPicPr>
            <a:picLocks noChangeAspect="1"/>
          </p:cNvPicPr>
          <p:nvPr/>
        </p:nvPicPr>
        <p:blipFill>
          <a:blip r:embed="rId5"/>
          <a:stretch>
            <a:fillRect/>
          </a:stretch>
        </p:blipFill>
        <p:spPr>
          <a:xfrm>
            <a:off x="1764030" y="4248415"/>
            <a:ext cx="4138590" cy="2211896"/>
          </a:xfrm>
          <a:prstGeom prst="rect">
            <a:avLst/>
          </a:prstGeom>
        </p:spPr>
      </p:pic>
      <p:pic>
        <p:nvPicPr>
          <p:cNvPr id="10" name="Picture 9">
            <a:extLst>
              <a:ext uri="{FF2B5EF4-FFF2-40B4-BE49-F238E27FC236}">
                <a16:creationId xmlns:a16="http://schemas.microsoft.com/office/drawing/2014/main" id="{8E23986B-9CD4-1E3C-C0C9-8F0B19615331}"/>
              </a:ext>
            </a:extLst>
          </p:cNvPr>
          <p:cNvPicPr>
            <a:picLocks noChangeAspect="1"/>
          </p:cNvPicPr>
          <p:nvPr/>
        </p:nvPicPr>
        <p:blipFill>
          <a:blip r:embed="rId6"/>
          <a:stretch>
            <a:fillRect/>
          </a:stretch>
        </p:blipFill>
        <p:spPr>
          <a:xfrm>
            <a:off x="6466501" y="4484524"/>
            <a:ext cx="3569040" cy="2310844"/>
          </a:xfrm>
          <a:prstGeom prst="rect">
            <a:avLst/>
          </a:prstGeom>
        </p:spPr>
      </p:pic>
      <p:pic>
        <p:nvPicPr>
          <p:cNvPr id="11" name="Content Placeholder 4">
            <a:extLst>
              <a:ext uri="{FF2B5EF4-FFF2-40B4-BE49-F238E27FC236}">
                <a16:creationId xmlns:a16="http://schemas.microsoft.com/office/drawing/2014/main" id="{C20D5165-41D8-EFA2-9AEB-22BB19A7F71C}"/>
              </a:ext>
            </a:extLst>
          </p:cNvPr>
          <p:cNvPicPr>
            <a:picLocks noGrp="1" noChangeAspect="1"/>
          </p:cNvPicPr>
          <p:nvPr>
            <p:ph idx="1"/>
          </p:nvPr>
        </p:nvPicPr>
        <p:blipFill>
          <a:blip r:embed="rId7"/>
          <a:stretch>
            <a:fillRect/>
          </a:stretch>
        </p:blipFill>
        <p:spPr>
          <a:xfrm>
            <a:off x="9425666" y="946870"/>
            <a:ext cx="1962424" cy="447737"/>
          </a:xfrm>
          <a:prstGeom prst="rect">
            <a:avLst/>
          </a:prstGeom>
        </p:spPr>
      </p:pic>
      <p:pic>
        <p:nvPicPr>
          <p:cNvPr id="12" name="Picture 11">
            <a:extLst>
              <a:ext uri="{FF2B5EF4-FFF2-40B4-BE49-F238E27FC236}">
                <a16:creationId xmlns:a16="http://schemas.microsoft.com/office/drawing/2014/main" id="{A97DA133-68C8-6F9E-90FA-ED5800F40296}"/>
              </a:ext>
            </a:extLst>
          </p:cNvPr>
          <p:cNvPicPr>
            <a:picLocks noChangeAspect="1"/>
          </p:cNvPicPr>
          <p:nvPr/>
        </p:nvPicPr>
        <p:blipFill>
          <a:blip r:embed="rId8"/>
          <a:srcRect t="518" r="13771" b="87829"/>
          <a:stretch>
            <a:fillRect/>
          </a:stretch>
        </p:blipFill>
        <p:spPr>
          <a:xfrm>
            <a:off x="706383" y="912580"/>
            <a:ext cx="8617016" cy="428704"/>
          </a:xfrm>
          <a:prstGeom prst="rect">
            <a:avLst/>
          </a:prstGeom>
        </p:spPr>
      </p:pic>
      <p:sp>
        <p:nvSpPr>
          <p:cNvPr id="13" name="Rectangle 12">
            <a:extLst>
              <a:ext uri="{FF2B5EF4-FFF2-40B4-BE49-F238E27FC236}">
                <a16:creationId xmlns:a16="http://schemas.microsoft.com/office/drawing/2014/main" id="{BA98A6C2-F9C4-D18A-DA9B-98F35D453274}"/>
              </a:ext>
            </a:extLst>
          </p:cNvPr>
          <p:cNvSpPr/>
          <p:nvPr/>
        </p:nvSpPr>
        <p:spPr>
          <a:xfrm>
            <a:off x="5902620" y="4248415"/>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d</a:t>
            </a:r>
          </a:p>
        </p:txBody>
      </p:sp>
      <p:sp>
        <p:nvSpPr>
          <p:cNvPr id="14" name="Rectangle 13">
            <a:extLst>
              <a:ext uri="{FF2B5EF4-FFF2-40B4-BE49-F238E27FC236}">
                <a16:creationId xmlns:a16="http://schemas.microsoft.com/office/drawing/2014/main" id="{AE646240-A65E-9744-F00D-CA50AD09F451}"/>
              </a:ext>
            </a:extLst>
          </p:cNvPr>
          <p:cNvSpPr/>
          <p:nvPr/>
        </p:nvSpPr>
        <p:spPr>
          <a:xfrm>
            <a:off x="1022985" y="4117528"/>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c</a:t>
            </a:r>
          </a:p>
        </p:txBody>
      </p:sp>
      <p:sp>
        <p:nvSpPr>
          <p:cNvPr id="15" name="Rectangle 14">
            <a:extLst>
              <a:ext uri="{FF2B5EF4-FFF2-40B4-BE49-F238E27FC236}">
                <a16:creationId xmlns:a16="http://schemas.microsoft.com/office/drawing/2014/main" id="{65280205-C4E3-75C4-3B45-F73BBCD650E2}"/>
              </a:ext>
            </a:extLst>
          </p:cNvPr>
          <p:cNvSpPr/>
          <p:nvPr/>
        </p:nvSpPr>
        <p:spPr>
          <a:xfrm>
            <a:off x="1022985" y="2234332"/>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a</a:t>
            </a:r>
          </a:p>
        </p:txBody>
      </p:sp>
      <p:sp>
        <p:nvSpPr>
          <p:cNvPr id="16" name="Rectangle 15">
            <a:extLst>
              <a:ext uri="{FF2B5EF4-FFF2-40B4-BE49-F238E27FC236}">
                <a16:creationId xmlns:a16="http://schemas.microsoft.com/office/drawing/2014/main" id="{1B3845F3-FAE0-7959-4D8F-14213BD1EF6C}"/>
              </a:ext>
            </a:extLst>
          </p:cNvPr>
          <p:cNvSpPr/>
          <p:nvPr/>
        </p:nvSpPr>
        <p:spPr>
          <a:xfrm>
            <a:off x="5902620" y="2464859"/>
            <a:ext cx="628650" cy="731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b</a:t>
            </a:r>
          </a:p>
        </p:txBody>
      </p:sp>
    </p:spTree>
    <p:extLst>
      <p:ext uri="{BB962C8B-B14F-4D97-AF65-F5344CB8AC3E}">
        <p14:creationId xmlns:p14="http://schemas.microsoft.com/office/powerpoint/2010/main" val="916671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EB69-B021-AD8D-E949-632D64A3BE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3CB9C8-DE3D-B7D4-E9A6-7F96D2E3C718}"/>
              </a:ext>
            </a:extLst>
          </p:cNvPr>
          <p:cNvSpPr>
            <a:spLocks noGrp="1"/>
          </p:cNvSpPr>
          <p:nvPr>
            <p:ph idx="1"/>
          </p:nvPr>
        </p:nvSpPr>
        <p:spPr/>
        <p:txBody>
          <a:bodyPr/>
          <a:lstStyle/>
          <a:p>
            <a:r>
              <a:rPr lang="en-US" dirty="0"/>
              <a:t>Find the complement of the expression: </a:t>
            </a:r>
            <a:r>
              <a:rPr lang="en-US" dirty="0" err="1"/>
              <a:t>x′y</a:t>
            </a:r>
            <a:r>
              <a:rPr lang="en-US" dirty="0"/>
              <a:t>+(</a:t>
            </a:r>
            <a:r>
              <a:rPr lang="en-US" dirty="0" err="1"/>
              <a:t>x+z</a:t>
            </a:r>
            <a:r>
              <a:rPr lang="en-US" dirty="0"/>
              <a:t>)(</a:t>
            </a:r>
            <a:r>
              <a:rPr lang="en-US" dirty="0" err="1"/>
              <a:t>x+y</a:t>
            </a:r>
            <a:r>
              <a:rPr lang="en-US" dirty="0"/>
              <a:t>′)</a:t>
            </a:r>
          </a:p>
          <a:p>
            <a:r>
              <a:rPr lang="en-US" dirty="0"/>
              <a:t>Find the dual of the expression: </a:t>
            </a:r>
            <a:r>
              <a:rPr lang="en-US" dirty="0" err="1"/>
              <a:t>x′y</a:t>
            </a:r>
            <a:r>
              <a:rPr lang="en-US" dirty="0"/>
              <a:t>+(</a:t>
            </a:r>
            <a:r>
              <a:rPr lang="en-US" dirty="0" err="1"/>
              <a:t>x+z</a:t>
            </a:r>
            <a:r>
              <a:rPr lang="en-US" dirty="0"/>
              <a:t>)(</a:t>
            </a:r>
            <a:r>
              <a:rPr lang="en-US" dirty="0" err="1"/>
              <a:t>x+y</a:t>
            </a:r>
            <a:r>
              <a:rPr lang="en-US" dirty="0"/>
              <a:t>′)</a:t>
            </a:r>
          </a:p>
          <a:p>
            <a:endParaRPr lang="en-IN" dirty="0"/>
          </a:p>
        </p:txBody>
      </p:sp>
    </p:spTree>
    <p:extLst>
      <p:ext uri="{BB962C8B-B14F-4D97-AF65-F5344CB8AC3E}">
        <p14:creationId xmlns:p14="http://schemas.microsoft.com/office/powerpoint/2010/main" val="314946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34ABC-7CB9-687A-348E-60EB62BCDCEB}"/>
              </a:ext>
            </a:extLst>
          </p:cNvPr>
          <p:cNvSpPr>
            <a:spLocks noGrp="1"/>
          </p:cNvSpPr>
          <p:nvPr>
            <p:ph type="title"/>
          </p:nvPr>
        </p:nvSpPr>
        <p:spPr/>
        <p:txBody>
          <a:bodyPr/>
          <a:lstStyle/>
          <a:p>
            <a:r>
              <a:rPr lang="en-IN" dirty="0" err="1"/>
              <a:t>Minterms</a:t>
            </a:r>
            <a:r>
              <a:rPr lang="en-IN" dirty="0"/>
              <a:t> and Maxterms</a:t>
            </a:r>
          </a:p>
        </p:txBody>
      </p:sp>
      <p:pic>
        <p:nvPicPr>
          <p:cNvPr id="5" name="Picture 4">
            <a:extLst>
              <a:ext uri="{FF2B5EF4-FFF2-40B4-BE49-F238E27FC236}">
                <a16:creationId xmlns:a16="http://schemas.microsoft.com/office/drawing/2014/main" id="{8F91D3F4-9AB6-0A56-5D27-5F11FD5BCA8C}"/>
              </a:ext>
            </a:extLst>
          </p:cNvPr>
          <p:cNvPicPr>
            <a:picLocks noChangeAspect="1"/>
          </p:cNvPicPr>
          <p:nvPr/>
        </p:nvPicPr>
        <p:blipFill>
          <a:blip r:embed="rId3"/>
          <a:stretch>
            <a:fillRect/>
          </a:stretch>
        </p:blipFill>
        <p:spPr>
          <a:xfrm>
            <a:off x="103939" y="1548710"/>
            <a:ext cx="11984122" cy="4944165"/>
          </a:xfrm>
          <a:prstGeom prst="rect">
            <a:avLst/>
          </a:prstGeom>
        </p:spPr>
      </p:pic>
    </p:spTree>
    <p:extLst>
      <p:ext uri="{BB962C8B-B14F-4D97-AF65-F5344CB8AC3E}">
        <p14:creationId xmlns:p14="http://schemas.microsoft.com/office/powerpoint/2010/main" val="3674428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4A49-AB72-1492-A588-5A222FF03409}"/>
              </a:ext>
            </a:extLst>
          </p:cNvPr>
          <p:cNvSpPr>
            <a:spLocks noGrp="1"/>
          </p:cNvSpPr>
          <p:nvPr>
            <p:ph type="title"/>
          </p:nvPr>
        </p:nvSpPr>
        <p:spPr/>
        <p:txBody>
          <a:bodyPr/>
          <a:lstStyle/>
          <a:p>
            <a:r>
              <a:rPr lang="en-IN" dirty="0" err="1"/>
              <a:t>Minterms</a:t>
            </a:r>
            <a:r>
              <a:rPr lang="en-IN" dirty="0"/>
              <a:t> and Maxterms</a:t>
            </a:r>
          </a:p>
        </p:txBody>
      </p:sp>
      <p:sp>
        <p:nvSpPr>
          <p:cNvPr id="3" name="Content Placeholder 2">
            <a:extLst>
              <a:ext uri="{FF2B5EF4-FFF2-40B4-BE49-F238E27FC236}">
                <a16:creationId xmlns:a16="http://schemas.microsoft.com/office/drawing/2014/main" id="{2C2E9C1A-8579-2EA1-E4C7-0A624741E74D}"/>
              </a:ext>
            </a:extLst>
          </p:cNvPr>
          <p:cNvSpPr>
            <a:spLocks noGrp="1"/>
          </p:cNvSpPr>
          <p:nvPr>
            <p:ph idx="1"/>
          </p:nvPr>
        </p:nvSpPr>
        <p:spPr>
          <a:xfrm>
            <a:off x="217170" y="1825625"/>
            <a:ext cx="4777740" cy="4351338"/>
          </a:xfrm>
        </p:spPr>
        <p:txBody>
          <a:bodyPr>
            <a:normAutofit/>
          </a:bodyPr>
          <a:lstStyle/>
          <a:p>
            <a:pPr algn="just"/>
            <a:r>
              <a:rPr lang="en-US" sz="2400" dirty="0"/>
              <a:t>A Boolean function can be expressed algebraically from a given truth table by forming a </a:t>
            </a:r>
            <a:r>
              <a:rPr lang="en-US" sz="2400" dirty="0" err="1"/>
              <a:t>minterm</a:t>
            </a:r>
            <a:r>
              <a:rPr lang="en-US" sz="2400" dirty="0"/>
              <a:t> for each combination of the variables that produces a 1 in the function and then taking the OR of all those terms.</a:t>
            </a:r>
            <a:endParaRPr lang="en-IN" sz="2400" dirty="0"/>
          </a:p>
        </p:txBody>
      </p:sp>
      <p:pic>
        <p:nvPicPr>
          <p:cNvPr id="5" name="Picture 4">
            <a:extLst>
              <a:ext uri="{FF2B5EF4-FFF2-40B4-BE49-F238E27FC236}">
                <a16:creationId xmlns:a16="http://schemas.microsoft.com/office/drawing/2014/main" id="{E4E8C9C0-4EF7-779B-4C88-C1181FE1C117}"/>
              </a:ext>
            </a:extLst>
          </p:cNvPr>
          <p:cNvPicPr>
            <a:picLocks noChangeAspect="1"/>
          </p:cNvPicPr>
          <p:nvPr/>
        </p:nvPicPr>
        <p:blipFill>
          <a:blip r:embed="rId2"/>
          <a:stretch>
            <a:fillRect/>
          </a:stretch>
        </p:blipFill>
        <p:spPr>
          <a:xfrm>
            <a:off x="5152043" y="1690688"/>
            <a:ext cx="7039957" cy="4391638"/>
          </a:xfrm>
          <a:prstGeom prst="rect">
            <a:avLst/>
          </a:prstGeom>
        </p:spPr>
      </p:pic>
      <p:pic>
        <p:nvPicPr>
          <p:cNvPr id="7" name="Picture 6">
            <a:extLst>
              <a:ext uri="{FF2B5EF4-FFF2-40B4-BE49-F238E27FC236}">
                <a16:creationId xmlns:a16="http://schemas.microsoft.com/office/drawing/2014/main" id="{CFDD09F8-77D5-96A2-66AD-ED2AE89E6424}"/>
              </a:ext>
            </a:extLst>
          </p:cNvPr>
          <p:cNvPicPr>
            <a:picLocks noChangeAspect="1"/>
          </p:cNvPicPr>
          <p:nvPr/>
        </p:nvPicPr>
        <p:blipFill>
          <a:blip r:embed="rId3"/>
          <a:srcRect r="40568"/>
          <a:stretch>
            <a:fillRect/>
          </a:stretch>
        </p:blipFill>
        <p:spPr>
          <a:xfrm>
            <a:off x="298639" y="4252868"/>
            <a:ext cx="3793301" cy="638264"/>
          </a:xfrm>
          <a:prstGeom prst="rect">
            <a:avLst/>
          </a:prstGeom>
        </p:spPr>
      </p:pic>
      <p:pic>
        <p:nvPicPr>
          <p:cNvPr id="8" name="Picture 7">
            <a:extLst>
              <a:ext uri="{FF2B5EF4-FFF2-40B4-BE49-F238E27FC236}">
                <a16:creationId xmlns:a16="http://schemas.microsoft.com/office/drawing/2014/main" id="{557DF8EB-4E6C-3064-314B-F3B5B36E5FA6}"/>
              </a:ext>
            </a:extLst>
          </p:cNvPr>
          <p:cNvPicPr>
            <a:picLocks noChangeAspect="1"/>
          </p:cNvPicPr>
          <p:nvPr/>
        </p:nvPicPr>
        <p:blipFill>
          <a:blip r:embed="rId3"/>
          <a:srcRect l="59432"/>
          <a:stretch>
            <a:fillRect/>
          </a:stretch>
        </p:blipFill>
        <p:spPr>
          <a:xfrm>
            <a:off x="716567" y="4706937"/>
            <a:ext cx="2589339" cy="638264"/>
          </a:xfrm>
          <a:prstGeom prst="rect">
            <a:avLst/>
          </a:prstGeom>
        </p:spPr>
      </p:pic>
      <p:pic>
        <p:nvPicPr>
          <p:cNvPr id="10" name="Picture 9">
            <a:extLst>
              <a:ext uri="{FF2B5EF4-FFF2-40B4-BE49-F238E27FC236}">
                <a16:creationId xmlns:a16="http://schemas.microsoft.com/office/drawing/2014/main" id="{1975CDD0-5DAE-42FF-E3AA-2F65F3A66BD7}"/>
              </a:ext>
            </a:extLst>
          </p:cNvPr>
          <p:cNvPicPr>
            <a:picLocks noChangeAspect="1"/>
          </p:cNvPicPr>
          <p:nvPr/>
        </p:nvPicPr>
        <p:blipFill>
          <a:blip r:embed="rId4"/>
          <a:stretch>
            <a:fillRect/>
          </a:stretch>
        </p:blipFill>
        <p:spPr>
          <a:xfrm>
            <a:off x="329247" y="5227608"/>
            <a:ext cx="4553585" cy="533474"/>
          </a:xfrm>
          <a:prstGeom prst="rect">
            <a:avLst/>
          </a:prstGeom>
        </p:spPr>
      </p:pic>
      <p:pic>
        <p:nvPicPr>
          <p:cNvPr id="12" name="Picture 11">
            <a:extLst>
              <a:ext uri="{FF2B5EF4-FFF2-40B4-BE49-F238E27FC236}">
                <a16:creationId xmlns:a16="http://schemas.microsoft.com/office/drawing/2014/main" id="{EB568D15-8AD0-F7A4-3D0A-EBF3DD119CE6}"/>
              </a:ext>
            </a:extLst>
          </p:cNvPr>
          <p:cNvPicPr>
            <a:picLocks noChangeAspect="1"/>
          </p:cNvPicPr>
          <p:nvPr/>
        </p:nvPicPr>
        <p:blipFill>
          <a:blip r:embed="rId5"/>
          <a:stretch>
            <a:fillRect/>
          </a:stretch>
        </p:blipFill>
        <p:spPr>
          <a:xfrm>
            <a:off x="729146" y="5681677"/>
            <a:ext cx="3362794" cy="352474"/>
          </a:xfrm>
          <a:prstGeom prst="rect">
            <a:avLst/>
          </a:prstGeom>
        </p:spPr>
      </p:pic>
      <p:sp>
        <p:nvSpPr>
          <p:cNvPr id="13" name="TextBox 12">
            <a:extLst>
              <a:ext uri="{FF2B5EF4-FFF2-40B4-BE49-F238E27FC236}">
                <a16:creationId xmlns:a16="http://schemas.microsoft.com/office/drawing/2014/main" id="{B9B88206-ED0E-8806-99C8-3E3701A93284}"/>
              </a:ext>
            </a:extLst>
          </p:cNvPr>
          <p:cNvSpPr txBox="1"/>
          <p:nvPr/>
        </p:nvSpPr>
        <p:spPr>
          <a:xfrm>
            <a:off x="329247" y="6144107"/>
            <a:ext cx="8301440" cy="461665"/>
          </a:xfrm>
          <a:prstGeom prst="rect">
            <a:avLst/>
          </a:prstGeom>
          <a:noFill/>
        </p:spPr>
        <p:txBody>
          <a:bodyPr wrap="none" rtlCol="0">
            <a:spAutoFit/>
          </a:bodyPr>
          <a:lstStyle/>
          <a:p>
            <a:r>
              <a:rPr lang="en-US" sz="2400" dirty="0"/>
              <a:t>Any Boolean function can be expressed as a sum of </a:t>
            </a:r>
            <a:r>
              <a:rPr lang="en-US" sz="2400" dirty="0" err="1"/>
              <a:t>minterms</a:t>
            </a:r>
            <a:endParaRPr lang="en-IN" sz="2400" dirty="0"/>
          </a:p>
        </p:txBody>
      </p:sp>
    </p:spTree>
    <p:extLst>
      <p:ext uri="{BB962C8B-B14F-4D97-AF65-F5344CB8AC3E}">
        <p14:creationId xmlns:p14="http://schemas.microsoft.com/office/powerpoint/2010/main" val="159160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E00AC-10CB-C83E-45E6-300F8CA1E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5A40F-13C4-2239-FABB-5F1CBA7EFD45}"/>
              </a:ext>
            </a:extLst>
          </p:cNvPr>
          <p:cNvSpPr>
            <a:spLocks noGrp="1"/>
          </p:cNvSpPr>
          <p:nvPr>
            <p:ph type="title"/>
          </p:nvPr>
        </p:nvSpPr>
        <p:spPr/>
        <p:txBody>
          <a:bodyPr/>
          <a:lstStyle/>
          <a:p>
            <a:r>
              <a:rPr lang="en-IN" dirty="0" err="1"/>
              <a:t>Minterms</a:t>
            </a:r>
            <a:r>
              <a:rPr lang="en-IN" dirty="0"/>
              <a:t> and Maxterms</a:t>
            </a:r>
          </a:p>
        </p:txBody>
      </p:sp>
      <p:pic>
        <p:nvPicPr>
          <p:cNvPr id="5" name="Picture 4">
            <a:extLst>
              <a:ext uri="{FF2B5EF4-FFF2-40B4-BE49-F238E27FC236}">
                <a16:creationId xmlns:a16="http://schemas.microsoft.com/office/drawing/2014/main" id="{5D2EB65F-C435-EC23-9CCC-C955424987F5}"/>
              </a:ext>
            </a:extLst>
          </p:cNvPr>
          <p:cNvPicPr>
            <a:picLocks noChangeAspect="1"/>
          </p:cNvPicPr>
          <p:nvPr/>
        </p:nvPicPr>
        <p:blipFill>
          <a:blip r:embed="rId3"/>
          <a:stretch>
            <a:fillRect/>
          </a:stretch>
        </p:blipFill>
        <p:spPr>
          <a:xfrm>
            <a:off x="7961028" y="0"/>
            <a:ext cx="4184191" cy="2610165"/>
          </a:xfrm>
          <a:prstGeom prst="rect">
            <a:avLst/>
          </a:prstGeom>
        </p:spPr>
      </p:pic>
      <p:pic>
        <p:nvPicPr>
          <p:cNvPr id="11" name="Picture 10">
            <a:extLst>
              <a:ext uri="{FF2B5EF4-FFF2-40B4-BE49-F238E27FC236}">
                <a16:creationId xmlns:a16="http://schemas.microsoft.com/office/drawing/2014/main" id="{4B54C734-B0B4-3105-4AD8-145D9C94926E}"/>
              </a:ext>
            </a:extLst>
          </p:cNvPr>
          <p:cNvPicPr>
            <a:picLocks noChangeAspect="1"/>
          </p:cNvPicPr>
          <p:nvPr/>
        </p:nvPicPr>
        <p:blipFill>
          <a:blip r:embed="rId4"/>
          <a:stretch>
            <a:fillRect/>
          </a:stretch>
        </p:blipFill>
        <p:spPr>
          <a:xfrm>
            <a:off x="46781" y="2648456"/>
            <a:ext cx="6049219" cy="485843"/>
          </a:xfrm>
          <a:prstGeom prst="rect">
            <a:avLst/>
          </a:prstGeom>
        </p:spPr>
      </p:pic>
      <p:pic>
        <p:nvPicPr>
          <p:cNvPr id="14" name="Picture 13">
            <a:extLst>
              <a:ext uri="{FF2B5EF4-FFF2-40B4-BE49-F238E27FC236}">
                <a16:creationId xmlns:a16="http://schemas.microsoft.com/office/drawing/2014/main" id="{F523AF10-E28B-4CD9-6E0B-875ED3AB04EB}"/>
              </a:ext>
            </a:extLst>
          </p:cNvPr>
          <p:cNvPicPr>
            <a:picLocks noChangeAspect="1"/>
          </p:cNvPicPr>
          <p:nvPr/>
        </p:nvPicPr>
        <p:blipFill>
          <a:blip r:embed="rId5"/>
          <a:srcRect r="40568"/>
          <a:stretch>
            <a:fillRect/>
          </a:stretch>
        </p:blipFill>
        <p:spPr>
          <a:xfrm>
            <a:off x="46781" y="1971901"/>
            <a:ext cx="3793301" cy="638264"/>
          </a:xfrm>
          <a:prstGeom prst="rect">
            <a:avLst/>
          </a:prstGeom>
        </p:spPr>
      </p:pic>
      <p:pic>
        <p:nvPicPr>
          <p:cNvPr id="16" name="Picture 15">
            <a:extLst>
              <a:ext uri="{FF2B5EF4-FFF2-40B4-BE49-F238E27FC236}">
                <a16:creationId xmlns:a16="http://schemas.microsoft.com/office/drawing/2014/main" id="{0CA02EB3-5A76-2949-550C-F781E35B8592}"/>
              </a:ext>
            </a:extLst>
          </p:cNvPr>
          <p:cNvPicPr>
            <a:picLocks noChangeAspect="1"/>
          </p:cNvPicPr>
          <p:nvPr/>
        </p:nvPicPr>
        <p:blipFill>
          <a:blip r:embed="rId6"/>
          <a:stretch>
            <a:fillRect/>
          </a:stretch>
        </p:blipFill>
        <p:spPr>
          <a:xfrm>
            <a:off x="0" y="3172590"/>
            <a:ext cx="10097909" cy="571580"/>
          </a:xfrm>
          <a:prstGeom prst="rect">
            <a:avLst/>
          </a:prstGeom>
        </p:spPr>
      </p:pic>
      <p:pic>
        <p:nvPicPr>
          <p:cNvPr id="18" name="Picture 17">
            <a:extLst>
              <a:ext uri="{FF2B5EF4-FFF2-40B4-BE49-F238E27FC236}">
                <a16:creationId xmlns:a16="http://schemas.microsoft.com/office/drawing/2014/main" id="{312B29ED-78BA-64B9-0FE0-727E3A77DEE2}"/>
              </a:ext>
            </a:extLst>
          </p:cNvPr>
          <p:cNvPicPr>
            <a:picLocks noChangeAspect="1"/>
          </p:cNvPicPr>
          <p:nvPr/>
        </p:nvPicPr>
        <p:blipFill>
          <a:blip r:embed="rId7"/>
          <a:stretch>
            <a:fillRect/>
          </a:stretch>
        </p:blipFill>
        <p:spPr>
          <a:xfrm>
            <a:off x="276263" y="3720540"/>
            <a:ext cx="3448531" cy="371527"/>
          </a:xfrm>
          <a:prstGeom prst="rect">
            <a:avLst/>
          </a:prstGeom>
        </p:spPr>
      </p:pic>
      <p:pic>
        <p:nvPicPr>
          <p:cNvPr id="20" name="Picture 19">
            <a:extLst>
              <a:ext uri="{FF2B5EF4-FFF2-40B4-BE49-F238E27FC236}">
                <a16:creationId xmlns:a16="http://schemas.microsoft.com/office/drawing/2014/main" id="{7EC3961C-F80F-F580-06ED-2F8B6AC62DCD}"/>
              </a:ext>
            </a:extLst>
          </p:cNvPr>
          <p:cNvPicPr>
            <a:picLocks noChangeAspect="1"/>
          </p:cNvPicPr>
          <p:nvPr/>
        </p:nvPicPr>
        <p:blipFill>
          <a:blip r:embed="rId8"/>
          <a:stretch>
            <a:fillRect/>
          </a:stretch>
        </p:blipFill>
        <p:spPr>
          <a:xfrm>
            <a:off x="0" y="4306595"/>
            <a:ext cx="8011643" cy="952633"/>
          </a:xfrm>
          <a:prstGeom prst="rect">
            <a:avLst/>
          </a:prstGeom>
        </p:spPr>
      </p:pic>
      <p:sp>
        <p:nvSpPr>
          <p:cNvPr id="21" name="TextBox 20">
            <a:extLst>
              <a:ext uri="{FF2B5EF4-FFF2-40B4-BE49-F238E27FC236}">
                <a16:creationId xmlns:a16="http://schemas.microsoft.com/office/drawing/2014/main" id="{AD5A3842-5BC9-984A-F19E-1302025B5919}"/>
              </a:ext>
            </a:extLst>
          </p:cNvPr>
          <p:cNvSpPr txBox="1"/>
          <p:nvPr/>
        </p:nvSpPr>
        <p:spPr>
          <a:xfrm>
            <a:off x="46781" y="5321808"/>
            <a:ext cx="8883907" cy="461665"/>
          </a:xfrm>
          <a:prstGeom prst="rect">
            <a:avLst/>
          </a:prstGeom>
          <a:noFill/>
        </p:spPr>
        <p:txBody>
          <a:bodyPr wrap="none" rtlCol="0">
            <a:spAutoFit/>
          </a:bodyPr>
          <a:lstStyle/>
          <a:p>
            <a:r>
              <a:rPr lang="en-US" sz="2400" dirty="0"/>
              <a:t>Any Boolean function can be expressed as a product of maxterms. </a:t>
            </a:r>
            <a:endParaRPr lang="en-IN" sz="2400" dirty="0"/>
          </a:p>
        </p:txBody>
      </p:sp>
      <p:pic>
        <p:nvPicPr>
          <p:cNvPr id="23" name="Picture 22">
            <a:extLst>
              <a:ext uri="{FF2B5EF4-FFF2-40B4-BE49-F238E27FC236}">
                <a16:creationId xmlns:a16="http://schemas.microsoft.com/office/drawing/2014/main" id="{9F090EA5-3364-B939-A58D-214737D81FF9}"/>
              </a:ext>
            </a:extLst>
          </p:cNvPr>
          <p:cNvPicPr>
            <a:picLocks noChangeAspect="1"/>
          </p:cNvPicPr>
          <p:nvPr/>
        </p:nvPicPr>
        <p:blipFill>
          <a:blip r:embed="rId9"/>
          <a:srcRect l="56835"/>
          <a:stretch>
            <a:fillRect/>
          </a:stretch>
        </p:blipFill>
        <p:spPr>
          <a:xfrm>
            <a:off x="8930688" y="3785616"/>
            <a:ext cx="3214531" cy="3072384"/>
          </a:xfrm>
          <a:prstGeom prst="rect">
            <a:avLst/>
          </a:prstGeom>
        </p:spPr>
      </p:pic>
      <p:sp>
        <p:nvSpPr>
          <p:cNvPr id="24" name="TextBox 23">
            <a:extLst>
              <a:ext uri="{FF2B5EF4-FFF2-40B4-BE49-F238E27FC236}">
                <a16:creationId xmlns:a16="http://schemas.microsoft.com/office/drawing/2014/main" id="{6066E6AF-B498-1D20-B02C-3232DDCBD892}"/>
              </a:ext>
            </a:extLst>
          </p:cNvPr>
          <p:cNvSpPr txBox="1"/>
          <p:nvPr/>
        </p:nvSpPr>
        <p:spPr>
          <a:xfrm>
            <a:off x="-1" y="5846053"/>
            <a:ext cx="8883907" cy="830997"/>
          </a:xfrm>
          <a:prstGeom prst="rect">
            <a:avLst/>
          </a:prstGeom>
          <a:noFill/>
        </p:spPr>
        <p:txBody>
          <a:bodyPr wrap="square" rtlCol="0">
            <a:spAutoFit/>
          </a:bodyPr>
          <a:lstStyle/>
          <a:p>
            <a:r>
              <a:rPr lang="en-US" sz="2400" b="1" dirty="0"/>
              <a:t>Boolean functions expressed as a sum of </a:t>
            </a:r>
            <a:r>
              <a:rPr lang="en-US" sz="2400" b="1" dirty="0" err="1"/>
              <a:t>minterms</a:t>
            </a:r>
            <a:r>
              <a:rPr lang="en-US" sz="2400" b="1" dirty="0"/>
              <a:t> or product of maxterms are said to be in canonical form.</a:t>
            </a:r>
            <a:endParaRPr lang="en-IN" sz="2400" b="1" dirty="0"/>
          </a:p>
        </p:txBody>
      </p:sp>
    </p:spTree>
    <p:extLst>
      <p:ext uri="{BB962C8B-B14F-4D97-AF65-F5344CB8AC3E}">
        <p14:creationId xmlns:p14="http://schemas.microsoft.com/office/powerpoint/2010/main" val="74375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52916-7D24-0BEA-95A6-F7E8486D6487}"/>
              </a:ext>
            </a:extLst>
          </p:cNvPr>
          <p:cNvSpPr>
            <a:spLocks noGrp="1"/>
          </p:cNvSpPr>
          <p:nvPr>
            <p:ph idx="1"/>
          </p:nvPr>
        </p:nvSpPr>
        <p:spPr>
          <a:xfrm>
            <a:off x="255270" y="556895"/>
            <a:ext cx="10515600" cy="563245"/>
          </a:xfrm>
        </p:spPr>
        <p:txBody>
          <a:bodyPr/>
          <a:lstStyle/>
          <a:p>
            <a:r>
              <a:rPr lang="en-US" dirty="0"/>
              <a:t>Express the Boolean function F = A + B′C as a sum of </a:t>
            </a:r>
            <a:r>
              <a:rPr lang="en-US" dirty="0" err="1"/>
              <a:t>minterms</a:t>
            </a:r>
            <a:r>
              <a:rPr lang="en-US" dirty="0"/>
              <a:t>. </a:t>
            </a:r>
            <a:endParaRPr lang="en-IN" dirty="0"/>
          </a:p>
        </p:txBody>
      </p:sp>
      <p:pic>
        <p:nvPicPr>
          <p:cNvPr id="5" name="Picture 4">
            <a:extLst>
              <a:ext uri="{FF2B5EF4-FFF2-40B4-BE49-F238E27FC236}">
                <a16:creationId xmlns:a16="http://schemas.microsoft.com/office/drawing/2014/main" id="{0237EB1B-8DF3-5FBD-84FF-8CF5EA39C19E}"/>
              </a:ext>
            </a:extLst>
          </p:cNvPr>
          <p:cNvPicPr>
            <a:picLocks noChangeAspect="1"/>
          </p:cNvPicPr>
          <p:nvPr/>
        </p:nvPicPr>
        <p:blipFill>
          <a:blip r:embed="rId2"/>
          <a:stretch>
            <a:fillRect/>
          </a:stretch>
        </p:blipFill>
        <p:spPr>
          <a:xfrm>
            <a:off x="493077" y="1202014"/>
            <a:ext cx="4553585" cy="590632"/>
          </a:xfrm>
          <a:prstGeom prst="rect">
            <a:avLst/>
          </a:prstGeom>
        </p:spPr>
      </p:pic>
      <p:pic>
        <p:nvPicPr>
          <p:cNvPr id="7" name="Picture 6">
            <a:extLst>
              <a:ext uri="{FF2B5EF4-FFF2-40B4-BE49-F238E27FC236}">
                <a16:creationId xmlns:a16="http://schemas.microsoft.com/office/drawing/2014/main" id="{0A932AB7-1B04-324B-CD4B-A2C9BF9550D0}"/>
              </a:ext>
            </a:extLst>
          </p:cNvPr>
          <p:cNvPicPr>
            <a:picLocks noChangeAspect="1"/>
          </p:cNvPicPr>
          <p:nvPr/>
        </p:nvPicPr>
        <p:blipFill>
          <a:blip r:embed="rId3"/>
          <a:stretch>
            <a:fillRect/>
          </a:stretch>
        </p:blipFill>
        <p:spPr>
          <a:xfrm>
            <a:off x="493077" y="1874520"/>
            <a:ext cx="5153744" cy="457264"/>
          </a:xfrm>
          <a:prstGeom prst="rect">
            <a:avLst/>
          </a:prstGeom>
        </p:spPr>
      </p:pic>
      <p:pic>
        <p:nvPicPr>
          <p:cNvPr id="9" name="Picture 8">
            <a:extLst>
              <a:ext uri="{FF2B5EF4-FFF2-40B4-BE49-F238E27FC236}">
                <a16:creationId xmlns:a16="http://schemas.microsoft.com/office/drawing/2014/main" id="{FD6287B8-1F99-6E17-CCE3-0418DAB88590}"/>
              </a:ext>
            </a:extLst>
          </p:cNvPr>
          <p:cNvPicPr>
            <a:picLocks noChangeAspect="1"/>
          </p:cNvPicPr>
          <p:nvPr/>
        </p:nvPicPr>
        <p:blipFill>
          <a:blip r:embed="rId4"/>
          <a:stretch>
            <a:fillRect/>
          </a:stretch>
        </p:blipFill>
        <p:spPr>
          <a:xfrm>
            <a:off x="968923" y="2364146"/>
            <a:ext cx="5172797" cy="409632"/>
          </a:xfrm>
          <a:prstGeom prst="rect">
            <a:avLst/>
          </a:prstGeom>
        </p:spPr>
      </p:pic>
      <p:pic>
        <p:nvPicPr>
          <p:cNvPr id="11" name="Picture 10">
            <a:extLst>
              <a:ext uri="{FF2B5EF4-FFF2-40B4-BE49-F238E27FC236}">
                <a16:creationId xmlns:a16="http://schemas.microsoft.com/office/drawing/2014/main" id="{09158376-ED5C-E8F5-09CD-8038DC4A0067}"/>
              </a:ext>
            </a:extLst>
          </p:cNvPr>
          <p:cNvPicPr>
            <a:picLocks noChangeAspect="1"/>
          </p:cNvPicPr>
          <p:nvPr/>
        </p:nvPicPr>
        <p:blipFill>
          <a:blip r:embed="rId5"/>
          <a:stretch>
            <a:fillRect/>
          </a:stretch>
        </p:blipFill>
        <p:spPr>
          <a:xfrm>
            <a:off x="493077" y="2956579"/>
            <a:ext cx="5906324" cy="619211"/>
          </a:xfrm>
          <a:prstGeom prst="rect">
            <a:avLst/>
          </a:prstGeom>
        </p:spPr>
      </p:pic>
      <p:pic>
        <p:nvPicPr>
          <p:cNvPr id="13" name="Picture 12">
            <a:extLst>
              <a:ext uri="{FF2B5EF4-FFF2-40B4-BE49-F238E27FC236}">
                <a16:creationId xmlns:a16="http://schemas.microsoft.com/office/drawing/2014/main" id="{3A34DE51-0A28-3529-F712-E68D52C3D319}"/>
              </a:ext>
            </a:extLst>
          </p:cNvPr>
          <p:cNvPicPr>
            <a:picLocks noChangeAspect="1"/>
          </p:cNvPicPr>
          <p:nvPr/>
        </p:nvPicPr>
        <p:blipFill>
          <a:blip r:embed="rId6"/>
          <a:stretch>
            <a:fillRect/>
          </a:stretch>
        </p:blipFill>
        <p:spPr>
          <a:xfrm>
            <a:off x="493077" y="3791081"/>
            <a:ext cx="6973273" cy="885949"/>
          </a:xfrm>
          <a:prstGeom prst="rect">
            <a:avLst/>
          </a:prstGeom>
        </p:spPr>
      </p:pic>
      <p:pic>
        <p:nvPicPr>
          <p:cNvPr id="15" name="Picture 14">
            <a:extLst>
              <a:ext uri="{FF2B5EF4-FFF2-40B4-BE49-F238E27FC236}">
                <a16:creationId xmlns:a16="http://schemas.microsoft.com/office/drawing/2014/main" id="{05CAFF6E-3FF8-3DC6-4E5B-72349FC7A362}"/>
              </a:ext>
            </a:extLst>
          </p:cNvPr>
          <p:cNvPicPr>
            <a:picLocks noChangeAspect="1"/>
          </p:cNvPicPr>
          <p:nvPr/>
        </p:nvPicPr>
        <p:blipFill>
          <a:blip r:embed="rId7"/>
          <a:stretch>
            <a:fillRect/>
          </a:stretch>
        </p:blipFill>
        <p:spPr>
          <a:xfrm>
            <a:off x="378761" y="4792905"/>
            <a:ext cx="7087589" cy="1066949"/>
          </a:xfrm>
          <a:prstGeom prst="rect">
            <a:avLst/>
          </a:prstGeom>
        </p:spPr>
      </p:pic>
      <p:pic>
        <p:nvPicPr>
          <p:cNvPr id="17" name="Picture 16">
            <a:extLst>
              <a:ext uri="{FF2B5EF4-FFF2-40B4-BE49-F238E27FC236}">
                <a16:creationId xmlns:a16="http://schemas.microsoft.com/office/drawing/2014/main" id="{F52B7A4F-1DA6-F531-D0E8-F2FD54DC969C}"/>
              </a:ext>
            </a:extLst>
          </p:cNvPr>
          <p:cNvPicPr>
            <a:picLocks noChangeAspect="1"/>
          </p:cNvPicPr>
          <p:nvPr/>
        </p:nvPicPr>
        <p:blipFill>
          <a:blip r:embed="rId8"/>
          <a:stretch>
            <a:fillRect/>
          </a:stretch>
        </p:blipFill>
        <p:spPr>
          <a:xfrm>
            <a:off x="493077" y="6092261"/>
            <a:ext cx="3972479" cy="543001"/>
          </a:xfrm>
          <a:prstGeom prst="rect">
            <a:avLst/>
          </a:prstGeom>
        </p:spPr>
      </p:pic>
      <p:pic>
        <p:nvPicPr>
          <p:cNvPr id="19" name="Picture 18">
            <a:extLst>
              <a:ext uri="{FF2B5EF4-FFF2-40B4-BE49-F238E27FC236}">
                <a16:creationId xmlns:a16="http://schemas.microsoft.com/office/drawing/2014/main" id="{674FC1AA-95E5-66CF-DFAC-26B4B3386D0E}"/>
              </a:ext>
            </a:extLst>
          </p:cNvPr>
          <p:cNvPicPr>
            <a:picLocks noChangeAspect="1"/>
          </p:cNvPicPr>
          <p:nvPr/>
        </p:nvPicPr>
        <p:blipFill>
          <a:blip r:embed="rId9"/>
          <a:stretch>
            <a:fillRect/>
          </a:stretch>
        </p:blipFill>
        <p:spPr>
          <a:xfrm>
            <a:off x="7772400" y="1362120"/>
            <a:ext cx="4223758" cy="3427106"/>
          </a:xfrm>
          <a:prstGeom prst="rect">
            <a:avLst/>
          </a:prstGeom>
        </p:spPr>
      </p:pic>
    </p:spTree>
    <p:extLst>
      <p:ext uri="{BB962C8B-B14F-4D97-AF65-F5344CB8AC3E}">
        <p14:creationId xmlns:p14="http://schemas.microsoft.com/office/powerpoint/2010/main" val="231992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60597-4B65-D9FA-CA0C-B63C9D29A8F5}"/>
              </a:ext>
            </a:extLst>
          </p:cNvPr>
          <p:cNvSpPr>
            <a:spLocks noGrp="1"/>
          </p:cNvSpPr>
          <p:nvPr>
            <p:ph idx="1"/>
          </p:nvPr>
        </p:nvSpPr>
        <p:spPr>
          <a:xfrm>
            <a:off x="335280" y="454025"/>
            <a:ext cx="11517630" cy="517525"/>
          </a:xfrm>
        </p:spPr>
        <p:txBody>
          <a:bodyPr/>
          <a:lstStyle/>
          <a:p>
            <a:r>
              <a:rPr lang="en-US" dirty="0"/>
              <a:t>Express the Boolean function F = </a:t>
            </a:r>
            <a:r>
              <a:rPr lang="en-US" dirty="0" err="1"/>
              <a:t>xy</a:t>
            </a:r>
            <a:r>
              <a:rPr lang="en-US" dirty="0"/>
              <a:t> + </a:t>
            </a:r>
            <a:r>
              <a:rPr lang="en-US" dirty="0" err="1"/>
              <a:t>x′z</a:t>
            </a:r>
            <a:r>
              <a:rPr lang="en-US" dirty="0"/>
              <a:t> as a product of maxterms.</a:t>
            </a:r>
            <a:endParaRPr lang="en-IN" dirty="0"/>
          </a:p>
        </p:txBody>
      </p:sp>
      <p:pic>
        <p:nvPicPr>
          <p:cNvPr id="5" name="Picture 4">
            <a:extLst>
              <a:ext uri="{FF2B5EF4-FFF2-40B4-BE49-F238E27FC236}">
                <a16:creationId xmlns:a16="http://schemas.microsoft.com/office/drawing/2014/main" id="{935A4C77-0812-3565-79EB-97C4F6431973}"/>
              </a:ext>
            </a:extLst>
          </p:cNvPr>
          <p:cNvPicPr>
            <a:picLocks noChangeAspect="1"/>
          </p:cNvPicPr>
          <p:nvPr/>
        </p:nvPicPr>
        <p:blipFill>
          <a:blip r:embed="rId2"/>
          <a:stretch>
            <a:fillRect/>
          </a:stretch>
        </p:blipFill>
        <p:spPr>
          <a:xfrm>
            <a:off x="335280" y="1123915"/>
            <a:ext cx="5029902" cy="495369"/>
          </a:xfrm>
          <a:prstGeom prst="rect">
            <a:avLst/>
          </a:prstGeom>
        </p:spPr>
      </p:pic>
      <p:pic>
        <p:nvPicPr>
          <p:cNvPr id="7" name="Picture 6">
            <a:extLst>
              <a:ext uri="{FF2B5EF4-FFF2-40B4-BE49-F238E27FC236}">
                <a16:creationId xmlns:a16="http://schemas.microsoft.com/office/drawing/2014/main" id="{7AEF1A29-A768-929F-A8AB-F21C219B33B7}"/>
              </a:ext>
            </a:extLst>
          </p:cNvPr>
          <p:cNvPicPr>
            <a:picLocks noChangeAspect="1"/>
          </p:cNvPicPr>
          <p:nvPr/>
        </p:nvPicPr>
        <p:blipFill>
          <a:blip r:embed="rId3"/>
          <a:stretch>
            <a:fillRect/>
          </a:stretch>
        </p:blipFill>
        <p:spPr>
          <a:xfrm>
            <a:off x="578774" y="1771649"/>
            <a:ext cx="4953691" cy="428685"/>
          </a:xfrm>
          <a:prstGeom prst="rect">
            <a:avLst/>
          </a:prstGeom>
        </p:spPr>
      </p:pic>
      <p:pic>
        <p:nvPicPr>
          <p:cNvPr id="9" name="Picture 8">
            <a:extLst>
              <a:ext uri="{FF2B5EF4-FFF2-40B4-BE49-F238E27FC236}">
                <a16:creationId xmlns:a16="http://schemas.microsoft.com/office/drawing/2014/main" id="{E0D5417D-52E3-CCA9-8F7C-6071D4A07BB4}"/>
              </a:ext>
            </a:extLst>
          </p:cNvPr>
          <p:cNvPicPr>
            <a:picLocks noChangeAspect="1"/>
          </p:cNvPicPr>
          <p:nvPr/>
        </p:nvPicPr>
        <p:blipFill>
          <a:blip r:embed="rId4"/>
          <a:stretch>
            <a:fillRect/>
          </a:stretch>
        </p:blipFill>
        <p:spPr>
          <a:xfrm>
            <a:off x="578774" y="2352699"/>
            <a:ext cx="3820058" cy="457264"/>
          </a:xfrm>
          <a:prstGeom prst="rect">
            <a:avLst/>
          </a:prstGeom>
        </p:spPr>
      </p:pic>
      <p:pic>
        <p:nvPicPr>
          <p:cNvPr id="11" name="Picture 10">
            <a:extLst>
              <a:ext uri="{FF2B5EF4-FFF2-40B4-BE49-F238E27FC236}">
                <a16:creationId xmlns:a16="http://schemas.microsoft.com/office/drawing/2014/main" id="{7801E326-C4E0-D718-3C06-1896C8E984C5}"/>
              </a:ext>
            </a:extLst>
          </p:cNvPr>
          <p:cNvPicPr>
            <a:picLocks noChangeAspect="1"/>
          </p:cNvPicPr>
          <p:nvPr/>
        </p:nvPicPr>
        <p:blipFill>
          <a:blip r:embed="rId5"/>
          <a:stretch>
            <a:fillRect/>
          </a:stretch>
        </p:blipFill>
        <p:spPr>
          <a:xfrm>
            <a:off x="99774" y="3195605"/>
            <a:ext cx="3419952" cy="466790"/>
          </a:xfrm>
          <a:prstGeom prst="rect">
            <a:avLst/>
          </a:prstGeom>
        </p:spPr>
      </p:pic>
      <p:pic>
        <p:nvPicPr>
          <p:cNvPr id="13" name="Picture 12">
            <a:extLst>
              <a:ext uri="{FF2B5EF4-FFF2-40B4-BE49-F238E27FC236}">
                <a16:creationId xmlns:a16="http://schemas.microsoft.com/office/drawing/2014/main" id="{BA15F013-A1C9-83BD-7EA2-94B5815E9D4B}"/>
              </a:ext>
            </a:extLst>
          </p:cNvPr>
          <p:cNvPicPr>
            <a:picLocks noChangeAspect="1"/>
          </p:cNvPicPr>
          <p:nvPr/>
        </p:nvPicPr>
        <p:blipFill>
          <a:blip r:embed="rId6"/>
          <a:stretch>
            <a:fillRect/>
          </a:stretch>
        </p:blipFill>
        <p:spPr>
          <a:xfrm>
            <a:off x="3519726" y="3266097"/>
            <a:ext cx="4163006" cy="419158"/>
          </a:xfrm>
          <a:prstGeom prst="rect">
            <a:avLst/>
          </a:prstGeom>
        </p:spPr>
      </p:pic>
      <p:pic>
        <p:nvPicPr>
          <p:cNvPr id="15" name="Picture 14">
            <a:extLst>
              <a:ext uri="{FF2B5EF4-FFF2-40B4-BE49-F238E27FC236}">
                <a16:creationId xmlns:a16="http://schemas.microsoft.com/office/drawing/2014/main" id="{4B2A5F24-F57F-C805-06F3-DC5D09E0BF14}"/>
              </a:ext>
            </a:extLst>
          </p:cNvPr>
          <p:cNvPicPr>
            <a:picLocks noChangeAspect="1"/>
          </p:cNvPicPr>
          <p:nvPr/>
        </p:nvPicPr>
        <p:blipFill>
          <a:blip r:embed="rId7"/>
          <a:stretch>
            <a:fillRect/>
          </a:stretch>
        </p:blipFill>
        <p:spPr>
          <a:xfrm>
            <a:off x="0" y="3788085"/>
            <a:ext cx="7363853" cy="362001"/>
          </a:xfrm>
          <a:prstGeom prst="rect">
            <a:avLst/>
          </a:prstGeom>
        </p:spPr>
      </p:pic>
      <p:pic>
        <p:nvPicPr>
          <p:cNvPr id="17" name="Picture 16">
            <a:extLst>
              <a:ext uri="{FF2B5EF4-FFF2-40B4-BE49-F238E27FC236}">
                <a16:creationId xmlns:a16="http://schemas.microsoft.com/office/drawing/2014/main" id="{3C1806EE-DA9E-1AFD-BD4F-A0082819EFEF}"/>
              </a:ext>
            </a:extLst>
          </p:cNvPr>
          <p:cNvPicPr>
            <a:picLocks noChangeAspect="1"/>
          </p:cNvPicPr>
          <p:nvPr/>
        </p:nvPicPr>
        <p:blipFill>
          <a:blip r:embed="rId8"/>
          <a:stretch>
            <a:fillRect/>
          </a:stretch>
        </p:blipFill>
        <p:spPr>
          <a:xfrm>
            <a:off x="185763" y="4313880"/>
            <a:ext cx="6992326" cy="362001"/>
          </a:xfrm>
          <a:prstGeom prst="rect">
            <a:avLst/>
          </a:prstGeom>
        </p:spPr>
      </p:pic>
      <p:pic>
        <p:nvPicPr>
          <p:cNvPr id="19" name="Picture 18">
            <a:extLst>
              <a:ext uri="{FF2B5EF4-FFF2-40B4-BE49-F238E27FC236}">
                <a16:creationId xmlns:a16="http://schemas.microsoft.com/office/drawing/2014/main" id="{EF038993-0DE1-68C0-7709-BE008F2FAD36}"/>
              </a:ext>
            </a:extLst>
          </p:cNvPr>
          <p:cNvPicPr>
            <a:picLocks noChangeAspect="1"/>
          </p:cNvPicPr>
          <p:nvPr/>
        </p:nvPicPr>
        <p:blipFill>
          <a:blip r:embed="rId9"/>
          <a:stretch>
            <a:fillRect/>
          </a:stretch>
        </p:blipFill>
        <p:spPr>
          <a:xfrm>
            <a:off x="99774" y="4739588"/>
            <a:ext cx="8011643" cy="552527"/>
          </a:xfrm>
          <a:prstGeom prst="rect">
            <a:avLst/>
          </a:prstGeom>
        </p:spPr>
      </p:pic>
      <p:pic>
        <p:nvPicPr>
          <p:cNvPr id="21" name="Picture 20">
            <a:extLst>
              <a:ext uri="{FF2B5EF4-FFF2-40B4-BE49-F238E27FC236}">
                <a16:creationId xmlns:a16="http://schemas.microsoft.com/office/drawing/2014/main" id="{CBAF8E06-03A9-299B-29C4-60331B81DABC}"/>
              </a:ext>
            </a:extLst>
          </p:cNvPr>
          <p:cNvPicPr>
            <a:picLocks noChangeAspect="1"/>
          </p:cNvPicPr>
          <p:nvPr/>
        </p:nvPicPr>
        <p:blipFill>
          <a:blip r:embed="rId10"/>
          <a:stretch>
            <a:fillRect/>
          </a:stretch>
        </p:blipFill>
        <p:spPr>
          <a:xfrm>
            <a:off x="548996" y="5265383"/>
            <a:ext cx="2076740" cy="504895"/>
          </a:xfrm>
          <a:prstGeom prst="rect">
            <a:avLst/>
          </a:prstGeom>
        </p:spPr>
      </p:pic>
      <p:pic>
        <p:nvPicPr>
          <p:cNvPr id="23" name="Picture 22">
            <a:extLst>
              <a:ext uri="{FF2B5EF4-FFF2-40B4-BE49-F238E27FC236}">
                <a16:creationId xmlns:a16="http://schemas.microsoft.com/office/drawing/2014/main" id="{971DD5B7-6293-8FC4-8767-C64F6535655B}"/>
              </a:ext>
            </a:extLst>
          </p:cNvPr>
          <p:cNvPicPr>
            <a:picLocks noChangeAspect="1"/>
          </p:cNvPicPr>
          <p:nvPr/>
        </p:nvPicPr>
        <p:blipFill>
          <a:blip r:embed="rId11"/>
          <a:stretch>
            <a:fillRect/>
          </a:stretch>
        </p:blipFill>
        <p:spPr>
          <a:xfrm>
            <a:off x="61921" y="5848283"/>
            <a:ext cx="3620005" cy="685896"/>
          </a:xfrm>
          <a:prstGeom prst="rect">
            <a:avLst/>
          </a:prstGeom>
        </p:spPr>
      </p:pic>
    </p:spTree>
    <p:extLst>
      <p:ext uri="{BB962C8B-B14F-4D97-AF65-F5344CB8AC3E}">
        <p14:creationId xmlns:p14="http://schemas.microsoft.com/office/powerpoint/2010/main" val="359981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079C6-EE28-8243-1C47-8900BF60CC84}"/>
              </a:ext>
            </a:extLst>
          </p:cNvPr>
          <p:cNvSpPr>
            <a:spLocks noGrp="1"/>
          </p:cNvSpPr>
          <p:nvPr>
            <p:ph type="title"/>
          </p:nvPr>
        </p:nvSpPr>
        <p:spPr/>
        <p:txBody>
          <a:bodyPr/>
          <a:lstStyle/>
          <a:p>
            <a:r>
              <a:rPr lang="en-IN" dirty="0"/>
              <a:t>Conversion between Canonical Forms</a:t>
            </a:r>
          </a:p>
        </p:txBody>
      </p:sp>
      <p:pic>
        <p:nvPicPr>
          <p:cNvPr id="5" name="Picture 4">
            <a:extLst>
              <a:ext uri="{FF2B5EF4-FFF2-40B4-BE49-F238E27FC236}">
                <a16:creationId xmlns:a16="http://schemas.microsoft.com/office/drawing/2014/main" id="{C902DB82-627A-CA09-5F85-C27EC7DC1262}"/>
              </a:ext>
            </a:extLst>
          </p:cNvPr>
          <p:cNvPicPr>
            <a:picLocks noChangeAspect="1"/>
          </p:cNvPicPr>
          <p:nvPr/>
        </p:nvPicPr>
        <p:blipFill>
          <a:blip r:embed="rId3"/>
          <a:stretch>
            <a:fillRect/>
          </a:stretch>
        </p:blipFill>
        <p:spPr>
          <a:xfrm>
            <a:off x="838200" y="1622108"/>
            <a:ext cx="3934374" cy="562053"/>
          </a:xfrm>
          <a:prstGeom prst="rect">
            <a:avLst/>
          </a:prstGeom>
        </p:spPr>
      </p:pic>
      <p:pic>
        <p:nvPicPr>
          <p:cNvPr id="7" name="Picture 6">
            <a:extLst>
              <a:ext uri="{FF2B5EF4-FFF2-40B4-BE49-F238E27FC236}">
                <a16:creationId xmlns:a16="http://schemas.microsoft.com/office/drawing/2014/main" id="{3159E85B-B2DA-DEEE-F9F9-0A8163A8AC3E}"/>
              </a:ext>
            </a:extLst>
          </p:cNvPr>
          <p:cNvPicPr>
            <a:picLocks noChangeAspect="1"/>
          </p:cNvPicPr>
          <p:nvPr/>
        </p:nvPicPr>
        <p:blipFill>
          <a:blip r:embed="rId4"/>
          <a:stretch>
            <a:fillRect/>
          </a:stretch>
        </p:blipFill>
        <p:spPr>
          <a:xfrm>
            <a:off x="838200" y="2274530"/>
            <a:ext cx="5973009" cy="571580"/>
          </a:xfrm>
          <a:prstGeom prst="rect">
            <a:avLst/>
          </a:prstGeom>
        </p:spPr>
      </p:pic>
      <p:pic>
        <p:nvPicPr>
          <p:cNvPr id="9" name="Picture 8">
            <a:extLst>
              <a:ext uri="{FF2B5EF4-FFF2-40B4-BE49-F238E27FC236}">
                <a16:creationId xmlns:a16="http://schemas.microsoft.com/office/drawing/2014/main" id="{4EDB9B81-8594-C841-F058-4486DC46823F}"/>
              </a:ext>
            </a:extLst>
          </p:cNvPr>
          <p:cNvPicPr>
            <a:picLocks noChangeAspect="1"/>
          </p:cNvPicPr>
          <p:nvPr/>
        </p:nvPicPr>
        <p:blipFill>
          <a:blip r:embed="rId5"/>
          <a:stretch>
            <a:fillRect/>
          </a:stretch>
        </p:blipFill>
        <p:spPr>
          <a:xfrm>
            <a:off x="641372" y="2947671"/>
            <a:ext cx="8783276" cy="638264"/>
          </a:xfrm>
          <a:prstGeom prst="rect">
            <a:avLst/>
          </a:prstGeom>
        </p:spPr>
      </p:pic>
      <p:sp>
        <p:nvSpPr>
          <p:cNvPr id="10" name="TextBox 9">
            <a:extLst>
              <a:ext uri="{FF2B5EF4-FFF2-40B4-BE49-F238E27FC236}">
                <a16:creationId xmlns:a16="http://schemas.microsoft.com/office/drawing/2014/main" id="{1D7E5413-10A8-C439-0F9C-5909E8ECBCC7}"/>
              </a:ext>
            </a:extLst>
          </p:cNvPr>
          <p:cNvSpPr txBox="1"/>
          <p:nvPr/>
        </p:nvSpPr>
        <p:spPr>
          <a:xfrm>
            <a:off x="422910" y="4103093"/>
            <a:ext cx="11144250" cy="830997"/>
          </a:xfrm>
          <a:prstGeom prst="rect">
            <a:avLst/>
          </a:prstGeom>
          <a:noFill/>
        </p:spPr>
        <p:txBody>
          <a:bodyPr wrap="square" rtlCol="0">
            <a:spAutoFit/>
          </a:bodyPr>
          <a:lstStyle/>
          <a:p>
            <a:r>
              <a:rPr lang="en-US" sz="2400" dirty="0"/>
              <a:t>That is, the maxterm with subscript j is a complement of the </a:t>
            </a:r>
            <a:r>
              <a:rPr lang="en-US" sz="2400" dirty="0" err="1"/>
              <a:t>minterm</a:t>
            </a:r>
            <a:r>
              <a:rPr lang="en-US" sz="2400" dirty="0"/>
              <a:t> with the same subscript j and vice versa.</a:t>
            </a:r>
            <a:endParaRPr lang="en-IN" sz="2400" dirty="0"/>
          </a:p>
        </p:txBody>
      </p:sp>
      <p:pic>
        <p:nvPicPr>
          <p:cNvPr id="12" name="Picture 11">
            <a:extLst>
              <a:ext uri="{FF2B5EF4-FFF2-40B4-BE49-F238E27FC236}">
                <a16:creationId xmlns:a16="http://schemas.microsoft.com/office/drawing/2014/main" id="{8D7802E5-57FD-8B05-5CA5-DF0D2889A9E7}"/>
              </a:ext>
            </a:extLst>
          </p:cNvPr>
          <p:cNvPicPr>
            <a:picLocks noChangeAspect="1"/>
          </p:cNvPicPr>
          <p:nvPr/>
        </p:nvPicPr>
        <p:blipFill>
          <a:blip r:embed="rId6"/>
          <a:stretch>
            <a:fillRect/>
          </a:stretch>
        </p:blipFill>
        <p:spPr>
          <a:xfrm>
            <a:off x="2620228" y="3662860"/>
            <a:ext cx="1419423" cy="638264"/>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35FBCBD-6420-AF19-45DB-8BAA6592101F}"/>
                  </a:ext>
                </a:extLst>
              </p:cNvPr>
              <p:cNvSpPr txBox="1"/>
              <p:nvPr/>
            </p:nvSpPr>
            <p:spPr>
              <a:xfrm>
                <a:off x="422910" y="5075010"/>
                <a:ext cx="11658600" cy="1569660"/>
              </a:xfrm>
              <a:prstGeom prst="rect">
                <a:avLst/>
              </a:prstGeom>
              <a:noFill/>
            </p:spPr>
            <p:txBody>
              <a:bodyPr wrap="square" rtlCol="0">
                <a:spAutoFit/>
              </a:bodyPr>
              <a:lstStyle/>
              <a:p>
                <a:r>
                  <a:rPr lang="en-US" sz="2400" dirty="0"/>
                  <a:t>To convert from one canonical form to another, interchange the symbols Σ and Π and list those numbers missing from the original form. In order to find the missing terms, one must realize that the total number of </a:t>
                </a:r>
                <a:r>
                  <a:rPr lang="en-US" sz="2400" dirty="0" err="1"/>
                  <a:t>minterms</a:t>
                </a:r>
                <a:r>
                  <a:rPr lang="en-US" sz="2400" dirty="0"/>
                  <a:t> or maxterms is </a:t>
                </a:r>
                <a14:m>
                  <m:oMath xmlns:m="http://schemas.openxmlformats.org/officeDocument/2006/math">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2</m:t>
                        </m:r>
                      </m:e>
                      <m:sup>
                        <m:r>
                          <a:rPr lang="en-IN" sz="2400" b="0" i="1" smtClean="0">
                            <a:latin typeface="Cambria Math" panose="02040503050406030204" pitchFamily="18" charset="0"/>
                          </a:rPr>
                          <m:t>𝑛</m:t>
                        </m:r>
                      </m:sup>
                    </m:sSup>
                  </m:oMath>
                </a14:m>
                <a:r>
                  <a:rPr lang="en-US" sz="2400" dirty="0"/>
                  <a:t>, where n is the number of binary variables in the function.</a:t>
                </a:r>
                <a:endParaRPr lang="en-IN" sz="2400" dirty="0"/>
              </a:p>
            </p:txBody>
          </p:sp>
        </mc:Choice>
        <mc:Fallback xmlns="">
          <p:sp>
            <p:nvSpPr>
              <p:cNvPr id="13" name="TextBox 12">
                <a:extLst>
                  <a:ext uri="{FF2B5EF4-FFF2-40B4-BE49-F238E27FC236}">
                    <a16:creationId xmlns:a16="http://schemas.microsoft.com/office/drawing/2014/main" id="{D35FBCBD-6420-AF19-45DB-8BAA6592101F}"/>
                  </a:ext>
                </a:extLst>
              </p:cNvPr>
              <p:cNvSpPr txBox="1">
                <a:spLocks noRot="1" noChangeAspect="1" noMove="1" noResize="1" noEditPoints="1" noAdjustHandles="1" noChangeArrowheads="1" noChangeShapeType="1" noTextEdit="1"/>
              </p:cNvSpPr>
              <p:nvPr/>
            </p:nvSpPr>
            <p:spPr>
              <a:xfrm>
                <a:off x="422910" y="5075010"/>
                <a:ext cx="11658600" cy="1569660"/>
              </a:xfrm>
              <a:prstGeom prst="rect">
                <a:avLst/>
              </a:prstGeom>
              <a:blipFill>
                <a:blip r:embed="rId7"/>
                <a:stretch>
                  <a:fillRect l="-784" t="-3113" r="-1202" b="-8171"/>
                </a:stretch>
              </a:blipFill>
            </p:spPr>
            <p:txBody>
              <a:bodyPr/>
              <a:lstStyle/>
              <a:p>
                <a:r>
                  <a:rPr lang="en-IN">
                    <a:noFill/>
                  </a:rPr>
                  <a:t> </a:t>
                </a:r>
              </a:p>
            </p:txBody>
          </p:sp>
        </mc:Fallback>
      </mc:AlternateContent>
    </p:spTree>
    <p:extLst>
      <p:ext uri="{BB962C8B-B14F-4D97-AF65-F5344CB8AC3E}">
        <p14:creationId xmlns:p14="http://schemas.microsoft.com/office/powerpoint/2010/main" val="135795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22A218-FE5F-2493-4460-AF5AC31A3FB5}"/>
              </a:ext>
            </a:extLst>
          </p:cNvPr>
          <p:cNvSpPr>
            <a:spLocks noGrp="1"/>
          </p:cNvSpPr>
          <p:nvPr>
            <p:ph idx="1"/>
          </p:nvPr>
        </p:nvSpPr>
        <p:spPr>
          <a:xfrm>
            <a:off x="461010" y="682625"/>
            <a:ext cx="2282190" cy="597535"/>
          </a:xfrm>
        </p:spPr>
        <p:txBody>
          <a:bodyPr/>
          <a:lstStyle/>
          <a:p>
            <a:r>
              <a:rPr lang="en-IN" dirty="0"/>
              <a:t>F = </a:t>
            </a:r>
            <a:r>
              <a:rPr lang="en-IN" dirty="0" err="1"/>
              <a:t>xy</a:t>
            </a:r>
            <a:r>
              <a:rPr lang="en-IN" dirty="0"/>
              <a:t> + </a:t>
            </a:r>
            <a:r>
              <a:rPr lang="en-IN" dirty="0" err="1"/>
              <a:t>x′z</a:t>
            </a:r>
            <a:endParaRPr lang="en-IN" dirty="0"/>
          </a:p>
        </p:txBody>
      </p:sp>
      <p:grpSp>
        <p:nvGrpSpPr>
          <p:cNvPr id="2" name="Group 1">
            <a:extLst>
              <a:ext uri="{FF2B5EF4-FFF2-40B4-BE49-F238E27FC236}">
                <a16:creationId xmlns:a16="http://schemas.microsoft.com/office/drawing/2014/main" id="{64C68A36-1ABA-D7A9-5199-68F29A4AE655}"/>
              </a:ext>
            </a:extLst>
          </p:cNvPr>
          <p:cNvGrpSpPr/>
          <p:nvPr/>
        </p:nvGrpSpPr>
        <p:grpSpPr>
          <a:xfrm>
            <a:off x="5185136" y="861654"/>
            <a:ext cx="4038874" cy="5134692"/>
            <a:chOff x="5185136" y="861654"/>
            <a:chExt cx="4038874" cy="5134692"/>
          </a:xfrm>
        </p:grpSpPr>
        <p:pic>
          <p:nvPicPr>
            <p:cNvPr id="5" name="Picture 4">
              <a:extLst>
                <a:ext uri="{FF2B5EF4-FFF2-40B4-BE49-F238E27FC236}">
                  <a16:creationId xmlns:a16="http://schemas.microsoft.com/office/drawing/2014/main" id="{1082CB36-D78F-6D6C-6DC1-040C4AAED7D4}"/>
                </a:ext>
              </a:extLst>
            </p:cNvPr>
            <p:cNvPicPr>
              <a:picLocks noChangeAspect="1"/>
            </p:cNvPicPr>
            <p:nvPr/>
          </p:nvPicPr>
          <p:blipFill>
            <a:blip r:embed="rId2"/>
            <a:stretch>
              <a:fillRect/>
            </a:stretch>
          </p:blipFill>
          <p:spPr>
            <a:xfrm>
              <a:off x="5185136" y="861654"/>
              <a:ext cx="3924848" cy="5134692"/>
            </a:xfrm>
            <a:prstGeom prst="rect">
              <a:avLst/>
            </a:prstGeom>
          </p:spPr>
        </p:pic>
        <p:sp>
          <p:nvSpPr>
            <p:cNvPr id="6" name="Rectangle 5">
              <a:extLst>
                <a:ext uri="{FF2B5EF4-FFF2-40B4-BE49-F238E27FC236}">
                  <a16:creationId xmlns:a16="http://schemas.microsoft.com/office/drawing/2014/main" id="{D5876469-FCB7-72AB-02F0-97FDDD6CFC61}"/>
                </a:ext>
              </a:extLst>
            </p:cNvPr>
            <p:cNvSpPr/>
            <p:nvPr/>
          </p:nvSpPr>
          <p:spPr>
            <a:xfrm>
              <a:off x="8732520" y="2114550"/>
              <a:ext cx="491490" cy="36690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8" name="Picture 7">
            <a:extLst>
              <a:ext uri="{FF2B5EF4-FFF2-40B4-BE49-F238E27FC236}">
                <a16:creationId xmlns:a16="http://schemas.microsoft.com/office/drawing/2014/main" id="{7F92287C-B806-DE4E-2E35-D4A01B5F5C96}"/>
              </a:ext>
            </a:extLst>
          </p:cNvPr>
          <p:cNvPicPr>
            <a:picLocks noChangeAspect="1"/>
          </p:cNvPicPr>
          <p:nvPr/>
        </p:nvPicPr>
        <p:blipFill>
          <a:blip r:embed="rId3"/>
          <a:stretch>
            <a:fillRect/>
          </a:stretch>
        </p:blipFill>
        <p:spPr>
          <a:xfrm>
            <a:off x="8732520" y="1936074"/>
            <a:ext cx="3505689" cy="3581900"/>
          </a:xfrm>
          <a:prstGeom prst="rect">
            <a:avLst/>
          </a:prstGeom>
        </p:spPr>
      </p:pic>
      <p:pic>
        <p:nvPicPr>
          <p:cNvPr id="10" name="Picture 9">
            <a:extLst>
              <a:ext uri="{FF2B5EF4-FFF2-40B4-BE49-F238E27FC236}">
                <a16:creationId xmlns:a16="http://schemas.microsoft.com/office/drawing/2014/main" id="{64B6D25C-6B2A-37D6-36C5-D8E00A7AF129}"/>
              </a:ext>
            </a:extLst>
          </p:cNvPr>
          <p:cNvPicPr>
            <a:picLocks noChangeAspect="1"/>
          </p:cNvPicPr>
          <p:nvPr/>
        </p:nvPicPr>
        <p:blipFill>
          <a:blip r:embed="rId4"/>
          <a:stretch>
            <a:fillRect/>
          </a:stretch>
        </p:blipFill>
        <p:spPr>
          <a:xfrm>
            <a:off x="461010" y="1936074"/>
            <a:ext cx="4820323" cy="1543265"/>
          </a:xfrm>
          <a:prstGeom prst="rect">
            <a:avLst/>
          </a:prstGeom>
        </p:spPr>
      </p:pic>
      <p:pic>
        <p:nvPicPr>
          <p:cNvPr id="12" name="Picture 11">
            <a:extLst>
              <a:ext uri="{FF2B5EF4-FFF2-40B4-BE49-F238E27FC236}">
                <a16:creationId xmlns:a16="http://schemas.microsoft.com/office/drawing/2014/main" id="{05AC37E0-1E41-FA7C-D075-526829C4FB42}"/>
              </a:ext>
            </a:extLst>
          </p:cNvPr>
          <p:cNvPicPr>
            <a:picLocks noChangeAspect="1"/>
          </p:cNvPicPr>
          <p:nvPr/>
        </p:nvPicPr>
        <p:blipFill>
          <a:blip r:embed="rId5"/>
          <a:stretch>
            <a:fillRect/>
          </a:stretch>
        </p:blipFill>
        <p:spPr>
          <a:xfrm>
            <a:off x="461010" y="3831886"/>
            <a:ext cx="3515216" cy="619211"/>
          </a:xfrm>
          <a:prstGeom prst="rect">
            <a:avLst/>
          </a:prstGeom>
        </p:spPr>
      </p:pic>
    </p:spTree>
    <p:extLst>
      <p:ext uri="{BB962C8B-B14F-4D97-AF65-F5344CB8AC3E}">
        <p14:creationId xmlns:p14="http://schemas.microsoft.com/office/powerpoint/2010/main" val="300189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0B4A8-74CB-E6EE-19AE-66F764C09BDA}"/>
              </a:ext>
            </a:extLst>
          </p:cNvPr>
          <p:cNvSpPr>
            <a:spLocks noGrp="1"/>
          </p:cNvSpPr>
          <p:nvPr>
            <p:ph type="title"/>
          </p:nvPr>
        </p:nvSpPr>
        <p:spPr/>
        <p:txBody>
          <a:bodyPr/>
          <a:lstStyle/>
          <a:p>
            <a:r>
              <a:rPr lang="en-IN" dirty="0"/>
              <a:t>Standard Forms</a:t>
            </a:r>
          </a:p>
        </p:txBody>
      </p:sp>
      <p:sp>
        <p:nvSpPr>
          <p:cNvPr id="3" name="Content Placeholder 2">
            <a:extLst>
              <a:ext uri="{FF2B5EF4-FFF2-40B4-BE49-F238E27FC236}">
                <a16:creationId xmlns:a16="http://schemas.microsoft.com/office/drawing/2014/main" id="{BC2931A4-6C55-4DF4-9FC6-7E6516058603}"/>
              </a:ext>
            </a:extLst>
          </p:cNvPr>
          <p:cNvSpPr>
            <a:spLocks noGrp="1"/>
          </p:cNvSpPr>
          <p:nvPr>
            <p:ph idx="1"/>
          </p:nvPr>
        </p:nvSpPr>
        <p:spPr>
          <a:xfrm>
            <a:off x="838200" y="1825626"/>
            <a:ext cx="3048000" cy="571580"/>
          </a:xfrm>
        </p:spPr>
        <p:txBody>
          <a:bodyPr>
            <a:normAutofit/>
          </a:bodyPr>
          <a:lstStyle/>
          <a:p>
            <a:r>
              <a:rPr lang="en-US" dirty="0"/>
              <a:t>Sum of products. </a:t>
            </a:r>
          </a:p>
        </p:txBody>
      </p:sp>
      <p:pic>
        <p:nvPicPr>
          <p:cNvPr id="5" name="Picture 4">
            <a:extLst>
              <a:ext uri="{FF2B5EF4-FFF2-40B4-BE49-F238E27FC236}">
                <a16:creationId xmlns:a16="http://schemas.microsoft.com/office/drawing/2014/main" id="{22622414-570D-4BF9-5728-1BF9745EA2E6}"/>
              </a:ext>
            </a:extLst>
          </p:cNvPr>
          <p:cNvPicPr>
            <a:picLocks noChangeAspect="1"/>
          </p:cNvPicPr>
          <p:nvPr/>
        </p:nvPicPr>
        <p:blipFill>
          <a:blip r:embed="rId2"/>
          <a:stretch>
            <a:fillRect/>
          </a:stretch>
        </p:blipFill>
        <p:spPr>
          <a:xfrm>
            <a:off x="838200" y="2532144"/>
            <a:ext cx="3172268" cy="571580"/>
          </a:xfrm>
          <a:prstGeom prst="rect">
            <a:avLst/>
          </a:prstGeom>
        </p:spPr>
      </p:pic>
      <p:pic>
        <p:nvPicPr>
          <p:cNvPr id="7" name="Picture 6">
            <a:extLst>
              <a:ext uri="{FF2B5EF4-FFF2-40B4-BE49-F238E27FC236}">
                <a16:creationId xmlns:a16="http://schemas.microsoft.com/office/drawing/2014/main" id="{DFB00CA9-2E5D-FE65-0024-7250A81FFC60}"/>
              </a:ext>
            </a:extLst>
          </p:cNvPr>
          <p:cNvPicPr>
            <a:picLocks noChangeAspect="1"/>
          </p:cNvPicPr>
          <p:nvPr/>
        </p:nvPicPr>
        <p:blipFill>
          <a:blip r:embed="rId3"/>
          <a:stretch>
            <a:fillRect/>
          </a:stretch>
        </p:blipFill>
        <p:spPr>
          <a:xfrm>
            <a:off x="399255" y="3474641"/>
            <a:ext cx="5696745" cy="3105583"/>
          </a:xfrm>
          <a:prstGeom prst="rect">
            <a:avLst/>
          </a:prstGeom>
        </p:spPr>
      </p:pic>
      <p:sp>
        <p:nvSpPr>
          <p:cNvPr id="8" name="Content Placeholder 2">
            <a:extLst>
              <a:ext uri="{FF2B5EF4-FFF2-40B4-BE49-F238E27FC236}">
                <a16:creationId xmlns:a16="http://schemas.microsoft.com/office/drawing/2014/main" id="{939B6C98-3F6E-C142-E774-08EFA45727A4}"/>
              </a:ext>
            </a:extLst>
          </p:cNvPr>
          <p:cNvSpPr txBox="1">
            <a:spLocks/>
          </p:cNvSpPr>
          <p:nvPr/>
        </p:nvSpPr>
        <p:spPr>
          <a:xfrm>
            <a:off x="7275854" y="1825626"/>
            <a:ext cx="3048000" cy="571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Product of Sums. </a:t>
            </a:r>
          </a:p>
        </p:txBody>
      </p:sp>
      <p:pic>
        <p:nvPicPr>
          <p:cNvPr id="10" name="Picture 9">
            <a:extLst>
              <a:ext uri="{FF2B5EF4-FFF2-40B4-BE49-F238E27FC236}">
                <a16:creationId xmlns:a16="http://schemas.microsoft.com/office/drawing/2014/main" id="{2B8F18B8-F274-C4E5-1330-5D39EDEB3B4C}"/>
              </a:ext>
            </a:extLst>
          </p:cNvPr>
          <p:cNvPicPr>
            <a:picLocks noChangeAspect="1"/>
          </p:cNvPicPr>
          <p:nvPr/>
        </p:nvPicPr>
        <p:blipFill>
          <a:blip r:embed="rId4"/>
          <a:stretch>
            <a:fillRect/>
          </a:stretch>
        </p:blipFill>
        <p:spPr>
          <a:xfrm>
            <a:off x="6363275" y="3569904"/>
            <a:ext cx="5401429" cy="3010320"/>
          </a:xfrm>
          <a:prstGeom prst="rect">
            <a:avLst/>
          </a:prstGeom>
        </p:spPr>
      </p:pic>
      <p:pic>
        <p:nvPicPr>
          <p:cNvPr id="12" name="Picture 11">
            <a:extLst>
              <a:ext uri="{FF2B5EF4-FFF2-40B4-BE49-F238E27FC236}">
                <a16:creationId xmlns:a16="http://schemas.microsoft.com/office/drawing/2014/main" id="{D68AFF3C-745D-0C66-72F6-C02B52C6C2AC}"/>
              </a:ext>
            </a:extLst>
          </p:cNvPr>
          <p:cNvPicPr>
            <a:picLocks noChangeAspect="1"/>
          </p:cNvPicPr>
          <p:nvPr/>
        </p:nvPicPr>
        <p:blipFill>
          <a:blip r:embed="rId5"/>
          <a:stretch>
            <a:fillRect/>
          </a:stretch>
        </p:blipFill>
        <p:spPr>
          <a:xfrm>
            <a:off x="7275854" y="2532144"/>
            <a:ext cx="4201111" cy="590632"/>
          </a:xfrm>
          <a:prstGeom prst="rect">
            <a:avLst/>
          </a:prstGeom>
        </p:spPr>
      </p:pic>
    </p:spTree>
    <p:extLst>
      <p:ext uri="{BB962C8B-B14F-4D97-AF65-F5344CB8AC3E}">
        <p14:creationId xmlns:p14="http://schemas.microsoft.com/office/powerpoint/2010/main" val="3415020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506FE-7CD5-9AB3-AF61-996CCFA9A63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66047B7-16AE-61A0-F9DA-E143960CD3C5}"/>
              </a:ext>
            </a:extLst>
          </p:cNvPr>
          <p:cNvPicPr>
            <a:picLocks noGrp="1" noChangeAspect="1"/>
          </p:cNvPicPr>
          <p:nvPr>
            <p:ph idx="1"/>
          </p:nvPr>
        </p:nvPicPr>
        <p:blipFill>
          <a:blip r:embed="rId2"/>
          <a:stretch>
            <a:fillRect/>
          </a:stretch>
        </p:blipFill>
        <p:spPr>
          <a:xfrm>
            <a:off x="838200" y="2030962"/>
            <a:ext cx="3315163" cy="533474"/>
          </a:xfrm>
          <a:prstGeom prst="rect">
            <a:avLst/>
          </a:prstGeom>
        </p:spPr>
      </p:pic>
      <p:pic>
        <p:nvPicPr>
          <p:cNvPr id="7" name="Picture 6">
            <a:extLst>
              <a:ext uri="{FF2B5EF4-FFF2-40B4-BE49-F238E27FC236}">
                <a16:creationId xmlns:a16="http://schemas.microsoft.com/office/drawing/2014/main" id="{78BC72E6-9D84-25FD-5E52-F2AF4A8A50D3}"/>
              </a:ext>
            </a:extLst>
          </p:cNvPr>
          <p:cNvPicPr>
            <a:picLocks noChangeAspect="1"/>
          </p:cNvPicPr>
          <p:nvPr/>
        </p:nvPicPr>
        <p:blipFill>
          <a:blip r:embed="rId3"/>
          <a:stretch>
            <a:fillRect/>
          </a:stretch>
        </p:blipFill>
        <p:spPr>
          <a:xfrm>
            <a:off x="660995" y="2904710"/>
            <a:ext cx="5121052" cy="1791970"/>
          </a:xfrm>
          <a:prstGeom prst="rect">
            <a:avLst/>
          </a:prstGeom>
        </p:spPr>
      </p:pic>
      <p:pic>
        <p:nvPicPr>
          <p:cNvPr id="9" name="Picture 8">
            <a:extLst>
              <a:ext uri="{FF2B5EF4-FFF2-40B4-BE49-F238E27FC236}">
                <a16:creationId xmlns:a16="http://schemas.microsoft.com/office/drawing/2014/main" id="{9460003B-7B2F-D743-4E01-14E9C68B1F9A}"/>
              </a:ext>
            </a:extLst>
          </p:cNvPr>
          <p:cNvPicPr>
            <a:picLocks noChangeAspect="1"/>
          </p:cNvPicPr>
          <p:nvPr/>
        </p:nvPicPr>
        <p:blipFill>
          <a:blip r:embed="rId4"/>
          <a:stretch>
            <a:fillRect/>
          </a:stretch>
        </p:blipFill>
        <p:spPr>
          <a:xfrm>
            <a:off x="5371233" y="2007146"/>
            <a:ext cx="6211167" cy="581106"/>
          </a:xfrm>
          <a:prstGeom prst="rect">
            <a:avLst/>
          </a:prstGeom>
        </p:spPr>
      </p:pic>
      <p:pic>
        <p:nvPicPr>
          <p:cNvPr id="11" name="Picture 10">
            <a:extLst>
              <a:ext uri="{FF2B5EF4-FFF2-40B4-BE49-F238E27FC236}">
                <a16:creationId xmlns:a16="http://schemas.microsoft.com/office/drawing/2014/main" id="{BBEE98FD-FFC5-E345-E5B2-253480FC870D}"/>
              </a:ext>
            </a:extLst>
          </p:cNvPr>
          <p:cNvPicPr>
            <a:picLocks noChangeAspect="1"/>
          </p:cNvPicPr>
          <p:nvPr/>
        </p:nvPicPr>
        <p:blipFill>
          <a:blip r:embed="rId5"/>
          <a:stretch>
            <a:fillRect/>
          </a:stretch>
        </p:blipFill>
        <p:spPr>
          <a:xfrm>
            <a:off x="6515100" y="2904710"/>
            <a:ext cx="4650476" cy="2291902"/>
          </a:xfrm>
          <a:prstGeom prst="rect">
            <a:avLst/>
          </a:prstGeom>
        </p:spPr>
      </p:pic>
    </p:spTree>
    <p:extLst>
      <p:ext uri="{BB962C8B-B14F-4D97-AF65-F5344CB8AC3E}">
        <p14:creationId xmlns:p14="http://schemas.microsoft.com/office/powerpoint/2010/main" val="204174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C0B5BA-6BF9-257B-B961-17C29A31A7F9}"/>
              </a:ext>
            </a:extLst>
          </p:cNvPr>
          <p:cNvPicPr>
            <a:picLocks noChangeAspect="1"/>
          </p:cNvPicPr>
          <p:nvPr/>
        </p:nvPicPr>
        <p:blipFill>
          <a:blip r:embed="rId2"/>
          <a:srcRect b="56989"/>
          <a:stretch>
            <a:fillRect/>
          </a:stretch>
        </p:blipFill>
        <p:spPr>
          <a:xfrm>
            <a:off x="269805" y="949574"/>
            <a:ext cx="10097909" cy="422026"/>
          </a:xfrm>
          <a:prstGeom prst="rect">
            <a:avLst/>
          </a:prstGeom>
        </p:spPr>
      </p:pic>
      <p:pic>
        <p:nvPicPr>
          <p:cNvPr id="6" name="Picture 5">
            <a:extLst>
              <a:ext uri="{FF2B5EF4-FFF2-40B4-BE49-F238E27FC236}">
                <a16:creationId xmlns:a16="http://schemas.microsoft.com/office/drawing/2014/main" id="{37085B6A-7858-4592-13A4-979B550D5CAE}"/>
              </a:ext>
            </a:extLst>
          </p:cNvPr>
          <p:cNvPicPr>
            <a:picLocks noChangeAspect="1"/>
          </p:cNvPicPr>
          <p:nvPr/>
        </p:nvPicPr>
        <p:blipFill>
          <a:blip r:embed="rId2"/>
          <a:srcRect t="56989"/>
          <a:stretch>
            <a:fillRect/>
          </a:stretch>
        </p:blipFill>
        <p:spPr>
          <a:xfrm>
            <a:off x="269805" y="1506108"/>
            <a:ext cx="10097909" cy="422026"/>
          </a:xfrm>
          <a:prstGeom prst="rect">
            <a:avLst/>
          </a:prstGeom>
        </p:spPr>
      </p:pic>
      <p:pic>
        <p:nvPicPr>
          <p:cNvPr id="8" name="Picture 7">
            <a:extLst>
              <a:ext uri="{FF2B5EF4-FFF2-40B4-BE49-F238E27FC236}">
                <a16:creationId xmlns:a16="http://schemas.microsoft.com/office/drawing/2014/main" id="{FF6D661E-280D-1EA4-C5D1-AC74860CFBD8}"/>
              </a:ext>
            </a:extLst>
          </p:cNvPr>
          <p:cNvPicPr>
            <a:picLocks noChangeAspect="1"/>
          </p:cNvPicPr>
          <p:nvPr/>
        </p:nvPicPr>
        <p:blipFill>
          <a:blip r:embed="rId3"/>
          <a:srcRect b="48860"/>
          <a:stretch>
            <a:fillRect/>
          </a:stretch>
        </p:blipFill>
        <p:spPr>
          <a:xfrm>
            <a:off x="269805" y="2179251"/>
            <a:ext cx="9297698" cy="506663"/>
          </a:xfrm>
          <a:prstGeom prst="rect">
            <a:avLst/>
          </a:prstGeom>
        </p:spPr>
      </p:pic>
      <p:pic>
        <p:nvPicPr>
          <p:cNvPr id="9" name="Picture 8">
            <a:extLst>
              <a:ext uri="{FF2B5EF4-FFF2-40B4-BE49-F238E27FC236}">
                <a16:creationId xmlns:a16="http://schemas.microsoft.com/office/drawing/2014/main" id="{88915E91-0799-0CC8-B8E3-A28A1A73A797}"/>
              </a:ext>
            </a:extLst>
          </p:cNvPr>
          <p:cNvPicPr>
            <a:picLocks noChangeAspect="1"/>
          </p:cNvPicPr>
          <p:nvPr/>
        </p:nvPicPr>
        <p:blipFill>
          <a:blip r:embed="rId3"/>
          <a:srcRect t="48860"/>
          <a:stretch>
            <a:fillRect/>
          </a:stretch>
        </p:blipFill>
        <p:spPr>
          <a:xfrm>
            <a:off x="269805" y="2685914"/>
            <a:ext cx="9297698" cy="506664"/>
          </a:xfrm>
          <a:prstGeom prst="rect">
            <a:avLst/>
          </a:prstGeom>
        </p:spPr>
      </p:pic>
      <p:pic>
        <p:nvPicPr>
          <p:cNvPr id="11" name="Picture 10">
            <a:extLst>
              <a:ext uri="{FF2B5EF4-FFF2-40B4-BE49-F238E27FC236}">
                <a16:creationId xmlns:a16="http://schemas.microsoft.com/office/drawing/2014/main" id="{7FF0754A-595F-B49B-6900-C74E26C05A3D}"/>
              </a:ext>
            </a:extLst>
          </p:cNvPr>
          <p:cNvPicPr>
            <a:picLocks noChangeAspect="1"/>
          </p:cNvPicPr>
          <p:nvPr/>
        </p:nvPicPr>
        <p:blipFill>
          <a:blip r:embed="rId4"/>
          <a:srcRect b="47062"/>
          <a:stretch>
            <a:fillRect/>
          </a:stretch>
        </p:blipFill>
        <p:spPr>
          <a:xfrm>
            <a:off x="269805" y="3421007"/>
            <a:ext cx="9651435" cy="506663"/>
          </a:xfrm>
          <a:prstGeom prst="rect">
            <a:avLst/>
          </a:prstGeom>
        </p:spPr>
      </p:pic>
      <p:pic>
        <p:nvPicPr>
          <p:cNvPr id="13" name="Picture 12">
            <a:extLst>
              <a:ext uri="{FF2B5EF4-FFF2-40B4-BE49-F238E27FC236}">
                <a16:creationId xmlns:a16="http://schemas.microsoft.com/office/drawing/2014/main" id="{154FDB49-1288-B42B-9F25-07063B41304E}"/>
              </a:ext>
            </a:extLst>
          </p:cNvPr>
          <p:cNvPicPr>
            <a:picLocks noChangeAspect="1"/>
          </p:cNvPicPr>
          <p:nvPr/>
        </p:nvPicPr>
        <p:blipFill>
          <a:blip r:embed="rId5"/>
          <a:srcRect t="55252"/>
          <a:stretch>
            <a:fillRect/>
          </a:stretch>
        </p:blipFill>
        <p:spPr>
          <a:xfrm>
            <a:off x="137700" y="4929867"/>
            <a:ext cx="9783540" cy="422026"/>
          </a:xfrm>
          <a:prstGeom prst="rect">
            <a:avLst/>
          </a:prstGeom>
        </p:spPr>
      </p:pic>
      <p:pic>
        <p:nvPicPr>
          <p:cNvPr id="2" name="Picture 1">
            <a:extLst>
              <a:ext uri="{FF2B5EF4-FFF2-40B4-BE49-F238E27FC236}">
                <a16:creationId xmlns:a16="http://schemas.microsoft.com/office/drawing/2014/main" id="{6D384B5B-DE2C-11AD-41AC-40E8B82B064B}"/>
              </a:ext>
            </a:extLst>
          </p:cNvPr>
          <p:cNvPicPr>
            <a:picLocks noChangeAspect="1"/>
          </p:cNvPicPr>
          <p:nvPr/>
        </p:nvPicPr>
        <p:blipFill>
          <a:blip r:embed="rId4"/>
          <a:srcRect t="62093"/>
          <a:stretch>
            <a:fillRect/>
          </a:stretch>
        </p:blipFill>
        <p:spPr>
          <a:xfrm>
            <a:off x="269805" y="3942290"/>
            <a:ext cx="9651435" cy="362805"/>
          </a:xfrm>
          <a:prstGeom prst="rect">
            <a:avLst/>
          </a:prstGeom>
        </p:spPr>
      </p:pic>
      <p:pic>
        <p:nvPicPr>
          <p:cNvPr id="3" name="Picture 2">
            <a:extLst>
              <a:ext uri="{FF2B5EF4-FFF2-40B4-BE49-F238E27FC236}">
                <a16:creationId xmlns:a16="http://schemas.microsoft.com/office/drawing/2014/main" id="{C0BD7B97-8AC6-1334-98AE-A8B189720C7C}"/>
              </a:ext>
            </a:extLst>
          </p:cNvPr>
          <p:cNvPicPr>
            <a:picLocks noChangeAspect="1"/>
          </p:cNvPicPr>
          <p:nvPr/>
        </p:nvPicPr>
        <p:blipFill>
          <a:blip r:embed="rId5"/>
          <a:srcRect b="62110"/>
          <a:stretch>
            <a:fillRect/>
          </a:stretch>
        </p:blipFill>
        <p:spPr>
          <a:xfrm>
            <a:off x="203752" y="4454420"/>
            <a:ext cx="9783540" cy="357340"/>
          </a:xfrm>
          <a:prstGeom prst="rect">
            <a:avLst/>
          </a:prstGeom>
        </p:spPr>
      </p:pic>
    </p:spTree>
    <p:extLst>
      <p:ext uri="{BB962C8B-B14F-4D97-AF65-F5344CB8AC3E}">
        <p14:creationId xmlns:p14="http://schemas.microsoft.com/office/powerpoint/2010/main" val="310841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2C83B9-8C13-9986-A1D5-63054D5D9A7B}"/>
              </a:ext>
            </a:extLst>
          </p:cNvPr>
          <p:cNvPicPr>
            <a:picLocks noChangeAspect="1"/>
          </p:cNvPicPr>
          <p:nvPr/>
        </p:nvPicPr>
        <p:blipFill>
          <a:blip r:embed="rId2"/>
          <a:stretch>
            <a:fillRect/>
          </a:stretch>
        </p:blipFill>
        <p:spPr>
          <a:xfrm>
            <a:off x="275500" y="3247999"/>
            <a:ext cx="10383699" cy="362001"/>
          </a:xfrm>
          <a:prstGeom prst="rect">
            <a:avLst/>
          </a:prstGeom>
        </p:spPr>
      </p:pic>
      <p:pic>
        <p:nvPicPr>
          <p:cNvPr id="7" name="Picture 6">
            <a:extLst>
              <a:ext uri="{FF2B5EF4-FFF2-40B4-BE49-F238E27FC236}">
                <a16:creationId xmlns:a16="http://schemas.microsoft.com/office/drawing/2014/main" id="{178096C8-78B0-05A0-C783-8040A48EDB79}"/>
              </a:ext>
            </a:extLst>
          </p:cNvPr>
          <p:cNvPicPr>
            <a:picLocks noChangeAspect="1"/>
          </p:cNvPicPr>
          <p:nvPr/>
        </p:nvPicPr>
        <p:blipFill>
          <a:blip r:embed="rId3"/>
          <a:stretch>
            <a:fillRect/>
          </a:stretch>
        </p:blipFill>
        <p:spPr>
          <a:xfrm>
            <a:off x="179728" y="3702316"/>
            <a:ext cx="4220164" cy="733527"/>
          </a:xfrm>
          <a:prstGeom prst="rect">
            <a:avLst/>
          </a:prstGeom>
        </p:spPr>
      </p:pic>
      <p:pic>
        <p:nvPicPr>
          <p:cNvPr id="13" name="Picture 12">
            <a:extLst>
              <a:ext uri="{FF2B5EF4-FFF2-40B4-BE49-F238E27FC236}">
                <a16:creationId xmlns:a16="http://schemas.microsoft.com/office/drawing/2014/main" id="{4918B5ED-21B6-E4A9-DA7C-85D422C7FCCE}"/>
              </a:ext>
            </a:extLst>
          </p:cNvPr>
          <p:cNvPicPr>
            <a:picLocks noChangeAspect="1"/>
          </p:cNvPicPr>
          <p:nvPr/>
        </p:nvPicPr>
        <p:blipFill>
          <a:blip r:embed="rId4"/>
          <a:stretch>
            <a:fillRect/>
          </a:stretch>
        </p:blipFill>
        <p:spPr>
          <a:xfrm>
            <a:off x="179727" y="665682"/>
            <a:ext cx="8415633" cy="1088396"/>
          </a:xfrm>
          <a:prstGeom prst="rect">
            <a:avLst/>
          </a:prstGeom>
        </p:spPr>
      </p:pic>
      <p:pic>
        <p:nvPicPr>
          <p:cNvPr id="15" name="Picture 14">
            <a:extLst>
              <a:ext uri="{FF2B5EF4-FFF2-40B4-BE49-F238E27FC236}">
                <a16:creationId xmlns:a16="http://schemas.microsoft.com/office/drawing/2014/main" id="{677AFCCF-0CC9-4A49-7EA2-3D716EE4E10A}"/>
              </a:ext>
            </a:extLst>
          </p:cNvPr>
          <p:cNvPicPr>
            <a:picLocks noChangeAspect="1"/>
          </p:cNvPicPr>
          <p:nvPr/>
        </p:nvPicPr>
        <p:blipFill>
          <a:blip r:embed="rId5"/>
          <a:stretch>
            <a:fillRect/>
          </a:stretch>
        </p:blipFill>
        <p:spPr>
          <a:xfrm>
            <a:off x="279310" y="2034120"/>
            <a:ext cx="8144600" cy="933837"/>
          </a:xfrm>
          <a:prstGeom prst="rect">
            <a:avLst/>
          </a:prstGeom>
        </p:spPr>
      </p:pic>
      <p:pic>
        <p:nvPicPr>
          <p:cNvPr id="9" name="Picture 8">
            <a:extLst>
              <a:ext uri="{FF2B5EF4-FFF2-40B4-BE49-F238E27FC236}">
                <a16:creationId xmlns:a16="http://schemas.microsoft.com/office/drawing/2014/main" id="{52083A1E-F25B-B031-5882-C8E8CA3690CA}"/>
              </a:ext>
            </a:extLst>
          </p:cNvPr>
          <p:cNvPicPr>
            <a:picLocks noChangeAspect="1"/>
          </p:cNvPicPr>
          <p:nvPr/>
        </p:nvPicPr>
        <p:blipFill>
          <a:blip r:embed="rId6"/>
          <a:stretch>
            <a:fillRect/>
          </a:stretch>
        </p:blipFill>
        <p:spPr>
          <a:xfrm>
            <a:off x="7261674" y="2507819"/>
            <a:ext cx="2667372" cy="600159"/>
          </a:xfrm>
          <a:prstGeom prst="rect">
            <a:avLst/>
          </a:prstGeom>
        </p:spPr>
      </p:pic>
    </p:spTree>
    <p:extLst>
      <p:ext uri="{BB962C8B-B14F-4D97-AF65-F5344CB8AC3E}">
        <p14:creationId xmlns:p14="http://schemas.microsoft.com/office/powerpoint/2010/main" val="35085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B22729-F8BE-935D-8E9F-C9548530F4F7}"/>
              </a:ext>
            </a:extLst>
          </p:cNvPr>
          <p:cNvPicPr>
            <a:picLocks noChangeAspect="1"/>
          </p:cNvPicPr>
          <p:nvPr/>
        </p:nvPicPr>
        <p:blipFill>
          <a:blip r:embed="rId3"/>
          <a:stretch>
            <a:fillRect/>
          </a:stretch>
        </p:blipFill>
        <p:spPr>
          <a:xfrm>
            <a:off x="289560" y="342900"/>
            <a:ext cx="9964463" cy="4272941"/>
          </a:xfrm>
          <a:prstGeom prst="rect">
            <a:avLst/>
          </a:prstGeom>
        </p:spPr>
      </p:pic>
      <p:pic>
        <p:nvPicPr>
          <p:cNvPr id="4" name="Picture 3">
            <a:extLst>
              <a:ext uri="{FF2B5EF4-FFF2-40B4-BE49-F238E27FC236}">
                <a16:creationId xmlns:a16="http://schemas.microsoft.com/office/drawing/2014/main" id="{37B57020-EEE6-A005-7648-E977BAE3FB72}"/>
              </a:ext>
            </a:extLst>
          </p:cNvPr>
          <p:cNvPicPr>
            <a:picLocks noChangeAspect="1"/>
          </p:cNvPicPr>
          <p:nvPr/>
        </p:nvPicPr>
        <p:blipFill>
          <a:blip r:embed="rId4"/>
          <a:srcRect t="-1" r="40142" b="59166"/>
          <a:stretch>
            <a:fillRect/>
          </a:stretch>
        </p:blipFill>
        <p:spPr>
          <a:xfrm>
            <a:off x="405101" y="4937664"/>
            <a:ext cx="5690899" cy="560165"/>
          </a:xfrm>
          <a:prstGeom prst="rect">
            <a:avLst/>
          </a:prstGeom>
        </p:spPr>
      </p:pic>
      <p:pic>
        <p:nvPicPr>
          <p:cNvPr id="5" name="Picture 4">
            <a:extLst>
              <a:ext uri="{FF2B5EF4-FFF2-40B4-BE49-F238E27FC236}">
                <a16:creationId xmlns:a16="http://schemas.microsoft.com/office/drawing/2014/main" id="{503073B7-ECD8-2847-5A3C-40D1EDC45151}"/>
              </a:ext>
            </a:extLst>
          </p:cNvPr>
          <p:cNvPicPr>
            <a:picLocks noChangeAspect="1"/>
          </p:cNvPicPr>
          <p:nvPr/>
        </p:nvPicPr>
        <p:blipFill>
          <a:blip r:embed="rId4"/>
          <a:srcRect l="58669" t="66664"/>
          <a:stretch>
            <a:fillRect/>
          </a:stretch>
        </p:blipFill>
        <p:spPr>
          <a:xfrm>
            <a:off x="6152525" y="6057805"/>
            <a:ext cx="3929429" cy="457295"/>
          </a:xfrm>
          <a:prstGeom prst="rect">
            <a:avLst/>
          </a:prstGeom>
        </p:spPr>
      </p:pic>
      <p:pic>
        <p:nvPicPr>
          <p:cNvPr id="6" name="Picture 5">
            <a:extLst>
              <a:ext uri="{FF2B5EF4-FFF2-40B4-BE49-F238E27FC236}">
                <a16:creationId xmlns:a16="http://schemas.microsoft.com/office/drawing/2014/main" id="{542DFD25-4AFE-FEC9-FB94-3EEC2D9F2B29}"/>
              </a:ext>
            </a:extLst>
          </p:cNvPr>
          <p:cNvPicPr>
            <a:picLocks noChangeAspect="1"/>
          </p:cNvPicPr>
          <p:nvPr/>
        </p:nvPicPr>
        <p:blipFill>
          <a:blip r:embed="rId4"/>
          <a:srcRect l="59858" b="59165"/>
          <a:stretch>
            <a:fillRect/>
          </a:stretch>
        </p:blipFill>
        <p:spPr>
          <a:xfrm>
            <a:off x="6209051" y="4937664"/>
            <a:ext cx="3816378" cy="560165"/>
          </a:xfrm>
          <a:prstGeom prst="rect">
            <a:avLst/>
          </a:prstGeom>
        </p:spPr>
      </p:pic>
      <p:pic>
        <p:nvPicPr>
          <p:cNvPr id="7" name="Picture 6">
            <a:extLst>
              <a:ext uri="{FF2B5EF4-FFF2-40B4-BE49-F238E27FC236}">
                <a16:creationId xmlns:a16="http://schemas.microsoft.com/office/drawing/2014/main" id="{06E2C3A0-2F93-2677-6E46-32E6BE20359D}"/>
              </a:ext>
            </a:extLst>
          </p:cNvPr>
          <p:cNvPicPr>
            <a:picLocks noChangeAspect="1"/>
          </p:cNvPicPr>
          <p:nvPr/>
        </p:nvPicPr>
        <p:blipFill>
          <a:blip r:embed="rId4"/>
          <a:srcRect t="59165" r="41131"/>
          <a:stretch>
            <a:fillRect/>
          </a:stretch>
        </p:blipFill>
        <p:spPr>
          <a:xfrm>
            <a:off x="289561" y="5945382"/>
            <a:ext cx="5596890" cy="560165"/>
          </a:xfrm>
          <a:prstGeom prst="rect">
            <a:avLst/>
          </a:prstGeom>
        </p:spPr>
      </p:pic>
    </p:spTree>
    <p:extLst>
      <p:ext uri="{BB962C8B-B14F-4D97-AF65-F5344CB8AC3E}">
        <p14:creationId xmlns:p14="http://schemas.microsoft.com/office/powerpoint/2010/main" val="81846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B83FA3-E684-F846-58A6-17FBE37E1324}"/>
              </a:ext>
            </a:extLst>
          </p:cNvPr>
          <p:cNvPicPr>
            <a:picLocks noChangeAspect="1"/>
          </p:cNvPicPr>
          <p:nvPr/>
        </p:nvPicPr>
        <p:blipFill>
          <a:blip r:embed="rId2"/>
          <a:stretch>
            <a:fillRect/>
          </a:stretch>
        </p:blipFill>
        <p:spPr>
          <a:xfrm>
            <a:off x="1226820" y="1360170"/>
            <a:ext cx="2968544" cy="5497830"/>
          </a:xfrm>
          <a:prstGeom prst="rect">
            <a:avLst/>
          </a:prstGeom>
        </p:spPr>
      </p:pic>
      <p:pic>
        <p:nvPicPr>
          <p:cNvPr id="7" name="Picture 6">
            <a:extLst>
              <a:ext uri="{FF2B5EF4-FFF2-40B4-BE49-F238E27FC236}">
                <a16:creationId xmlns:a16="http://schemas.microsoft.com/office/drawing/2014/main" id="{09FB6F3F-8169-1A73-6D6E-8A11397C229C}"/>
              </a:ext>
            </a:extLst>
          </p:cNvPr>
          <p:cNvPicPr>
            <a:picLocks noChangeAspect="1"/>
          </p:cNvPicPr>
          <p:nvPr/>
        </p:nvPicPr>
        <p:blipFill>
          <a:blip r:embed="rId3"/>
          <a:stretch>
            <a:fillRect/>
          </a:stretch>
        </p:blipFill>
        <p:spPr>
          <a:xfrm>
            <a:off x="6096001" y="1531620"/>
            <a:ext cx="2642384" cy="5326380"/>
          </a:xfrm>
          <a:prstGeom prst="rect">
            <a:avLst/>
          </a:prstGeom>
        </p:spPr>
      </p:pic>
      <p:pic>
        <p:nvPicPr>
          <p:cNvPr id="8" name="Picture 7">
            <a:extLst>
              <a:ext uri="{FF2B5EF4-FFF2-40B4-BE49-F238E27FC236}">
                <a16:creationId xmlns:a16="http://schemas.microsoft.com/office/drawing/2014/main" id="{DD49E859-C3E4-9FF2-51FF-EC5D60E8977A}"/>
              </a:ext>
            </a:extLst>
          </p:cNvPr>
          <p:cNvPicPr>
            <a:picLocks noChangeAspect="1"/>
          </p:cNvPicPr>
          <p:nvPr/>
        </p:nvPicPr>
        <p:blipFill>
          <a:blip r:embed="rId4"/>
          <a:stretch>
            <a:fillRect/>
          </a:stretch>
        </p:blipFill>
        <p:spPr>
          <a:xfrm>
            <a:off x="656561" y="159829"/>
            <a:ext cx="8293129" cy="1196603"/>
          </a:xfrm>
          <a:prstGeom prst="rect">
            <a:avLst/>
          </a:prstGeom>
        </p:spPr>
      </p:pic>
    </p:spTree>
    <p:extLst>
      <p:ext uri="{BB962C8B-B14F-4D97-AF65-F5344CB8AC3E}">
        <p14:creationId xmlns:p14="http://schemas.microsoft.com/office/powerpoint/2010/main" val="225861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5933-CCCE-B4BF-4F28-9556E1657955}"/>
              </a:ext>
            </a:extLst>
          </p:cNvPr>
          <p:cNvSpPr>
            <a:spLocks noGrp="1"/>
          </p:cNvSpPr>
          <p:nvPr>
            <p:ph type="title"/>
          </p:nvPr>
        </p:nvSpPr>
        <p:spPr/>
        <p:txBody>
          <a:bodyPr/>
          <a:lstStyle/>
          <a:p>
            <a:r>
              <a:rPr lang="en-US" dirty="0"/>
              <a:t>Karnaugh map or K-map method</a:t>
            </a:r>
            <a:endParaRPr lang="en-IN" dirty="0"/>
          </a:p>
        </p:txBody>
      </p:sp>
      <p:sp>
        <p:nvSpPr>
          <p:cNvPr id="4" name="TextBox 3">
            <a:extLst>
              <a:ext uri="{FF2B5EF4-FFF2-40B4-BE49-F238E27FC236}">
                <a16:creationId xmlns:a16="http://schemas.microsoft.com/office/drawing/2014/main" id="{BB2C4F8E-7795-864D-D43B-8DC444AD3B84}"/>
              </a:ext>
            </a:extLst>
          </p:cNvPr>
          <p:cNvSpPr txBox="1"/>
          <p:nvPr/>
        </p:nvSpPr>
        <p:spPr>
          <a:xfrm>
            <a:off x="838200" y="1680266"/>
            <a:ext cx="1020318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A K-map is a diagram made up of squares, with each square representing one </a:t>
            </a:r>
            <a:r>
              <a:rPr lang="en-US" sz="2000" dirty="0" err="1"/>
              <a:t>minterm</a:t>
            </a:r>
            <a:r>
              <a:rPr lang="en-US" sz="2000" dirty="0"/>
              <a:t> of the function that is to be minimized.</a:t>
            </a:r>
          </a:p>
          <a:p>
            <a:pPr marL="342900" indent="-342900">
              <a:buFont typeface="Arial" panose="020B0604020202020204" pitchFamily="34" charset="0"/>
              <a:buChar char="•"/>
            </a:pPr>
            <a:r>
              <a:rPr lang="en-US" sz="2000" dirty="0"/>
              <a:t>Boolean function can be expressed as a sum of </a:t>
            </a:r>
            <a:r>
              <a:rPr lang="en-US" sz="2000" dirty="0" err="1"/>
              <a:t>minterms</a:t>
            </a:r>
            <a:r>
              <a:rPr lang="en-US" sz="2000" dirty="0"/>
              <a:t>.</a:t>
            </a:r>
          </a:p>
          <a:p>
            <a:pPr marL="342900" indent="-342900">
              <a:buFont typeface="Arial" panose="020B0604020202020204" pitchFamily="34" charset="0"/>
              <a:buChar char="•"/>
            </a:pPr>
            <a:r>
              <a:rPr lang="en-US" sz="2000" dirty="0"/>
              <a:t>The map presents a visual diagram of all possible ways a function may be expressed in standard forms (sum of products or product of sums).</a:t>
            </a:r>
          </a:p>
          <a:p>
            <a:pPr marL="342900" indent="-342900">
              <a:buFont typeface="Arial" panose="020B0604020202020204" pitchFamily="34" charset="0"/>
              <a:buChar char="•"/>
            </a:pPr>
            <a:r>
              <a:rPr lang="en-US" sz="2000" dirty="0"/>
              <a:t>Simplest algebraic expression is one that has a minimum number of terms with the smallest possible number of literals in each term. </a:t>
            </a:r>
            <a:endParaRPr lang="en-IN" sz="2000" dirty="0"/>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4062977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DC4B1-AFD0-8369-130C-76B683135423}"/>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906AC0AB-5891-E7BD-0EA4-6B2CCCCA3D54}"/>
              </a:ext>
            </a:extLst>
          </p:cNvPr>
          <p:cNvPicPr>
            <a:picLocks noChangeAspect="1"/>
          </p:cNvPicPr>
          <p:nvPr/>
        </p:nvPicPr>
        <p:blipFill>
          <a:blip r:embed="rId2"/>
          <a:srcRect r="57763"/>
          <a:stretch>
            <a:fillRect/>
          </a:stretch>
        </p:blipFill>
        <p:spPr>
          <a:xfrm>
            <a:off x="2435046" y="2003818"/>
            <a:ext cx="3005634" cy="3467584"/>
          </a:xfrm>
          <a:prstGeom prst="rect">
            <a:avLst/>
          </a:prstGeom>
        </p:spPr>
      </p:pic>
      <p:pic>
        <p:nvPicPr>
          <p:cNvPr id="6" name="Picture 5">
            <a:extLst>
              <a:ext uri="{FF2B5EF4-FFF2-40B4-BE49-F238E27FC236}">
                <a16:creationId xmlns:a16="http://schemas.microsoft.com/office/drawing/2014/main" id="{340FBF10-7784-2F97-194C-319C7FB6A7EB}"/>
              </a:ext>
            </a:extLst>
          </p:cNvPr>
          <p:cNvPicPr>
            <a:picLocks noChangeAspect="1"/>
          </p:cNvPicPr>
          <p:nvPr/>
        </p:nvPicPr>
        <p:blipFill>
          <a:blip r:embed="rId2"/>
          <a:srcRect l="43789"/>
          <a:stretch>
            <a:fillRect/>
          </a:stretch>
        </p:blipFill>
        <p:spPr>
          <a:xfrm>
            <a:off x="5440680" y="2003818"/>
            <a:ext cx="4000044" cy="3467584"/>
          </a:xfrm>
          <a:prstGeom prst="rect">
            <a:avLst/>
          </a:prstGeom>
        </p:spPr>
      </p:pic>
    </p:spTree>
    <p:extLst>
      <p:ext uri="{BB962C8B-B14F-4D97-AF65-F5344CB8AC3E}">
        <p14:creationId xmlns:p14="http://schemas.microsoft.com/office/powerpoint/2010/main" val="182465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92C1-DF0E-C1A6-804C-1256C810E90F}"/>
              </a:ext>
            </a:extLst>
          </p:cNvPr>
          <p:cNvSpPr>
            <a:spLocks noGrp="1"/>
          </p:cNvSpPr>
          <p:nvPr>
            <p:ph type="title"/>
          </p:nvPr>
        </p:nvSpPr>
        <p:spPr/>
        <p:txBody>
          <a:bodyPr/>
          <a:lstStyle/>
          <a:p>
            <a:r>
              <a:rPr lang="en-IN" dirty="0"/>
              <a:t>NAND AND NOR IMPLEMENTATION</a:t>
            </a:r>
          </a:p>
        </p:txBody>
      </p:sp>
      <p:pic>
        <p:nvPicPr>
          <p:cNvPr id="5" name="Picture 4">
            <a:extLst>
              <a:ext uri="{FF2B5EF4-FFF2-40B4-BE49-F238E27FC236}">
                <a16:creationId xmlns:a16="http://schemas.microsoft.com/office/drawing/2014/main" id="{F50FC525-551F-2236-1317-DB10290C585D}"/>
              </a:ext>
            </a:extLst>
          </p:cNvPr>
          <p:cNvPicPr>
            <a:picLocks noChangeAspect="1"/>
          </p:cNvPicPr>
          <p:nvPr/>
        </p:nvPicPr>
        <p:blipFill>
          <a:blip r:embed="rId3"/>
          <a:stretch>
            <a:fillRect/>
          </a:stretch>
        </p:blipFill>
        <p:spPr>
          <a:xfrm>
            <a:off x="838200" y="2501936"/>
            <a:ext cx="5802630" cy="3244892"/>
          </a:xfrm>
          <a:prstGeom prst="rect">
            <a:avLst/>
          </a:prstGeom>
        </p:spPr>
      </p:pic>
      <p:pic>
        <p:nvPicPr>
          <p:cNvPr id="7" name="Picture 6">
            <a:extLst>
              <a:ext uri="{FF2B5EF4-FFF2-40B4-BE49-F238E27FC236}">
                <a16:creationId xmlns:a16="http://schemas.microsoft.com/office/drawing/2014/main" id="{57F7C17B-03D4-5668-7BCB-8F66FDF4564C}"/>
              </a:ext>
            </a:extLst>
          </p:cNvPr>
          <p:cNvPicPr>
            <a:picLocks noChangeAspect="1"/>
          </p:cNvPicPr>
          <p:nvPr/>
        </p:nvPicPr>
        <p:blipFill>
          <a:blip r:embed="rId4"/>
          <a:srcRect r="61342"/>
          <a:stretch>
            <a:fillRect/>
          </a:stretch>
        </p:blipFill>
        <p:spPr>
          <a:xfrm>
            <a:off x="6690265" y="2652628"/>
            <a:ext cx="3173826" cy="1084982"/>
          </a:xfrm>
          <a:prstGeom prst="rect">
            <a:avLst/>
          </a:prstGeom>
        </p:spPr>
      </p:pic>
      <p:pic>
        <p:nvPicPr>
          <p:cNvPr id="8" name="Picture 7">
            <a:extLst>
              <a:ext uri="{FF2B5EF4-FFF2-40B4-BE49-F238E27FC236}">
                <a16:creationId xmlns:a16="http://schemas.microsoft.com/office/drawing/2014/main" id="{6700CE3A-448C-E662-7D29-83C565893BD9}"/>
              </a:ext>
            </a:extLst>
          </p:cNvPr>
          <p:cNvPicPr>
            <a:picLocks noChangeAspect="1"/>
          </p:cNvPicPr>
          <p:nvPr/>
        </p:nvPicPr>
        <p:blipFill>
          <a:blip r:embed="rId4"/>
          <a:srcRect l="43386"/>
          <a:stretch>
            <a:fillRect/>
          </a:stretch>
        </p:blipFill>
        <p:spPr>
          <a:xfrm>
            <a:off x="6673619" y="4137660"/>
            <a:ext cx="4162021" cy="971550"/>
          </a:xfrm>
          <a:prstGeom prst="rect">
            <a:avLst/>
          </a:prstGeom>
        </p:spPr>
      </p:pic>
      <p:sp>
        <p:nvSpPr>
          <p:cNvPr id="9" name="TextBox 8">
            <a:extLst>
              <a:ext uri="{FF2B5EF4-FFF2-40B4-BE49-F238E27FC236}">
                <a16:creationId xmlns:a16="http://schemas.microsoft.com/office/drawing/2014/main" id="{A641166E-01AC-0415-1465-4B6981EDAFDB}"/>
              </a:ext>
            </a:extLst>
          </p:cNvPr>
          <p:cNvSpPr txBox="1"/>
          <p:nvPr/>
        </p:nvSpPr>
        <p:spPr>
          <a:xfrm>
            <a:off x="838200" y="1834702"/>
            <a:ext cx="2435347" cy="523220"/>
          </a:xfrm>
          <a:prstGeom prst="rect">
            <a:avLst/>
          </a:prstGeom>
          <a:noFill/>
        </p:spPr>
        <p:txBody>
          <a:bodyPr wrap="none" rtlCol="0">
            <a:spAutoFit/>
          </a:bodyPr>
          <a:lstStyle/>
          <a:p>
            <a:r>
              <a:rPr lang="en-IN" sz="2800" dirty="0"/>
              <a:t>NAND Circuits</a:t>
            </a:r>
          </a:p>
        </p:txBody>
      </p:sp>
    </p:spTree>
    <p:extLst>
      <p:ext uri="{BB962C8B-B14F-4D97-AF65-F5344CB8AC3E}">
        <p14:creationId xmlns:p14="http://schemas.microsoft.com/office/powerpoint/2010/main" val="3593014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9C0B-06C3-140F-5DC1-C4C7AC18B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FB8CF-E9A3-19E6-528D-754360B60B27}"/>
              </a:ext>
            </a:extLst>
          </p:cNvPr>
          <p:cNvSpPr>
            <a:spLocks noGrp="1"/>
          </p:cNvSpPr>
          <p:nvPr>
            <p:ph type="title"/>
          </p:nvPr>
        </p:nvSpPr>
        <p:spPr/>
        <p:txBody>
          <a:bodyPr/>
          <a:lstStyle/>
          <a:p>
            <a:r>
              <a:rPr lang="en-IN" dirty="0"/>
              <a:t>Two-Level Implementation</a:t>
            </a:r>
          </a:p>
        </p:txBody>
      </p:sp>
      <p:pic>
        <p:nvPicPr>
          <p:cNvPr id="4" name="Picture 3">
            <a:extLst>
              <a:ext uri="{FF2B5EF4-FFF2-40B4-BE49-F238E27FC236}">
                <a16:creationId xmlns:a16="http://schemas.microsoft.com/office/drawing/2014/main" id="{B8E32A2D-28E7-F1EE-925B-D0CF24A40117}"/>
              </a:ext>
            </a:extLst>
          </p:cNvPr>
          <p:cNvPicPr>
            <a:picLocks noChangeAspect="1"/>
          </p:cNvPicPr>
          <p:nvPr/>
        </p:nvPicPr>
        <p:blipFill>
          <a:blip r:embed="rId3"/>
          <a:stretch>
            <a:fillRect/>
          </a:stretch>
        </p:blipFill>
        <p:spPr>
          <a:xfrm>
            <a:off x="1072367" y="1766870"/>
            <a:ext cx="2114845" cy="352474"/>
          </a:xfrm>
          <a:prstGeom prst="rect">
            <a:avLst/>
          </a:prstGeom>
        </p:spPr>
      </p:pic>
      <p:pic>
        <p:nvPicPr>
          <p:cNvPr id="10" name="Picture 9">
            <a:extLst>
              <a:ext uri="{FF2B5EF4-FFF2-40B4-BE49-F238E27FC236}">
                <a16:creationId xmlns:a16="http://schemas.microsoft.com/office/drawing/2014/main" id="{A853A7D7-BE35-E463-8031-FD6027C1B6CE}"/>
              </a:ext>
            </a:extLst>
          </p:cNvPr>
          <p:cNvPicPr>
            <a:picLocks noChangeAspect="1"/>
          </p:cNvPicPr>
          <p:nvPr/>
        </p:nvPicPr>
        <p:blipFill>
          <a:blip r:embed="rId4"/>
          <a:stretch>
            <a:fillRect/>
          </a:stretch>
        </p:blipFill>
        <p:spPr>
          <a:xfrm>
            <a:off x="937867" y="2570492"/>
            <a:ext cx="4024355" cy="1643860"/>
          </a:xfrm>
          <a:prstGeom prst="rect">
            <a:avLst/>
          </a:prstGeom>
        </p:spPr>
      </p:pic>
      <p:pic>
        <p:nvPicPr>
          <p:cNvPr id="12" name="Picture 11">
            <a:extLst>
              <a:ext uri="{FF2B5EF4-FFF2-40B4-BE49-F238E27FC236}">
                <a16:creationId xmlns:a16="http://schemas.microsoft.com/office/drawing/2014/main" id="{4EBBC27A-9CED-7A33-931C-306F4695341A}"/>
              </a:ext>
            </a:extLst>
          </p:cNvPr>
          <p:cNvPicPr>
            <a:picLocks noChangeAspect="1"/>
          </p:cNvPicPr>
          <p:nvPr/>
        </p:nvPicPr>
        <p:blipFill>
          <a:blip r:embed="rId5"/>
          <a:stretch>
            <a:fillRect/>
          </a:stretch>
        </p:blipFill>
        <p:spPr>
          <a:xfrm>
            <a:off x="5313638" y="2647034"/>
            <a:ext cx="4116112" cy="1567318"/>
          </a:xfrm>
          <a:prstGeom prst="rect">
            <a:avLst/>
          </a:prstGeom>
        </p:spPr>
      </p:pic>
      <p:pic>
        <p:nvPicPr>
          <p:cNvPr id="14" name="Picture 13">
            <a:extLst>
              <a:ext uri="{FF2B5EF4-FFF2-40B4-BE49-F238E27FC236}">
                <a16:creationId xmlns:a16="http://schemas.microsoft.com/office/drawing/2014/main" id="{07C6BF10-2138-BDFD-E1C9-617BC1FF587E}"/>
              </a:ext>
            </a:extLst>
          </p:cNvPr>
          <p:cNvPicPr>
            <a:picLocks noChangeAspect="1"/>
          </p:cNvPicPr>
          <p:nvPr/>
        </p:nvPicPr>
        <p:blipFill>
          <a:blip r:embed="rId6"/>
          <a:stretch>
            <a:fillRect/>
          </a:stretch>
        </p:blipFill>
        <p:spPr>
          <a:xfrm>
            <a:off x="2704597" y="4665500"/>
            <a:ext cx="4515249" cy="1792443"/>
          </a:xfrm>
          <a:prstGeom prst="rect">
            <a:avLst/>
          </a:prstGeom>
        </p:spPr>
      </p:pic>
    </p:spTree>
    <p:extLst>
      <p:ext uri="{BB962C8B-B14F-4D97-AF65-F5344CB8AC3E}">
        <p14:creationId xmlns:p14="http://schemas.microsoft.com/office/powerpoint/2010/main" val="319917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C5FC-FC58-2452-1D73-95E721C28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014C9-7280-D53F-45F0-D49EEC980B83}"/>
              </a:ext>
            </a:extLst>
          </p:cNvPr>
          <p:cNvSpPr>
            <a:spLocks noGrp="1"/>
          </p:cNvSpPr>
          <p:nvPr>
            <p:ph type="title"/>
          </p:nvPr>
        </p:nvSpPr>
        <p:spPr/>
        <p:txBody>
          <a:bodyPr/>
          <a:lstStyle/>
          <a:p>
            <a:r>
              <a:rPr lang="en-IN" dirty="0"/>
              <a:t>Multilevel NAND Circuits</a:t>
            </a:r>
          </a:p>
        </p:txBody>
      </p:sp>
      <p:pic>
        <p:nvPicPr>
          <p:cNvPr id="5" name="Picture 4">
            <a:extLst>
              <a:ext uri="{FF2B5EF4-FFF2-40B4-BE49-F238E27FC236}">
                <a16:creationId xmlns:a16="http://schemas.microsoft.com/office/drawing/2014/main" id="{4B2BA205-4081-BC6D-BE91-651E4EDC5DCF}"/>
              </a:ext>
            </a:extLst>
          </p:cNvPr>
          <p:cNvPicPr>
            <a:picLocks noChangeAspect="1"/>
          </p:cNvPicPr>
          <p:nvPr/>
        </p:nvPicPr>
        <p:blipFill>
          <a:blip r:embed="rId3"/>
          <a:stretch>
            <a:fillRect/>
          </a:stretch>
        </p:blipFill>
        <p:spPr>
          <a:xfrm>
            <a:off x="941070" y="1481931"/>
            <a:ext cx="3581900" cy="390580"/>
          </a:xfrm>
          <a:prstGeom prst="rect">
            <a:avLst/>
          </a:prstGeom>
        </p:spPr>
      </p:pic>
      <p:pic>
        <p:nvPicPr>
          <p:cNvPr id="7" name="Picture 6">
            <a:extLst>
              <a:ext uri="{FF2B5EF4-FFF2-40B4-BE49-F238E27FC236}">
                <a16:creationId xmlns:a16="http://schemas.microsoft.com/office/drawing/2014/main" id="{05311950-187B-4921-640F-DB3037BAD9F1}"/>
              </a:ext>
            </a:extLst>
          </p:cNvPr>
          <p:cNvPicPr>
            <a:picLocks noChangeAspect="1"/>
          </p:cNvPicPr>
          <p:nvPr/>
        </p:nvPicPr>
        <p:blipFill>
          <a:blip r:embed="rId4"/>
          <a:stretch>
            <a:fillRect/>
          </a:stretch>
        </p:blipFill>
        <p:spPr>
          <a:xfrm>
            <a:off x="734582" y="1909317"/>
            <a:ext cx="9159300" cy="2160000"/>
          </a:xfrm>
          <a:prstGeom prst="rect">
            <a:avLst/>
          </a:prstGeom>
        </p:spPr>
      </p:pic>
      <p:pic>
        <p:nvPicPr>
          <p:cNvPr id="9" name="Picture 8">
            <a:extLst>
              <a:ext uri="{FF2B5EF4-FFF2-40B4-BE49-F238E27FC236}">
                <a16:creationId xmlns:a16="http://schemas.microsoft.com/office/drawing/2014/main" id="{DD9313DB-03D7-2D15-8C9B-9E7715F33D2E}"/>
              </a:ext>
            </a:extLst>
          </p:cNvPr>
          <p:cNvPicPr>
            <a:picLocks noChangeAspect="1"/>
          </p:cNvPicPr>
          <p:nvPr/>
        </p:nvPicPr>
        <p:blipFill>
          <a:blip r:embed="rId5"/>
          <a:stretch>
            <a:fillRect/>
          </a:stretch>
        </p:blipFill>
        <p:spPr>
          <a:xfrm>
            <a:off x="734582" y="4525905"/>
            <a:ext cx="9252766" cy="2160000"/>
          </a:xfrm>
          <a:prstGeom prst="rect">
            <a:avLst/>
          </a:prstGeom>
        </p:spPr>
      </p:pic>
    </p:spTree>
    <p:extLst>
      <p:ext uri="{BB962C8B-B14F-4D97-AF65-F5344CB8AC3E}">
        <p14:creationId xmlns:p14="http://schemas.microsoft.com/office/powerpoint/2010/main" val="387917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B3CC-1E47-F6D0-1747-2F06FCB12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3F3D3-CB96-8311-768B-AAD10BDA7CAA}"/>
              </a:ext>
            </a:extLst>
          </p:cNvPr>
          <p:cNvSpPr>
            <a:spLocks noGrp="1"/>
          </p:cNvSpPr>
          <p:nvPr>
            <p:ph type="title"/>
          </p:nvPr>
        </p:nvSpPr>
        <p:spPr/>
        <p:txBody>
          <a:bodyPr/>
          <a:lstStyle/>
          <a:p>
            <a:r>
              <a:rPr lang="en-IN" dirty="0"/>
              <a:t>Multilevel NAND Circuits</a:t>
            </a:r>
          </a:p>
        </p:txBody>
      </p:sp>
      <p:pic>
        <p:nvPicPr>
          <p:cNvPr id="4" name="Picture 3">
            <a:extLst>
              <a:ext uri="{FF2B5EF4-FFF2-40B4-BE49-F238E27FC236}">
                <a16:creationId xmlns:a16="http://schemas.microsoft.com/office/drawing/2014/main" id="{69EEF424-FB10-4650-7706-CEB994F9BD73}"/>
              </a:ext>
            </a:extLst>
          </p:cNvPr>
          <p:cNvPicPr>
            <a:picLocks noChangeAspect="1"/>
          </p:cNvPicPr>
          <p:nvPr/>
        </p:nvPicPr>
        <p:blipFill>
          <a:blip r:embed="rId3"/>
          <a:stretch>
            <a:fillRect/>
          </a:stretch>
        </p:blipFill>
        <p:spPr>
          <a:xfrm>
            <a:off x="838200" y="1299632"/>
            <a:ext cx="4001058" cy="609685"/>
          </a:xfrm>
          <a:prstGeom prst="rect">
            <a:avLst/>
          </a:prstGeom>
        </p:spPr>
      </p:pic>
      <p:pic>
        <p:nvPicPr>
          <p:cNvPr id="8" name="Picture 7">
            <a:extLst>
              <a:ext uri="{FF2B5EF4-FFF2-40B4-BE49-F238E27FC236}">
                <a16:creationId xmlns:a16="http://schemas.microsoft.com/office/drawing/2014/main" id="{E9CA51C4-DCFF-F383-FB25-F67AE6EF5799}"/>
              </a:ext>
            </a:extLst>
          </p:cNvPr>
          <p:cNvPicPr>
            <a:picLocks noChangeAspect="1"/>
          </p:cNvPicPr>
          <p:nvPr/>
        </p:nvPicPr>
        <p:blipFill>
          <a:blip r:embed="rId4"/>
          <a:stretch>
            <a:fillRect/>
          </a:stretch>
        </p:blipFill>
        <p:spPr>
          <a:xfrm>
            <a:off x="3009899" y="2333838"/>
            <a:ext cx="5040000" cy="1775639"/>
          </a:xfrm>
          <a:prstGeom prst="rect">
            <a:avLst/>
          </a:prstGeom>
        </p:spPr>
      </p:pic>
      <p:pic>
        <p:nvPicPr>
          <p:cNvPr id="11" name="Picture 10">
            <a:extLst>
              <a:ext uri="{FF2B5EF4-FFF2-40B4-BE49-F238E27FC236}">
                <a16:creationId xmlns:a16="http://schemas.microsoft.com/office/drawing/2014/main" id="{147C826A-5052-4943-3F55-517D91523D7D}"/>
              </a:ext>
            </a:extLst>
          </p:cNvPr>
          <p:cNvPicPr>
            <a:picLocks noChangeAspect="1"/>
          </p:cNvPicPr>
          <p:nvPr/>
        </p:nvPicPr>
        <p:blipFill>
          <a:blip r:embed="rId5"/>
          <a:stretch>
            <a:fillRect/>
          </a:stretch>
        </p:blipFill>
        <p:spPr>
          <a:xfrm>
            <a:off x="3009899" y="4524162"/>
            <a:ext cx="5839755" cy="1775639"/>
          </a:xfrm>
          <a:prstGeom prst="rect">
            <a:avLst/>
          </a:prstGeom>
        </p:spPr>
      </p:pic>
    </p:spTree>
    <p:extLst>
      <p:ext uri="{BB962C8B-B14F-4D97-AF65-F5344CB8AC3E}">
        <p14:creationId xmlns:p14="http://schemas.microsoft.com/office/powerpoint/2010/main" val="194488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8CBF-9914-C271-0E49-6E6A1CAA5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5B948-65BE-2287-FDD9-840E48890A3A}"/>
              </a:ext>
            </a:extLst>
          </p:cNvPr>
          <p:cNvSpPr>
            <a:spLocks noGrp="1"/>
          </p:cNvSpPr>
          <p:nvPr>
            <p:ph type="title"/>
          </p:nvPr>
        </p:nvSpPr>
        <p:spPr/>
        <p:txBody>
          <a:bodyPr/>
          <a:lstStyle/>
          <a:p>
            <a:r>
              <a:rPr lang="en-IN" dirty="0"/>
              <a:t>NOR Implementation</a:t>
            </a:r>
          </a:p>
        </p:txBody>
      </p:sp>
      <p:pic>
        <p:nvPicPr>
          <p:cNvPr id="5" name="Picture 4">
            <a:extLst>
              <a:ext uri="{FF2B5EF4-FFF2-40B4-BE49-F238E27FC236}">
                <a16:creationId xmlns:a16="http://schemas.microsoft.com/office/drawing/2014/main" id="{2DEACD33-2577-FA00-D5CF-9D44E7EF270E}"/>
              </a:ext>
            </a:extLst>
          </p:cNvPr>
          <p:cNvPicPr>
            <a:picLocks noChangeAspect="1"/>
          </p:cNvPicPr>
          <p:nvPr/>
        </p:nvPicPr>
        <p:blipFill>
          <a:blip r:embed="rId3"/>
          <a:stretch>
            <a:fillRect/>
          </a:stretch>
        </p:blipFill>
        <p:spPr>
          <a:xfrm>
            <a:off x="838201" y="1810432"/>
            <a:ext cx="5802629" cy="2730254"/>
          </a:xfrm>
          <a:prstGeom prst="rect">
            <a:avLst/>
          </a:prstGeom>
        </p:spPr>
      </p:pic>
      <p:pic>
        <p:nvPicPr>
          <p:cNvPr id="7" name="Picture 6">
            <a:extLst>
              <a:ext uri="{FF2B5EF4-FFF2-40B4-BE49-F238E27FC236}">
                <a16:creationId xmlns:a16="http://schemas.microsoft.com/office/drawing/2014/main" id="{22FFDDAB-71C7-9CAB-5ED4-F55394D8DD50}"/>
              </a:ext>
            </a:extLst>
          </p:cNvPr>
          <p:cNvPicPr>
            <a:picLocks noChangeAspect="1"/>
          </p:cNvPicPr>
          <p:nvPr/>
        </p:nvPicPr>
        <p:blipFill>
          <a:blip r:embed="rId4"/>
          <a:srcRect r="59404"/>
          <a:stretch>
            <a:fillRect/>
          </a:stretch>
        </p:blipFill>
        <p:spPr>
          <a:xfrm>
            <a:off x="7417355" y="1517227"/>
            <a:ext cx="3641665" cy="1325563"/>
          </a:xfrm>
          <a:prstGeom prst="rect">
            <a:avLst/>
          </a:prstGeom>
        </p:spPr>
      </p:pic>
      <p:pic>
        <p:nvPicPr>
          <p:cNvPr id="9" name="Picture 8">
            <a:extLst>
              <a:ext uri="{FF2B5EF4-FFF2-40B4-BE49-F238E27FC236}">
                <a16:creationId xmlns:a16="http://schemas.microsoft.com/office/drawing/2014/main" id="{34F72ED7-04F6-3E9F-574C-46BF0F4FD3CE}"/>
              </a:ext>
            </a:extLst>
          </p:cNvPr>
          <p:cNvPicPr>
            <a:picLocks noChangeAspect="1"/>
          </p:cNvPicPr>
          <p:nvPr/>
        </p:nvPicPr>
        <p:blipFill>
          <a:blip r:embed="rId4"/>
          <a:srcRect l="49814"/>
          <a:stretch>
            <a:fillRect/>
          </a:stretch>
        </p:blipFill>
        <p:spPr>
          <a:xfrm>
            <a:off x="7200900" y="3345423"/>
            <a:ext cx="4549498" cy="1339575"/>
          </a:xfrm>
          <a:prstGeom prst="rect">
            <a:avLst/>
          </a:prstGeom>
        </p:spPr>
      </p:pic>
    </p:spTree>
    <p:extLst>
      <p:ext uri="{BB962C8B-B14F-4D97-AF65-F5344CB8AC3E}">
        <p14:creationId xmlns:p14="http://schemas.microsoft.com/office/powerpoint/2010/main" val="1474085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4281E-36EE-97CF-1CBD-6610B70B15A0}"/>
              </a:ext>
            </a:extLst>
          </p:cNvPr>
          <p:cNvSpPr>
            <a:spLocks noGrp="1"/>
          </p:cNvSpPr>
          <p:nvPr>
            <p:ph type="title"/>
          </p:nvPr>
        </p:nvSpPr>
        <p:spPr/>
        <p:txBody>
          <a:bodyPr/>
          <a:lstStyle/>
          <a:p>
            <a:r>
              <a:rPr lang="en-IN" dirty="0"/>
              <a:t>NOR Implementation</a:t>
            </a:r>
          </a:p>
        </p:txBody>
      </p:sp>
      <p:pic>
        <p:nvPicPr>
          <p:cNvPr id="5" name="Content Placeholder 4">
            <a:extLst>
              <a:ext uri="{FF2B5EF4-FFF2-40B4-BE49-F238E27FC236}">
                <a16:creationId xmlns:a16="http://schemas.microsoft.com/office/drawing/2014/main" id="{D83961C4-34DC-0C6F-CFCC-2411FE3709ED}"/>
              </a:ext>
            </a:extLst>
          </p:cNvPr>
          <p:cNvPicPr>
            <a:picLocks noGrp="1" noChangeAspect="1"/>
          </p:cNvPicPr>
          <p:nvPr>
            <p:ph idx="1"/>
          </p:nvPr>
        </p:nvPicPr>
        <p:blipFill>
          <a:blip r:embed="rId2"/>
          <a:stretch>
            <a:fillRect/>
          </a:stretch>
        </p:blipFill>
        <p:spPr>
          <a:xfrm>
            <a:off x="838200" y="1975292"/>
            <a:ext cx="3448531" cy="485843"/>
          </a:xfrm>
          <a:prstGeom prst="rect">
            <a:avLst/>
          </a:prstGeom>
        </p:spPr>
      </p:pic>
      <p:pic>
        <p:nvPicPr>
          <p:cNvPr id="7" name="Picture 6">
            <a:extLst>
              <a:ext uri="{FF2B5EF4-FFF2-40B4-BE49-F238E27FC236}">
                <a16:creationId xmlns:a16="http://schemas.microsoft.com/office/drawing/2014/main" id="{D496359F-9FBD-2A66-4857-F0E5CEAB6ECD}"/>
              </a:ext>
            </a:extLst>
          </p:cNvPr>
          <p:cNvPicPr>
            <a:picLocks noChangeAspect="1"/>
          </p:cNvPicPr>
          <p:nvPr/>
        </p:nvPicPr>
        <p:blipFill>
          <a:blip r:embed="rId3"/>
          <a:stretch>
            <a:fillRect/>
          </a:stretch>
        </p:blipFill>
        <p:spPr>
          <a:xfrm>
            <a:off x="838200" y="2845871"/>
            <a:ext cx="4911703" cy="2320490"/>
          </a:xfrm>
          <a:prstGeom prst="rect">
            <a:avLst/>
          </a:prstGeom>
        </p:spPr>
      </p:pic>
      <p:pic>
        <p:nvPicPr>
          <p:cNvPr id="9" name="Picture 8">
            <a:extLst>
              <a:ext uri="{FF2B5EF4-FFF2-40B4-BE49-F238E27FC236}">
                <a16:creationId xmlns:a16="http://schemas.microsoft.com/office/drawing/2014/main" id="{7A89AEB9-70A7-0A60-6D2B-0FCF6860F0E0}"/>
              </a:ext>
            </a:extLst>
          </p:cNvPr>
          <p:cNvPicPr>
            <a:picLocks noChangeAspect="1"/>
          </p:cNvPicPr>
          <p:nvPr/>
        </p:nvPicPr>
        <p:blipFill>
          <a:blip r:embed="rId4"/>
          <a:stretch>
            <a:fillRect/>
          </a:stretch>
        </p:blipFill>
        <p:spPr>
          <a:xfrm>
            <a:off x="6514993" y="1972963"/>
            <a:ext cx="4153480" cy="590632"/>
          </a:xfrm>
          <a:prstGeom prst="rect">
            <a:avLst/>
          </a:prstGeom>
        </p:spPr>
      </p:pic>
      <p:pic>
        <p:nvPicPr>
          <p:cNvPr id="11" name="Picture 10">
            <a:extLst>
              <a:ext uri="{FF2B5EF4-FFF2-40B4-BE49-F238E27FC236}">
                <a16:creationId xmlns:a16="http://schemas.microsoft.com/office/drawing/2014/main" id="{1EA71604-2E4E-D793-6DC8-7D64BFFE8686}"/>
              </a:ext>
            </a:extLst>
          </p:cNvPr>
          <p:cNvPicPr>
            <a:picLocks noChangeAspect="1"/>
          </p:cNvPicPr>
          <p:nvPr/>
        </p:nvPicPr>
        <p:blipFill>
          <a:blip r:embed="rId5"/>
          <a:stretch>
            <a:fillRect/>
          </a:stretch>
        </p:blipFill>
        <p:spPr>
          <a:xfrm>
            <a:off x="6514993" y="3083080"/>
            <a:ext cx="5524134" cy="2083281"/>
          </a:xfrm>
          <a:prstGeom prst="rect">
            <a:avLst/>
          </a:prstGeom>
        </p:spPr>
      </p:pic>
    </p:spTree>
    <p:extLst>
      <p:ext uri="{BB962C8B-B14F-4D97-AF65-F5344CB8AC3E}">
        <p14:creationId xmlns:p14="http://schemas.microsoft.com/office/powerpoint/2010/main" val="71049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DC46A-7138-6D5C-F7D6-89DAC97C633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2F563D5-C8FA-A185-6CD4-E8CF12B22362}"/>
              </a:ext>
            </a:extLst>
          </p:cNvPr>
          <p:cNvPicPr>
            <a:picLocks noGrp="1" noChangeAspect="1"/>
          </p:cNvPicPr>
          <p:nvPr>
            <p:ph idx="1"/>
          </p:nvPr>
        </p:nvPicPr>
        <p:blipFill>
          <a:blip r:embed="rId2"/>
          <a:stretch>
            <a:fillRect/>
          </a:stretch>
        </p:blipFill>
        <p:spPr>
          <a:xfrm>
            <a:off x="758190" y="1842310"/>
            <a:ext cx="10515600" cy="386047"/>
          </a:xfrm>
          <a:prstGeom prst="rect">
            <a:avLst/>
          </a:prstGeom>
        </p:spPr>
      </p:pic>
      <p:pic>
        <p:nvPicPr>
          <p:cNvPr id="7" name="Picture 6">
            <a:extLst>
              <a:ext uri="{FF2B5EF4-FFF2-40B4-BE49-F238E27FC236}">
                <a16:creationId xmlns:a16="http://schemas.microsoft.com/office/drawing/2014/main" id="{3A057A3F-4625-823E-2F22-D4BE924EE7A0}"/>
              </a:ext>
            </a:extLst>
          </p:cNvPr>
          <p:cNvPicPr>
            <a:picLocks noChangeAspect="1"/>
          </p:cNvPicPr>
          <p:nvPr/>
        </p:nvPicPr>
        <p:blipFill>
          <a:blip r:embed="rId3"/>
          <a:stretch>
            <a:fillRect/>
          </a:stretch>
        </p:blipFill>
        <p:spPr>
          <a:xfrm>
            <a:off x="838200" y="2506802"/>
            <a:ext cx="3806974" cy="1825168"/>
          </a:xfrm>
          <a:prstGeom prst="rect">
            <a:avLst/>
          </a:prstGeom>
        </p:spPr>
      </p:pic>
      <p:pic>
        <p:nvPicPr>
          <p:cNvPr id="9" name="Picture 8">
            <a:extLst>
              <a:ext uri="{FF2B5EF4-FFF2-40B4-BE49-F238E27FC236}">
                <a16:creationId xmlns:a16="http://schemas.microsoft.com/office/drawing/2014/main" id="{94047969-FE87-82B1-A949-3937D1840FEC}"/>
              </a:ext>
            </a:extLst>
          </p:cNvPr>
          <p:cNvPicPr>
            <a:picLocks noChangeAspect="1"/>
          </p:cNvPicPr>
          <p:nvPr/>
        </p:nvPicPr>
        <p:blipFill>
          <a:blip r:embed="rId4"/>
          <a:stretch>
            <a:fillRect/>
          </a:stretch>
        </p:blipFill>
        <p:spPr>
          <a:xfrm>
            <a:off x="5643341" y="2572747"/>
            <a:ext cx="3806974" cy="1845392"/>
          </a:xfrm>
          <a:prstGeom prst="rect">
            <a:avLst/>
          </a:prstGeom>
        </p:spPr>
      </p:pic>
    </p:spTree>
    <p:extLst>
      <p:ext uri="{BB962C8B-B14F-4D97-AF65-F5344CB8AC3E}">
        <p14:creationId xmlns:p14="http://schemas.microsoft.com/office/powerpoint/2010/main" val="308703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477D55A-A03A-CBE6-02DC-71A5A936ADB1}"/>
              </a:ext>
            </a:extLst>
          </p:cNvPr>
          <p:cNvPicPr>
            <a:picLocks noChangeAspect="1"/>
          </p:cNvPicPr>
          <p:nvPr/>
        </p:nvPicPr>
        <p:blipFill>
          <a:blip r:embed="rId3"/>
          <a:stretch>
            <a:fillRect/>
          </a:stretch>
        </p:blipFill>
        <p:spPr>
          <a:xfrm>
            <a:off x="0" y="1099845"/>
            <a:ext cx="6320790" cy="4516911"/>
          </a:xfrm>
          <a:prstGeom prst="rect">
            <a:avLst/>
          </a:prstGeom>
        </p:spPr>
      </p:pic>
      <p:pic>
        <p:nvPicPr>
          <p:cNvPr id="28" name="Picture 27">
            <a:extLst>
              <a:ext uri="{FF2B5EF4-FFF2-40B4-BE49-F238E27FC236}">
                <a16:creationId xmlns:a16="http://schemas.microsoft.com/office/drawing/2014/main" id="{F5D824E5-C447-1F93-681E-341012977960}"/>
              </a:ext>
            </a:extLst>
          </p:cNvPr>
          <p:cNvPicPr>
            <a:picLocks noChangeAspect="1"/>
          </p:cNvPicPr>
          <p:nvPr/>
        </p:nvPicPr>
        <p:blipFill>
          <a:blip r:embed="rId4"/>
          <a:stretch>
            <a:fillRect/>
          </a:stretch>
        </p:blipFill>
        <p:spPr>
          <a:xfrm>
            <a:off x="7289244" y="1948404"/>
            <a:ext cx="3419952" cy="1409897"/>
          </a:xfrm>
          <a:prstGeom prst="rect">
            <a:avLst/>
          </a:prstGeom>
        </p:spPr>
      </p:pic>
      <p:pic>
        <p:nvPicPr>
          <p:cNvPr id="30" name="Picture 29">
            <a:extLst>
              <a:ext uri="{FF2B5EF4-FFF2-40B4-BE49-F238E27FC236}">
                <a16:creationId xmlns:a16="http://schemas.microsoft.com/office/drawing/2014/main" id="{DE11E07C-EB65-0297-AC93-B0AB30C02D51}"/>
              </a:ext>
            </a:extLst>
          </p:cNvPr>
          <p:cNvPicPr>
            <a:picLocks noChangeAspect="1"/>
          </p:cNvPicPr>
          <p:nvPr/>
        </p:nvPicPr>
        <p:blipFill>
          <a:blip r:embed="rId5"/>
          <a:stretch>
            <a:fillRect/>
          </a:stretch>
        </p:blipFill>
        <p:spPr>
          <a:xfrm>
            <a:off x="7388402" y="3575471"/>
            <a:ext cx="2010056" cy="943107"/>
          </a:xfrm>
          <a:prstGeom prst="rect">
            <a:avLst/>
          </a:prstGeom>
        </p:spPr>
      </p:pic>
      <p:pic>
        <p:nvPicPr>
          <p:cNvPr id="32" name="Picture 31">
            <a:extLst>
              <a:ext uri="{FF2B5EF4-FFF2-40B4-BE49-F238E27FC236}">
                <a16:creationId xmlns:a16="http://schemas.microsoft.com/office/drawing/2014/main" id="{C8F1C4BE-424D-E37F-AD5C-EC8B25151658}"/>
              </a:ext>
            </a:extLst>
          </p:cNvPr>
          <p:cNvPicPr>
            <a:picLocks noChangeAspect="1"/>
          </p:cNvPicPr>
          <p:nvPr/>
        </p:nvPicPr>
        <p:blipFill>
          <a:blip r:embed="rId6"/>
          <a:stretch>
            <a:fillRect/>
          </a:stretch>
        </p:blipFill>
        <p:spPr>
          <a:xfrm>
            <a:off x="3373005" y="5147440"/>
            <a:ext cx="8818995" cy="1556293"/>
          </a:xfrm>
          <a:prstGeom prst="rect">
            <a:avLst/>
          </a:prstGeom>
        </p:spPr>
      </p:pic>
    </p:spTree>
    <p:extLst>
      <p:ext uri="{BB962C8B-B14F-4D97-AF65-F5344CB8AC3E}">
        <p14:creationId xmlns:p14="http://schemas.microsoft.com/office/powerpoint/2010/main" val="323917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C4C6-4B34-7A07-7436-C34E665B325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FD132970-39AC-C78E-B361-1AB467867A1F}"/>
              </a:ext>
            </a:extLst>
          </p:cNvPr>
          <p:cNvPicPr>
            <a:picLocks noChangeAspect="1"/>
          </p:cNvPicPr>
          <p:nvPr/>
        </p:nvPicPr>
        <p:blipFill>
          <a:blip r:embed="rId3"/>
          <a:stretch>
            <a:fillRect/>
          </a:stretch>
        </p:blipFill>
        <p:spPr>
          <a:xfrm>
            <a:off x="0" y="1099845"/>
            <a:ext cx="6320790" cy="4516911"/>
          </a:xfrm>
          <a:prstGeom prst="rect">
            <a:avLst/>
          </a:prstGeom>
        </p:spPr>
      </p:pic>
      <p:pic>
        <p:nvPicPr>
          <p:cNvPr id="3" name="Picture 2">
            <a:extLst>
              <a:ext uri="{FF2B5EF4-FFF2-40B4-BE49-F238E27FC236}">
                <a16:creationId xmlns:a16="http://schemas.microsoft.com/office/drawing/2014/main" id="{BCB95781-C28D-B6F3-B28D-802CF8C27F0A}"/>
              </a:ext>
            </a:extLst>
          </p:cNvPr>
          <p:cNvPicPr>
            <a:picLocks noChangeAspect="1"/>
          </p:cNvPicPr>
          <p:nvPr/>
        </p:nvPicPr>
        <p:blipFill>
          <a:blip r:embed="rId4"/>
          <a:stretch>
            <a:fillRect/>
          </a:stretch>
        </p:blipFill>
        <p:spPr>
          <a:xfrm>
            <a:off x="5474970" y="2648461"/>
            <a:ext cx="5616370" cy="3726913"/>
          </a:xfrm>
          <a:prstGeom prst="rect">
            <a:avLst/>
          </a:prstGeom>
        </p:spPr>
      </p:pic>
    </p:spTree>
    <p:extLst>
      <p:ext uri="{BB962C8B-B14F-4D97-AF65-F5344CB8AC3E}">
        <p14:creationId xmlns:p14="http://schemas.microsoft.com/office/powerpoint/2010/main" val="1925658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B1AF-E232-5B92-7D43-2988122FCE1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596E09-1642-0C4F-BF91-8FACA049E4EF}"/>
              </a:ext>
            </a:extLst>
          </p:cNvPr>
          <p:cNvPicPr>
            <a:picLocks noChangeAspect="1"/>
          </p:cNvPicPr>
          <p:nvPr/>
        </p:nvPicPr>
        <p:blipFill>
          <a:blip r:embed="rId3"/>
          <a:stretch>
            <a:fillRect/>
          </a:stretch>
        </p:blipFill>
        <p:spPr>
          <a:xfrm>
            <a:off x="0" y="1190583"/>
            <a:ext cx="6500304" cy="4476834"/>
          </a:xfrm>
          <a:prstGeom prst="rect">
            <a:avLst/>
          </a:prstGeom>
        </p:spPr>
      </p:pic>
      <p:sp>
        <p:nvSpPr>
          <p:cNvPr id="6" name="Rectangle 5">
            <a:extLst>
              <a:ext uri="{FF2B5EF4-FFF2-40B4-BE49-F238E27FC236}">
                <a16:creationId xmlns:a16="http://schemas.microsoft.com/office/drawing/2014/main" id="{0176C62C-2FA6-B693-F821-416129AD6CC0}"/>
              </a:ext>
            </a:extLst>
          </p:cNvPr>
          <p:cNvSpPr/>
          <p:nvPr/>
        </p:nvSpPr>
        <p:spPr>
          <a:xfrm>
            <a:off x="1996884" y="139446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7C31EE0D-C0AB-57D3-DC47-A20F40992AD2}"/>
              </a:ext>
            </a:extLst>
          </p:cNvPr>
          <p:cNvSpPr/>
          <p:nvPr/>
        </p:nvSpPr>
        <p:spPr>
          <a:xfrm>
            <a:off x="1996884" y="242697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8BC51161-DBB6-FB07-12F4-E80A9DB62170}"/>
              </a:ext>
            </a:extLst>
          </p:cNvPr>
          <p:cNvSpPr/>
          <p:nvPr/>
        </p:nvSpPr>
        <p:spPr>
          <a:xfrm>
            <a:off x="5223954" y="289941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5C2D90B-7963-0843-1EC6-C7E32B0A7D6F}"/>
              </a:ext>
            </a:extLst>
          </p:cNvPr>
          <p:cNvSpPr/>
          <p:nvPr/>
        </p:nvSpPr>
        <p:spPr>
          <a:xfrm>
            <a:off x="3764724" y="328041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36218F7A-4DC5-6EA2-C5C9-70DE39F50532}"/>
                  </a:ext>
                </a:extLst>
              </p:cNvPr>
              <p:cNvSpPr/>
              <p:nvPr/>
            </p:nvSpPr>
            <p:spPr>
              <a:xfrm>
                <a:off x="1996884" y="242697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dirty="0" smtClean="0">
                              <a:solidFill>
                                <a:schemeClr val="tx1"/>
                              </a:solidFill>
                              <a:latin typeface="Cambria Math" panose="02040503050406030204" pitchFamily="18" charset="0"/>
                            </a:rPr>
                          </m:ctrlPr>
                        </m:sSubPr>
                        <m:e>
                          <m:r>
                            <a:rPr lang="en-IN" i="1" dirty="0" smtClean="0">
                              <a:solidFill>
                                <a:schemeClr val="tx1"/>
                              </a:solidFill>
                              <a:latin typeface="Cambria Math" panose="02040503050406030204" pitchFamily="18" charset="0"/>
                            </a:rPr>
                            <m:t>𝑇</m:t>
                          </m:r>
                        </m:e>
                        <m:sub>
                          <m:r>
                            <a:rPr lang="en-IN" b="0" i="1" dirty="0" smtClean="0">
                              <a:solidFill>
                                <a:schemeClr val="tx1"/>
                              </a:solidFill>
                              <a:latin typeface="Cambria Math" panose="02040503050406030204" pitchFamily="18" charset="0"/>
                            </a:rPr>
                            <m:t>1</m:t>
                          </m:r>
                        </m:sub>
                      </m:sSub>
                    </m:oMath>
                  </m:oMathPara>
                </a14:m>
                <a:endParaRPr lang="en-IN" dirty="0">
                  <a:solidFill>
                    <a:schemeClr val="tx1"/>
                  </a:solidFill>
                </a:endParaRPr>
              </a:p>
            </p:txBody>
          </p:sp>
        </mc:Choice>
        <mc:Fallback xmlns="">
          <p:sp>
            <p:nvSpPr>
              <p:cNvPr id="10" name="Rectangle 9">
                <a:extLst>
                  <a:ext uri="{FF2B5EF4-FFF2-40B4-BE49-F238E27FC236}">
                    <a16:creationId xmlns:a16="http://schemas.microsoft.com/office/drawing/2014/main" id="{36218F7A-4DC5-6EA2-C5C9-70DE39F50532}"/>
                  </a:ext>
                </a:extLst>
              </p:cNvPr>
              <p:cNvSpPr>
                <a:spLocks noRot="1" noChangeAspect="1" noMove="1" noResize="1" noEditPoints="1" noAdjustHandles="1" noChangeArrowheads="1" noChangeShapeType="1" noTextEdit="1"/>
              </p:cNvSpPr>
              <p:nvPr/>
            </p:nvSpPr>
            <p:spPr>
              <a:xfrm>
                <a:off x="1996884" y="2426970"/>
                <a:ext cx="471996" cy="365760"/>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D894F2A-04FC-2121-04BC-83CFA095AF23}"/>
                  </a:ext>
                </a:extLst>
              </p:cNvPr>
              <p:cNvSpPr/>
              <p:nvPr/>
            </p:nvSpPr>
            <p:spPr>
              <a:xfrm>
                <a:off x="1996884" y="139446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dirty="0" smtClean="0">
                              <a:solidFill>
                                <a:schemeClr val="tx1"/>
                              </a:solidFill>
                              <a:latin typeface="Cambria Math" panose="02040503050406030204" pitchFamily="18" charset="0"/>
                            </a:rPr>
                          </m:ctrlPr>
                        </m:sSubPr>
                        <m:e>
                          <m:r>
                            <a:rPr lang="en-IN" i="1" dirty="0" smtClean="0">
                              <a:solidFill>
                                <a:schemeClr val="tx1"/>
                              </a:solidFill>
                              <a:latin typeface="Cambria Math" panose="02040503050406030204" pitchFamily="18" charset="0"/>
                            </a:rPr>
                            <m:t>𝑇</m:t>
                          </m:r>
                        </m:e>
                        <m:sub>
                          <m:r>
                            <a:rPr lang="en-IN" b="0" i="1" dirty="0" smtClean="0">
                              <a:solidFill>
                                <a:schemeClr val="tx1"/>
                              </a:solidFill>
                              <a:latin typeface="Cambria Math" panose="02040503050406030204" pitchFamily="18" charset="0"/>
                            </a:rPr>
                            <m:t>2</m:t>
                          </m:r>
                        </m:sub>
                      </m:sSub>
                    </m:oMath>
                  </m:oMathPara>
                </a14:m>
                <a:endParaRPr/>
              </a:p>
            </p:txBody>
          </p:sp>
        </mc:Choice>
        <mc:Fallback xmlns="">
          <p:sp>
            <p:nvSpPr>
              <p:cNvPr id="11" name="Rectangle 10">
                <a:extLst>
                  <a:ext uri="{FF2B5EF4-FFF2-40B4-BE49-F238E27FC236}">
                    <a16:creationId xmlns:a16="http://schemas.microsoft.com/office/drawing/2014/main" id="{CD894F2A-04FC-2121-04BC-83CFA095AF23}"/>
                  </a:ext>
                </a:extLst>
              </p:cNvPr>
              <p:cNvSpPr>
                <a:spLocks noRot="1" noChangeAspect="1" noMove="1" noResize="1" noEditPoints="1" noAdjustHandles="1" noChangeArrowheads="1" noChangeShapeType="1" noTextEdit="1"/>
              </p:cNvSpPr>
              <p:nvPr/>
            </p:nvSpPr>
            <p:spPr>
              <a:xfrm>
                <a:off x="1996884" y="1394460"/>
                <a:ext cx="471996" cy="365760"/>
              </a:xfrm>
              <a:prstGeom prst="rect">
                <a:avLst/>
              </a:prstGeom>
              <a:blipFill>
                <a:blip r:embed="rId5"/>
                <a:stretch>
                  <a:fillRect t="-11667" r="-9091" b="-25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A09B496E-0B98-F404-7323-9A753A45E82E}"/>
                  </a:ext>
                </a:extLst>
              </p:cNvPr>
              <p:cNvSpPr/>
              <p:nvPr/>
            </p:nvSpPr>
            <p:spPr>
              <a:xfrm>
                <a:off x="4987956" y="308229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dirty="0" smtClean="0">
                              <a:solidFill>
                                <a:schemeClr val="tx1"/>
                              </a:solidFill>
                              <a:latin typeface="Cambria Math" panose="02040503050406030204" pitchFamily="18" charset="0"/>
                            </a:rPr>
                          </m:ctrlPr>
                        </m:sSubPr>
                        <m:e>
                          <m:r>
                            <a:rPr lang="en-IN" i="1" dirty="0" smtClean="0">
                              <a:solidFill>
                                <a:schemeClr val="tx1"/>
                              </a:solidFill>
                              <a:latin typeface="Cambria Math" panose="02040503050406030204" pitchFamily="18" charset="0"/>
                            </a:rPr>
                            <m:t>𝑇</m:t>
                          </m:r>
                        </m:e>
                        <m:sub>
                          <m:r>
                            <a:rPr lang="en-IN" b="0" i="1" dirty="0" smtClean="0">
                              <a:solidFill>
                                <a:schemeClr val="tx1"/>
                              </a:solidFill>
                              <a:latin typeface="Cambria Math" panose="02040503050406030204" pitchFamily="18" charset="0"/>
                            </a:rPr>
                            <m:t>3</m:t>
                          </m:r>
                        </m:sub>
                      </m:sSub>
                    </m:oMath>
                  </m:oMathPara>
                </a14:m>
                <a:endParaRPr/>
              </a:p>
            </p:txBody>
          </p:sp>
        </mc:Choice>
        <mc:Fallback xmlns="">
          <p:sp>
            <p:nvSpPr>
              <p:cNvPr id="12" name="Rectangle 11">
                <a:extLst>
                  <a:ext uri="{FF2B5EF4-FFF2-40B4-BE49-F238E27FC236}">
                    <a16:creationId xmlns:a16="http://schemas.microsoft.com/office/drawing/2014/main" id="{A09B496E-0B98-F404-7323-9A753A45E82E}"/>
                  </a:ext>
                </a:extLst>
              </p:cNvPr>
              <p:cNvSpPr>
                <a:spLocks noRot="1" noChangeAspect="1" noMove="1" noResize="1" noEditPoints="1" noAdjustHandles="1" noChangeArrowheads="1" noChangeShapeType="1" noTextEdit="1"/>
              </p:cNvSpPr>
              <p:nvPr/>
            </p:nvSpPr>
            <p:spPr>
              <a:xfrm>
                <a:off x="4987956" y="3082290"/>
                <a:ext cx="471996" cy="365760"/>
              </a:xfrm>
              <a:prstGeom prst="rect">
                <a:avLst/>
              </a:prstGeom>
              <a:blipFill>
                <a:blip r:embed="rId6"/>
                <a:stretch>
                  <a:fillRect t="-11667" r="-8974" b="-25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02FB97F-8155-170D-4E5E-2324DFB951A0}"/>
                  </a:ext>
                </a:extLst>
              </p:cNvPr>
              <p:cNvSpPr/>
              <p:nvPr/>
            </p:nvSpPr>
            <p:spPr>
              <a:xfrm>
                <a:off x="3764724" y="3291840"/>
                <a:ext cx="471996"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n-IN" b="0" i="1" dirty="0" smtClean="0">
                              <a:solidFill>
                                <a:schemeClr val="tx1"/>
                              </a:solidFill>
                              <a:latin typeface="Cambria Math" panose="02040503050406030204" pitchFamily="18" charset="0"/>
                            </a:rPr>
                          </m:ctrlPr>
                        </m:sSubSupPr>
                        <m:e>
                          <m:r>
                            <a:rPr lang="en-IN" b="0" i="1" dirty="0" smtClean="0">
                              <a:solidFill>
                                <a:schemeClr val="tx1"/>
                              </a:solidFill>
                              <a:latin typeface="Cambria Math" panose="02040503050406030204" pitchFamily="18" charset="0"/>
                            </a:rPr>
                            <m:t>𝐹</m:t>
                          </m:r>
                        </m:e>
                        <m:sub>
                          <m:r>
                            <a:rPr lang="en-IN" b="0" i="1" dirty="0" smtClean="0">
                              <a:solidFill>
                                <a:schemeClr val="tx1"/>
                              </a:solidFill>
                              <a:latin typeface="Cambria Math" panose="02040503050406030204" pitchFamily="18" charset="0"/>
                            </a:rPr>
                            <m:t>2</m:t>
                          </m:r>
                        </m:sub>
                        <m:sup>
                          <m:r>
                            <a:rPr lang="en-IN" b="0" i="1" dirty="0" smtClean="0">
                              <a:solidFill>
                                <a:schemeClr val="tx1"/>
                              </a:solidFill>
                              <a:latin typeface="Cambria Math" panose="02040503050406030204" pitchFamily="18" charset="0"/>
                            </a:rPr>
                            <m:t>′</m:t>
                          </m:r>
                        </m:sup>
                      </m:sSubSup>
                    </m:oMath>
                  </m:oMathPara>
                </a14:m>
                <a:endParaRPr/>
              </a:p>
            </p:txBody>
          </p:sp>
        </mc:Choice>
        <mc:Fallback xmlns="">
          <p:sp>
            <p:nvSpPr>
              <p:cNvPr id="13" name="Rectangle 12">
                <a:extLst>
                  <a:ext uri="{FF2B5EF4-FFF2-40B4-BE49-F238E27FC236}">
                    <a16:creationId xmlns:a16="http://schemas.microsoft.com/office/drawing/2014/main" id="{902FB97F-8155-170D-4E5E-2324DFB951A0}"/>
                  </a:ext>
                </a:extLst>
              </p:cNvPr>
              <p:cNvSpPr>
                <a:spLocks noRot="1" noChangeAspect="1" noMove="1" noResize="1" noEditPoints="1" noAdjustHandles="1" noChangeArrowheads="1" noChangeShapeType="1" noTextEdit="1"/>
              </p:cNvSpPr>
              <p:nvPr/>
            </p:nvSpPr>
            <p:spPr>
              <a:xfrm>
                <a:off x="3764724" y="3291840"/>
                <a:ext cx="471996" cy="365760"/>
              </a:xfrm>
              <a:prstGeom prst="rect">
                <a:avLst/>
              </a:prstGeom>
              <a:blipFill>
                <a:blip r:embed="rId7"/>
                <a:stretch>
                  <a:fillRect t="-10000" r="-9091" b="-25000"/>
                </a:stretch>
              </a:blipFill>
              <a:ln>
                <a:noFill/>
              </a:ln>
            </p:spPr>
            <p:txBody>
              <a:bodyPr/>
              <a:lstStyle/>
              <a:p>
                <a:r>
                  <a:rPr lang="en-IN">
                    <a:noFill/>
                  </a:rPr>
                  <a:t> </a:t>
                </a:r>
              </a:p>
            </p:txBody>
          </p:sp>
        </mc:Fallback>
      </mc:AlternateContent>
      <p:pic>
        <p:nvPicPr>
          <p:cNvPr id="15" name="Picture 14">
            <a:extLst>
              <a:ext uri="{FF2B5EF4-FFF2-40B4-BE49-F238E27FC236}">
                <a16:creationId xmlns:a16="http://schemas.microsoft.com/office/drawing/2014/main" id="{21C83BA2-F2B7-8C8E-679D-B8DFCC4B0487}"/>
              </a:ext>
            </a:extLst>
          </p:cNvPr>
          <p:cNvPicPr>
            <a:picLocks noChangeAspect="1"/>
          </p:cNvPicPr>
          <p:nvPr/>
        </p:nvPicPr>
        <p:blipFill>
          <a:blip r:embed="rId8"/>
          <a:stretch>
            <a:fillRect/>
          </a:stretch>
        </p:blipFill>
        <p:spPr>
          <a:xfrm>
            <a:off x="7775078" y="1760220"/>
            <a:ext cx="2562583" cy="409632"/>
          </a:xfrm>
          <a:prstGeom prst="rect">
            <a:avLst/>
          </a:prstGeom>
        </p:spPr>
      </p:pic>
      <p:pic>
        <p:nvPicPr>
          <p:cNvPr id="17" name="Picture 16">
            <a:extLst>
              <a:ext uri="{FF2B5EF4-FFF2-40B4-BE49-F238E27FC236}">
                <a16:creationId xmlns:a16="http://schemas.microsoft.com/office/drawing/2014/main" id="{F0B6722F-F5BC-E0E6-D60B-0D7F89279441}"/>
              </a:ext>
            </a:extLst>
          </p:cNvPr>
          <p:cNvPicPr>
            <a:picLocks noChangeAspect="1"/>
          </p:cNvPicPr>
          <p:nvPr/>
        </p:nvPicPr>
        <p:blipFill>
          <a:blip r:embed="rId9"/>
          <a:srcRect t="81610" r="54136"/>
          <a:stretch>
            <a:fillRect/>
          </a:stretch>
        </p:blipFill>
        <p:spPr>
          <a:xfrm>
            <a:off x="7692834" y="4526789"/>
            <a:ext cx="3451612" cy="346884"/>
          </a:xfrm>
          <a:prstGeom prst="rect">
            <a:avLst/>
          </a:prstGeom>
        </p:spPr>
      </p:pic>
      <p:pic>
        <p:nvPicPr>
          <p:cNvPr id="18" name="Picture 17">
            <a:extLst>
              <a:ext uri="{FF2B5EF4-FFF2-40B4-BE49-F238E27FC236}">
                <a16:creationId xmlns:a16="http://schemas.microsoft.com/office/drawing/2014/main" id="{13376863-39C0-1387-3733-6490D65E9590}"/>
              </a:ext>
            </a:extLst>
          </p:cNvPr>
          <p:cNvPicPr>
            <a:picLocks noChangeAspect="1"/>
          </p:cNvPicPr>
          <p:nvPr/>
        </p:nvPicPr>
        <p:blipFill>
          <a:blip r:embed="rId9"/>
          <a:srcRect r="77529" b="82526"/>
          <a:stretch>
            <a:fillRect/>
          </a:stretch>
        </p:blipFill>
        <p:spPr>
          <a:xfrm>
            <a:off x="7775078" y="2287872"/>
            <a:ext cx="1691144" cy="329598"/>
          </a:xfrm>
          <a:prstGeom prst="rect">
            <a:avLst/>
          </a:prstGeom>
        </p:spPr>
      </p:pic>
      <p:pic>
        <p:nvPicPr>
          <p:cNvPr id="19" name="Picture 18">
            <a:extLst>
              <a:ext uri="{FF2B5EF4-FFF2-40B4-BE49-F238E27FC236}">
                <a16:creationId xmlns:a16="http://schemas.microsoft.com/office/drawing/2014/main" id="{860C47C2-7674-D177-6A13-8883BD9913C9}"/>
              </a:ext>
            </a:extLst>
          </p:cNvPr>
          <p:cNvPicPr>
            <a:picLocks noChangeAspect="1"/>
          </p:cNvPicPr>
          <p:nvPr/>
        </p:nvPicPr>
        <p:blipFill>
          <a:blip r:embed="rId9"/>
          <a:srcRect t="17779" r="49568" b="61703"/>
          <a:stretch>
            <a:fillRect/>
          </a:stretch>
        </p:blipFill>
        <p:spPr>
          <a:xfrm>
            <a:off x="7692834" y="2735490"/>
            <a:ext cx="3795426" cy="387018"/>
          </a:xfrm>
          <a:prstGeom prst="rect">
            <a:avLst/>
          </a:prstGeom>
        </p:spPr>
      </p:pic>
      <p:pic>
        <p:nvPicPr>
          <p:cNvPr id="20" name="Picture 19">
            <a:extLst>
              <a:ext uri="{FF2B5EF4-FFF2-40B4-BE49-F238E27FC236}">
                <a16:creationId xmlns:a16="http://schemas.microsoft.com/office/drawing/2014/main" id="{871D237E-4075-D490-923B-8F3510A94229}"/>
              </a:ext>
            </a:extLst>
          </p:cNvPr>
          <p:cNvPicPr>
            <a:picLocks noChangeAspect="1"/>
          </p:cNvPicPr>
          <p:nvPr/>
        </p:nvPicPr>
        <p:blipFill>
          <a:blip r:embed="rId9"/>
          <a:srcRect l="49568" t="19906" b="60504"/>
          <a:stretch>
            <a:fillRect/>
          </a:stretch>
        </p:blipFill>
        <p:spPr>
          <a:xfrm>
            <a:off x="8188655" y="3183108"/>
            <a:ext cx="3795426" cy="369503"/>
          </a:xfrm>
          <a:prstGeom prst="rect">
            <a:avLst/>
          </a:prstGeom>
        </p:spPr>
      </p:pic>
      <p:pic>
        <p:nvPicPr>
          <p:cNvPr id="21" name="Picture 20">
            <a:extLst>
              <a:ext uri="{FF2B5EF4-FFF2-40B4-BE49-F238E27FC236}">
                <a16:creationId xmlns:a16="http://schemas.microsoft.com/office/drawing/2014/main" id="{DB4D361D-8C6C-F604-BD68-14467E8CD573}"/>
              </a:ext>
            </a:extLst>
          </p:cNvPr>
          <p:cNvPicPr>
            <a:picLocks noChangeAspect="1"/>
          </p:cNvPicPr>
          <p:nvPr/>
        </p:nvPicPr>
        <p:blipFill>
          <a:blip r:embed="rId9"/>
          <a:srcRect t="40708" r="77880" b="39802"/>
          <a:stretch>
            <a:fillRect/>
          </a:stretch>
        </p:blipFill>
        <p:spPr>
          <a:xfrm>
            <a:off x="7775078" y="3657600"/>
            <a:ext cx="1664722" cy="367623"/>
          </a:xfrm>
          <a:prstGeom prst="rect">
            <a:avLst/>
          </a:prstGeom>
        </p:spPr>
      </p:pic>
      <p:pic>
        <p:nvPicPr>
          <p:cNvPr id="22" name="Picture 21">
            <a:extLst>
              <a:ext uri="{FF2B5EF4-FFF2-40B4-BE49-F238E27FC236}">
                <a16:creationId xmlns:a16="http://schemas.microsoft.com/office/drawing/2014/main" id="{52ED15DB-E63A-1D7C-5FB7-4E0D03DBCEFB}"/>
              </a:ext>
            </a:extLst>
          </p:cNvPr>
          <p:cNvPicPr>
            <a:picLocks noChangeAspect="1"/>
          </p:cNvPicPr>
          <p:nvPr/>
        </p:nvPicPr>
        <p:blipFill>
          <a:blip r:embed="rId9"/>
          <a:srcRect t="60198" r="52364" b="19199"/>
          <a:stretch>
            <a:fillRect/>
          </a:stretch>
        </p:blipFill>
        <p:spPr>
          <a:xfrm>
            <a:off x="7692834" y="4081696"/>
            <a:ext cx="3584962" cy="388620"/>
          </a:xfrm>
          <a:prstGeom prst="rect">
            <a:avLst/>
          </a:prstGeom>
        </p:spPr>
      </p:pic>
    </p:spTree>
    <p:extLst>
      <p:ext uri="{BB962C8B-B14F-4D97-AF65-F5344CB8AC3E}">
        <p14:creationId xmlns:p14="http://schemas.microsoft.com/office/powerpoint/2010/main" val="334149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A8FD-C12C-864F-3F7D-4B9B32BB62DB}"/>
              </a:ext>
            </a:extLst>
          </p:cNvPr>
          <p:cNvSpPr>
            <a:spLocks noGrp="1"/>
          </p:cNvSpPr>
          <p:nvPr>
            <p:ph type="title"/>
          </p:nvPr>
        </p:nvSpPr>
        <p:spPr/>
        <p:txBody>
          <a:bodyPr/>
          <a:lstStyle/>
          <a:p>
            <a:r>
              <a:rPr lang="en-IN" dirty="0"/>
              <a:t>Combinational Circuit</a:t>
            </a:r>
          </a:p>
        </p:txBody>
      </p:sp>
      <p:sp>
        <p:nvSpPr>
          <p:cNvPr id="3" name="Content Placeholder 2">
            <a:extLst>
              <a:ext uri="{FF2B5EF4-FFF2-40B4-BE49-F238E27FC236}">
                <a16:creationId xmlns:a16="http://schemas.microsoft.com/office/drawing/2014/main" id="{08DF7CD8-9AA9-6E00-8FD1-76ABEFECAE68}"/>
              </a:ext>
            </a:extLst>
          </p:cNvPr>
          <p:cNvSpPr>
            <a:spLocks noGrp="1"/>
          </p:cNvSpPr>
          <p:nvPr>
            <p:ph idx="1"/>
          </p:nvPr>
        </p:nvSpPr>
        <p:spPr/>
        <p:txBody>
          <a:bodyPr/>
          <a:lstStyle/>
          <a:p>
            <a:r>
              <a:rPr lang="en-IN" dirty="0"/>
              <a:t>Adder</a:t>
            </a:r>
          </a:p>
          <a:p>
            <a:r>
              <a:rPr lang="en-IN" dirty="0"/>
              <a:t>Subtractor</a:t>
            </a:r>
          </a:p>
          <a:p>
            <a:r>
              <a:rPr lang="en-IN" dirty="0"/>
              <a:t>Multiplier</a:t>
            </a:r>
          </a:p>
          <a:p>
            <a:r>
              <a:rPr lang="en-IN" dirty="0"/>
              <a:t>Comparator</a:t>
            </a:r>
          </a:p>
          <a:p>
            <a:r>
              <a:rPr lang="en-IN" dirty="0"/>
              <a:t>Decoder</a:t>
            </a:r>
          </a:p>
          <a:p>
            <a:r>
              <a:rPr lang="en-IN" dirty="0"/>
              <a:t>Encoder</a:t>
            </a:r>
          </a:p>
          <a:p>
            <a:r>
              <a:rPr lang="en-IN" dirty="0"/>
              <a:t>Multiplexer</a:t>
            </a:r>
          </a:p>
          <a:p>
            <a:pPr marL="0" indent="0">
              <a:buNone/>
            </a:pPr>
            <a:endParaRPr lang="en-IN" dirty="0"/>
          </a:p>
        </p:txBody>
      </p:sp>
    </p:spTree>
    <p:extLst>
      <p:ext uri="{BB962C8B-B14F-4D97-AF65-F5344CB8AC3E}">
        <p14:creationId xmlns:p14="http://schemas.microsoft.com/office/powerpoint/2010/main" val="31907591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A8AE6B-9C1B-4ED8-CCCC-ACE0E51C0269}"/>
              </a:ext>
            </a:extLst>
          </p:cNvPr>
          <p:cNvPicPr>
            <a:picLocks noChangeAspect="1"/>
          </p:cNvPicPr>
          <p:nvPr/>
        </p:nvPicPr>
        <p:blipFill>
          <a:blip r:embed="rId2"/>
          <a:stretch>
            <a:fillRect/>
          </a:stretch>
        </p:blipFill>
        <p:spPr>
          <a:xfrm>
            <a:off x="87631" y="68580"/>
            <a:ext cx="6644563" cy="6720840"/>
          </a:xfrm>
          <a:prstGeom prst="rect">
            <a:avLst/>
          </a:prstGeom>
        </p:spPr>
      </p:pic>
      <p:sp>
        <p:nvSpPr>
          <p:cNvPr id="6" name="TextBox 5">
            <a:extLst>
              <a:ext uri="{FF2B5EF4-FFF2-40B4-BE49-F238E27FC236}">
                <a16:creationId xmlns:a16="http://schemas.microsoft.com/office/drawing/2014/main" id="{C12E021E-70BC-37CD-44EA-E8F2DA953688}"/>
              </a:ext>
            </a:extLst>
          </p:cNvPr>
          <p:cNvSpPr txBox="1"/>
          <p:nvPr/>
        </p:nvSpPr>
        <p:spPr>
          <a:xfrm>
            <a:off x="8114482" y="137160"/>
            <a:ext cx="3989887" cy="1200329"/>
          </a:xfrm>
          <a:prstGeom prst="rect">
            <a:avLst/>
          </a:prstGeom>
          <a:noFill/>
        </p:spPr>
        <p:txBody>
          <a:bodyPr wrap="square" rtlCol="0">
            <a:spAutoFit/>
          </a:bodyPr>
          <a:lstStyle/>
          <a:p>
            <a:r>
              <a:rPr lang="en-IN" sz="5400" dirty="0"/>
              <a:t>Comparator</a:t>
            </a:r>
          </a:p>
          <a:p>
            <a:endParaRPr lang="en-IN" dirty="0"/>
          </a:p>
        </p:txBody>
      </p:sp>
    </p:spTree>
    <p:extLst>
      <p:ext uri="{BB962C8B-B14F-4D97-AF65-F5344CB8AC3E}">
        <p14:creationId xmlns:p14="http://schemas.microsoft.com/office/powerpoint/2010/main" val="3092194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EFD8-EF92-BE1F-ABCE-59D17118F02A}"/>
              </a:ext>
            </a:extLst>
          </p:cNvPr>
          <p:cNvSpPr>
            <a:spLocks noGrp="1"/>
          </p:cNvSpPr>
          <p:nvPr>
            <p:ph type="title"/>
          </p:nvPr>
        </p:nvSpPr>
        <p:spPr>
          <a:xfrm>
            <a:off x="294533" y="365125"/>
            <a:ext cx="11059267" cy="1325563"/>
          </a:xfrm>
        </p:spPr>
        <p:txBody>
          <a:bodyPr/>
          <a:lstStyle/>
          <a:p>
            <a:r>
              <a:rPr lang="en-IN" dirty="0"/>
              <a:t>State Reduction</a:t>
            </a:r>
          </a:p>
        </p:txBody>
      </p:sp>
      <p:sp>
        <p:nvSpPr>
          <p:cNvPr id="3" name="Content Placeholder 2">
            <a:extLst>
              <a:ext uri="{FF2B5EF4-FFF2-40B4-BE49-F238E27FC236}">
                <a16:creationId xmlns:a16="http://schemas.microsoft.com/office/drawing/2014/main" id="{E063E12F-771B-0F9C-7ECF-A11B56ED34C8}"/>
              </a:ext>
            </a:extLst>
          </p:cNvPr>
          <p:cNvSpPr>
            <a:spLocks noGrp="1"/>
          </p:cNvSpPr>
          <p:nvPr>
            <p:ph idx="1"/>
          </p:nvPr>
        </p:nvSpPr>
        <p:spPr>
          <a:xfrm>
            <a:off x="294533" y="1526552"/>
            <a:ext cx="10309860" cy="904014"/>
          </a:xfrm>
        </p:spPr>
        <p:txBody>
          <a:bodyPr/>
          <a:lstStyle/>
          <a:p>
            <a:r>
              <a:rPr lang="en-US" dirty="0"/>
              <a:t>Reducing the number of states in a state table, while keeping the external input–output requirements unchanged.</a:t>
            </a:r>
            <a:endParaRPr lang="en-IN" dirty="0"/>
          </a:p>
        </p:txBody>
      </p:sp>
      <p:pic>
        <p:nvPicPr>
          <p:cNvPr id="5" name="Picture 4">
            <a:extLst>
              <a:ext uri="{FF2B5EF4-FFF2-40B4-BE49-F238E27FC236}">
                <a16:creationId xmlns:a16="http://schemas.microsoft.com/office/drawing/2014/main" id="{AB5FC69B-7E9B-A9B4-46F4-AED8B07E1C73}"/>
              </a:ext>
            </a:extLst>
          </p:cNvPr>
          <p:cNvPicPr>
            <a:picLocks noChangeAspect="1"/>
          </p:cNvPicPr>
          <p:nvPr/>
        </p:nvPicPr>
        <p:blipFill>
          <a:blip r:embed="rId2"/>
          <a:stretch>
            <a:fillRect/>
          </a:stretch>
        </p:blipFill>
        <p:spPr>
          <a:xfrm>
            <a:off x="8440269" y="2127149"/>
            <a:ext cx="3120162" cy="4183380"/>
          </a:xfrm>
          <a:prstGeom prst="rect">
            <a:avLst/>
          </a:prstGeom>
        </p:spPr>
      </p:pic>
      <p:pic>
        <p:nvPicPr>
          <p:cNvPr id="7" name="Picture 6">
            <a:extLst>
              <a:ext uri="{FF2B5EF4-FFF2-40B4-BE49-F238E27FC236}">
                <a16:creationId xmlns:a16="http://schemas.microsoft.com/office/drawing/2014/main" id="{EA56413F-ED81-152C-A25C-D127CC1E3A30}"/>
              </a:ext>
            </a:extLst>
          </p:cNvPr>
          <p:cNvPicPr>
            <a:picLocks noChangeAspect="1"/>
          </p:cNvPicPr>
          <p:nvPr/>
        </p:nvPicPr>
        <p:blipFill>
          <a:blip r:embed="rId3"/>
          <a:stretch>
            <a:fillRect/>
          </a:stretch>
        </p:blipFill>
        <p:spPr>
          <a:xfrm>
            <a:off x="294533" y="2726655"/>
            <a:ext cx="8056943" cy="904014"/>
          </a:xfrm>
          <a:prstGeom prst="rect">
            <a:avLst/>
          </a:prstGeom>
        </p:spPr>
      </p:pic>
      <p:sp>
        <p:nvSpPr>
          <p:cNvPr id="8" name="TextBox 7">
            <a:extLst>
              <a:ext uri="{FF2B5EF4-FFF2-40B4-BE49-F238E27FC236}">
                <a16:creationId xmlns:a16="http://schemas.microsoft.com/office/drawing/2014/main" id="{734D6127-B194-51D2-0148-D790A4AE45AC}"/>
              </a:ext>
            </a:extLst>
          </p:cNvPr>
          <p:cNvSpPr txBox="1"/>
          <p:nvPr/>
        </p:nvSpPr>
        <p:spPr>
          <a:xfrm>
            <a:off x="294533" y="4047382"/>
            <a:ext cx="8056943" cy="646331"/>
          </a:xfrm>
          <a:prstGeom prst="rect">
            <a:avLst/>
          </a:prstGeom>
          <a:noFill/>
        </p:spPr>
        <p:txBody>
          <a:bodyPr wrap="square" rtlCol="0">
            <a:spAutoFit/>
          </a:bodyPr>
          <a:lstStyle/>
          <a:p>
            <a:r>
              <a:rPr lang="en-US" dirty="0"/>
              <a:t>The states themselves are of secondary importance, because we are interested only in output sequences caused by input sequences.</a:t>
            </a:r>
            <a:endParaRPr lang="en-IN" dirty="0"/>
          </a:p>
        </p:txBody>
      </p:sp>
    </p:spTree>
    <p:extLst>
      <p:ext uri="{BB962C8B-B14F-4D97-AF65-F5344CB8AC3E}">
        <p14:creationId xmlns:p14="http://schemas.microsoft.com/office/powerpoint/2010/main" val="83703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20E633-6BD0-7316-D9B6-A92410FB0080}"/>
              </a:ext>
            </a:extLst>
          </p:cNvPr>
          <p:cNvPicPr>
            <a:picLocks noChangeAspect="1"/>
          </p:cNvPicPr>
          <p:nvPr/>
        </p:nvPicPr>
        <p:blipFill>
          <a:blip r:embed="rId3"/>
          <a:stretch>
            <a:fillRect/>
          </a:stretch>
        </p:blipFill>
        <p:spPr>
          <a:xfrm>
            <a:off x="5212080" y="363245"/>
            <a:ext cx="5241595" cy="2732260"/>
          </a:xfrm>
          <a:prstGeom prst="rect">
            <a:avLst/>
          </a:prstGeom>
        </p:spPr>
      </p:pic>
      <p:pic>
        <p:nvPicPr>
          <p:cNvPr id="6" name="Picture 5">
            <a:extLst>
              <a:ext uri="{FF2B5EF4-FFF2-40B4-BE49-F238E27FC236}">
                <a16:creationId xmlns:a16="http://schemas.microsoft.com/office/drawing/2014/main" id="{F367950B-5CF8-626B-05E8-776DA2C44FA8}"/>
              </a:ext>
            </a:extLst>
          </p:cNvPr>
          <p:cNvPicPr>
            <a:picLocks noChangeAspect="1"/>
          </p:cNvPicPr>
          <p:nvPr/>
        </p:nvPicPr>
        <p:blipFill>
          <a:blip r:embed="rId4"/>
          <a:stretch>
            <a:fillRect/>
          </a:stretch>
        </p:blipFill>
        <p:spPr>
          <a:xfrm>
            <a:off x="1566910" y="166910"/>
            <a:ext cx="2330720" cy="3124930"/>
          </a:xfrm>
          <a:prstGeom prst="rect">
            <a:avLst/>
          </a:prstGeom>
        </p:spPr>
      </p:pic>
      <p:sp>
        <p:nvSpPr>
          <p:cNvPr id="7" name="TextBox 6">
            <a:extLst>
              <a:ext uri="{FF2B5EF4-FFF2-40B4-BE49-F238E27FC236}">
                <a16:creationId xmlns:a16="http://schemas.microsoft.com/office/drawing/2014/main" id="{9AE062F1-1739-28CD-C775-544C7CA99442}"/>
              </a:ext>
            </a:extLst>
          </p:cNvPr>
          <p:cNvSpPr txBox="1"/>
          <p:nvPr/>
        </p:nvSpPr>
        <p:spPr>
          <a:xfrm>
            <a:off x="179070" y="3317935"/>
            <a:ext cx="12012930" cy="646331"/>
          </a:xfrm>
          <a:prstGeom prst="rect">
            <a:avLst/>
          </a:prstGeom>
          <a:noFill/>
        </p:spPr>
        <p:txBody>
          <a:bodyPr wrap="square" rtlCol="0">
            <a:spAutoFit/>
          </a:bodyPr>
          <a:lstStyle/>
          <a:p>
            <a:r>
              <a:rPr lang="en-US" dirty="0"/>
              <a:t>“Two states are said to be equivalent if, for each member of the set of inputs, they give exactly the same output and send the circuit either to the same state or to an equivalent state.”</a:t>
            </a:r>
            <a:endParaRPr lang="en-IN" dirty="0"/>
          </a:p>
        </p:txBody>
      </p:sp>
      <p:pic>
        <p:nvPicPr>
          <p:cNvPr id="9" name="Picture 8">
            <a:extLst>
              <a:ext uri="{FF2B5EF4-FFF2-40B4-BE49-F238E27FC236}">
                <a16:creationId xmlns:a16="http://schemas.microsoft.com/office/drawing/2014/main" id="{45BC313E-AF14-4876-428C-C0346C8E2718}"/>
              </a:ext>
            </a:extLst>
          </p:cNvPr>
          <p:cNvPicPr>
            <a:picLocks noChangeAspect="1"/>
          </p:cNvPicPr>
          <p:nvPr/>
        </p:nvPicPr>
        <p:blipFill>
          <a:blip r:embed="rId5"/>
          <a:srcRect t="6045"/>
          <a:stretch>
            <a:fillRect/>
          </a:stretch>
        </p:blipFill>
        <p:spPr>
          <a:xfrm>
            <a:off x="5212080" y="4075331"/>
            <a:ext cx="5452110" cy="2640943"/>
          </a:xfrm>
          <a:prstGeom prst="rect">
            <a:avLst/>
          </a:prstGeom>
        </p:spPr>
      </p:pic>
      <p:pic>
        <p:nvPicPr>
          <p:cNvPr id="11" name="Picture 10">
            <a:extLst>
              <a:ext uri="{FF2B5EF4-FFF2-40B4-BE49-F238E27FC236}">
                <a16:creationId xmlns:a16="http://schemas.microsoft.com/office/drawing/2014/main" id="{B3D785D3-4C90-2ACD-7C0E-FFC31ADDD0F2}"/>
              </a:ext>
            </a:extLst>
          </p:cNvPr>
          <p:cNvPicPr>
            <a:picLocks noChangeAspect="1"/>
          </p:cNvPicPr>
          <p:nvPr/>
        </p:nvPicPr>
        <p:blipFill>
          <a:blip r:embed="rId6"/>
          <a:stretch>
            <a:fillRect/>
          </a:stretch>
        </p:blipFill>
        <p:spPr>
          <a:xfrm>
            <a:off x="1348740" y="4101426"/>
            <a:ext cx="2423160" cy="2588752"/>
          </a:xfrm>
          <a:prstGeom prst="rect">
            <a:avLst/>
          </a:prstGeom>
        </p:spPr>
      </p:pic>
      <p:pic>
        <p:nvPicPr>
          <p:cNvPr id="13" name="Picture 12">
            <a:extLst>
              <a:ext uri="{FF2B5EF4-FFF2-40B4-BE49-F238E27FC236}">
                <a16:creationId xmlns:a16="http://schemas.microsoft.com/office/drawing/2014/main" id="{32C611B5-AD5C-8FD9-98E7-A35CFB765B13}"/>
              </a:ext>
            </a:extLst>
          </p:cNvPr>
          <p:cNvPicPr>
            <a:picLocks noChangeAspect="1"/>
          </p:cNvPicPr>
          <p:nvPr/>
        </p:nvPicPr>
        <p:blipFill>
          <a:blip r:embed="rId7"/>
          <a:stretch>
            <a:fillRect/>
          </a:stretch>
        </p:blipFill>
        <p:spPr>
          <a:xfrm>
            <a:off x="5242560" y="4075331"/>
            <a:ext cx="5600700" cy="2588752"/>
          </a:xfrm>
          <a:prstGeom prst="rect">
            <a:avLst/>
          </a:prstGeom>
        </p:spPr>
      </p:pic>
    </p:spTree>
    <p:extLst>
      <p:ext uri="{BB962C8B-B14F-4D97-AF65-F5344CB8AC3E}">
        <p14:creationId xmlns:p14="http://schemas.microsoft.com/office/powerpoint/2010/main" val="344023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F7818E-D260-6E75-4670-CEF05292EF74}"/>
              </a:ext>
            </a:extLst>
          </p:cNvPr>
          <p:cNvPicPr>
            <a:picLocks noChangeAspect="1"/>
          </p:cNvPicPr>
          <p:nvPr/>
        </p:nvPicPr>
        <p:blipFill>
          <a:blip r:embed="rId2"/>
          <a:stretch>
            <a:fillRect/>
          </a:stretch>
        </p:blipFill>
        <p:spPr>
          <a:xfrm>
            <a:off x="3143263" y="1792750"/>
            <a:ext cx="7780007" cy="860197"/>
          </a:xfrm>
          <a:prstGeom prst="rect">
            <a:avLst/>
          </a:prstGeom>
        </p:spPr>
      </p:pic>
      <p:pic>
        <p:nvPicPr>
          <p:cNvPr id="6" name="Picture 5">
            <a:extLst>
              <a:ext uri="{FF2B5EF4-FFF2-40B4-BE49-F238E27FC236}">
                <a16:creationId xmlns:a16="http://schemas.microsoft.com/office/drawing/2014/main" id="{C738E860-9028-2A42-334A-FF934EB54CF1}"/>
              </a:ext>
            </a:extLst>
          </p:cNvPr>
          <p:cNvPicPr>
            <a:picLocks noChangeAspect="1"/>
          </p:cNvPicPr>
          <p:nvPr/>
        </p:nvPicPr>
        <p:blipFill>
          <a:blip r:embed="rId3"/>
          <a:stretch>
            <a:fillRect/>
          </a:stretch>
        </p:blipFill>
        <p:spPr>
          <a:xfrm>
            <a:off x="477376" y="1047837"/>
            <a:ext cx="2228850" cy="2381163"/>
          </a:xfrm>
          <a:prstGeom prst="rect">
            <a:avLst/>
          </a:prstGeom>
        </p:spPr>
      </p:pic>
      <p:pic>
        <p:nvPicPr>
          <p:cNvPr id="7" name="Picture 6">
            <a:extLst>
              <a:ext uri="{FF2B5EF4-FFF2-40B4-BE49-F238E27FC236}">
                <a16:creationId xmlns:a16="http://schemas.microsoft.com/office/drawing/2014/main" id="{37B398BE-F24D-252E-E3C3-FF7AF349B2B5}"/>
              </a:ext>
            </a:extLst>
          </p:cNvPr>
          <p:cNvPicPr>
            <a:picLocks noChangeAspect="1"/>
          </p:cNvPicPr>
          <p:nvPr/>
        </p:nvPicPr>
        <p:blipFill>
          <a:blip r:embed="rId4"/>
          <a:stretch>
            <a:fillRect/>
          </a:stretch>
        </p:blipFill>
        <p:spPr>
          <a:xfrm>
            <a:off x="720437" y="3749827"/>
            <a:ext cx="1742728" cy="2336575"/>
          </a:xfrm>
          <a:prstGeom prst="rect">
            <a:avLst/>
          </a:prstGeom>
        </p:spPr>
      </p:pic>
      <p:pic>
        <p:nvPicPr>
          <p:cNvPr id="8" name="Picture 7">
            <a:extLst>
              <a:ext uri="{FF2B5EF4-FFF2-40B4-BE49-F238E27FC236}">
                <a16:creationId xmlns:a16="http://schemas.microsoft.com/office/drawing/2014/main" id="{AFFF2246-798D-87D4-EF2D-DE7C14743340}"/>
              </a:ext>
            </a:extLst>
          </p:cNvPr>
          <p:cNvPicPr>
            <a:picLocks noChangeAspect="1"/>
          </p:cNvPicPr>
          <p:nvPr/>
        </p:nvPicPr>
        <p:blipFill>
          <a:blip r:embed="rId5"/>
          <a:stretch>
            <a:fillRect/>
          </a:stretch>
        </p:blipFill>
        <p:spPr>
          <a:xfrm>
            <a:off x="3143263" y="4490407"/>
            <a:ext cx="7623797" cy="855414"/>
          </a:xfrm>
          <a:prstGeom prst="rect">
            <a:avLst/>
          </a:prstGeom>
        </p:spPr>
      </p:pic>
    </p:spTree>
    <p:extLst>
      <p:ext uri="{BB962C8B-B14F-4D97-AF65-F5344CB8AC3E}">
        <p14:creationId xmlns:p14="http://schemas.microsoft.com/office/powerpoint/2010/main" val="317617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45C4-3628-D02B-AFFF-E9390CD001A7}"/>
              </a:ext>
            </a:extLst>
          </p:cNvPr>
          <p:cNvSpPr>
            <a:spLocks noGrp="1"/>
          </p:cNvSpPr>
          <p:nvPr>
            <p:ph type="title"/>
          </p:nvPr>
        </p:nvSpPr>
        <p:spPr/>
        <p:txBody>
          <a:bodyPr/>
          <a:lstStyle/>
          <a:p>
            <a:r>
              <a:rPr lang="en-IN" dirty="0"/>
              <a:t>State Assignment</a:t>
            </a:r>
          </a:p>
        </p:txBody>
      </p:sp>
      <p:pic>
        <p:nvPicPr>
          <p:cNvPr id="5" name="Picture 4">
            <a:extLst>
              <a:ext uri="{FF2B5EF4-FFF2-40B4-BE49-F238E27FC236}">
                <a16:creationId xmlns:a16="http://schemas.microsoft.com/office/drawing/2014/main" id="{2DBCC2A0-A245-980E-1624-393ED347F5BA}"/>
              </a:ext>
            </a:extLst>
          </p:cNvPr>
          <p:cNvPicPr>
            <a:picLocks noChangeAspect="1"/>
          </p:cNvPicPr>
          <p:nvPr/>
        </p:nvPicPr>
        <p:blipFill>
          <a:blip r:embed="rId2"/>
          <a:stretch>
            <a:fillRect/>
          </a:stretch>
        </p:blipFill>
        <p:spPr>
          <a:xfrm>
            <a:off x="468026" y="1690688"/>
            <a:ext cx="4757879" cy="2069782"/>
          </a:xfrm>
          <a:prstGeom prst="rect">
            <a:avLst/>
          </a:prstGeom>
        </p:spPr>
      </p:pic>
      <p:pic>
        <p:nvPicPr>
          <p:cNvPr id="7" name="Picture 6">
            <a:extLst>
              <a:ext uri="{FF2B5EF4-FFF2-40B4-BE49-F238E27FC236}">
                <a16:creationId xmlns:a16="http://schemas.microsoft.com/office/drawing/2014/main" id="{93ECB60F-CEA8-3341-82E0-01C31E944983}"/>
              </a:ext>
            </a:extLst>
          </p:cNvPr>
          <p:cNvPicPr>
            <a:picLocks noChangeAspect="1"/>
          </p:cNvPicPr>
          <p:nvPr/>
        </p:nvPicPr>
        <p:blipFill>
          <a:blip r:embed="rId3"/>
          <a:stretch>
            <a:fillRect/>
          </a:stretch>
        </p:blipFill>
        <p:spPr>
          <a:xfrm>
            <a:off x="468026" y="4132421"/>
            <a:ext cx="4757879" cy="2020105"/>
          </a:xfrm>
          <a:prstGeom prst="rect">
            <a:avLst/>
          </a:prstGeom>
        </p:spPr>
      </p:pic>
      <p:pic>
        <p:nvPicPr>
          <p:cNvPr id="9" name="Picture 8">
            <a:extLst>
              <a:ext uri="{FF2B5EF4-FFF2-40B4-BE49-F238E27FC236}">
                <a16:creationId xmlns:a16="http://schemas.microsoft.com/office/drawing/2014/main" id="{07727BA1-1E6E-E0F8-166F-69156F9E67DF}"/>
              </a:ext>
            </a:extLst>
          </p:cNvPr>
          <p:cNvPicPr>
            <a:picLocks noChangeAspect="1"/>
          </p:cNvPicPr>
          <p:nvPr/>
        </p:nvPicPr>
        <p:blipFill>
          <a:blip r:embed="rId4"/>
          <a:stretch>
            <a:fillRect/>
          </a:stretch>
        </p:blipFill>
        <p:spPr>
          <a:xfrm>
            <a:off x="5596079" y="1681541"/>
            <a:ext cx="5680710" cy="2088075"/>
          </a:xfrm>
          <a:prstGeom prst="rect">
            <a:avLst/>
          </a:prstGeom>
        </p:spPr>
      </p:pic>
    </p:spTree>
    <p:extLst>
      <p:ext uri="{BB962C8B-B14F-4D97-AF65-F5344CB8AC3E}">
        <p14:creationId xmlns:p14="http://schemas.microsoft.com/office/powerpoint/2010/main" val="392670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6DB1C-158C-39BE-9687-A6945D891121}"/>
              </a:ext>
            </a:extLst>
          </p:cNvPr>
          <p:cNvSpPr>
            <a:spLocks noGrp="1"/>
          </p:cNvSpPr>
          <p:nvPr>
            <p:ph type="title"/>
          </p:nvPr>
        </p:nvSpPr>
        <p:spPr/>
        <p:txBody>
          <a:bodyPr/>
          <a:lstStyle/>
          <a:p>
            <a:r>
              <a:rPr lang="en-IN" dirty="0"/>
              <a:t>Designing synchronous sequential circuits</a:t>
            </a:r>
          </a:p>
        </p:txBody>
      </p:sp>
      <p:sp>
        <p:nvSpPr>
          <p:cNvPr id="3" name="Content Placeholder 2">
            <a:extLst>
              <a:ext uri="{FF2B5EF4-FFF2-40B4-BE49-F238E27FC236}">
                <a16:creationId xmlns:a16="http://schemas.microsoft.com/office/drawing/2014/main" id="{FB0F500D-9EFF-4591-265C-5A13EBECB02B}"/>
              </a:ext>
            </a:extLst>
          </p:cNvPr>
          <p:cNvSpPr>
            <a:spLocks noGrp="1"/>
          </p:cNvSpPr>
          <p:nvPr>
            <p:ph idx="1"/>
          </p:nvPr>
        </p:nvSpPr>
        <p:spPr>
          <a:xfrm>
            <a:off x="838200" y="1825625"/>
            <a:ext cx="10637520" cy="3032125"/>
          </a:xfrm>
        </p:spPr>
        <p:txBody>
          <a:bodyPr>
            <a:normAutofit fontScale="85000" lnSpcReduction="20000"/>
          </a:bodyPr>
          <a:lstStyle/>
          <a:p>
            <a:r>
              <a:rPr lang="en-US" dirty="0"/>
              <a:t>From the word description and specifications of the desired operation, derive a state diagram for the circuit.</a:t>
            </a:r>
          </a:p>
          <a:p>
            <a:r>
              <a:rPr lang="en-US" dirty="0"/>
              <a:t>Reduce the number of states if necessary.</a:t>
            </a:r>
          </a:p>
          <a:p>
            <a:r>
              <a:rPr lang="en-US" dirty="0"/>
              <a:t>Assign binary values to the states.</a:t>
            </a:r>
          </a:p>
          <a:p>
            <a:r>
              <a:rPr lang="en-US" dirty="0"/>
              <a:t>Obtain the binary-coded state table.</a:t>
            </a:r>
          </a:p>
          <a:p>
            <a:r>
              <a:rPr lang="en-US" dirty="0"/>
              <a:t>Choose the type of flip-flops to be used.</a:t>
            </a:r>
          </a:p>
          <a:p>
            <a:r>
              <a:rPr lang="en-US" dirty="0"/>
              <a:t>Derive the simplified flip-flop input equations and output equations.</a:t>
            </a:r>
          </a:p>
          <a:p>
            <a:r>
              <a:rPr lang="en-IN" dirty="0"/>
              <a:t>Draw the logic diagram.</a:t>
            </a:r>
          </a:p>
        </p:txBody>
      </p:sp>
    </p:spTree>
    <p:extLst>
      <p:ext uri="{BB962C8B-B14F-4D97-AF65-F5344CB8AC3E}">
        <p14:creationId xmlns:p14="http://schemas.microsoft.com/office/powerpoint/2010/main" val="4106001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58A1B8-3B26-0ACE-9961-C64DD1076DAD}"/>
              </a:ext>
            </a:extLst>
          </p:cNvPr>
          <p:cNvPicPr>
            <a:picLocks noChangeAspect="1"/>
          </p:cNvPicPr>
          <p:nvPr/>
        </p:nvPicPr>
        <p:blipFill>
          <a:blip r:embed="rId3"/>
          <a:stretch>
            <a:fillRect/>
          </a:stretch>
        </p:blipFill>
        <p:spPr>
          <a:xfrm>
            <a:off x="7173996" y="785361"/>
            <a:ext cx="3353268" cy="4143953"/>
          </a:xfrm>
          <a:prstGeom prst="rect">
            <a:avLst/>
          </a:prstGeom>
        </p:spPr>
      </p:pic>
      <p:pic>
        <p:nvPicPr>
          <p:cNvPr id="8" name="Picture 7">
            <a:extLst>
              <a:ext uri="{FF2B5EF4-FFF2-40B4-BE49-F238E27FC236}">
                <a16:creationId xmlns:a16="http://schemas.microsoft.com/office/drawing/2014/main" id="{8C66D8ED-9045-D282-2A77-D7351CAA63F8}"/>
              </a:ext>
            </a:extLst>
          </p:cNvPr>
          <p:cNvPicPr>
            <a:picLocks noChangeAspect="1"/>
          </p:cNvPicPr>
          <p:nvPr/>
        </p:nvPicPr>
        <p:blipFill>
          <a:blip r:embed="rId4"/>
          <a:stretch>
            <a:fillRect/>
          </a:stretch>
        </p:blipFill>
        <p:spPr>
          <a:xfrm>
            <a:off x="895351" y="1292223"/>
            <a:ext cx="5036820" cy="3130227"/>
          </a:xfrm>
          <a:prstGeom prst="rect">
            <a:avLst/>
          </a:prstGeom>
        </p:spPr>
      </p:pic>
      <p:pic>
        <p:nvPicPr>
          <p:cNvPr id="10" name="Picture 9">
            <a:extLst>
              <a:ext uri="{FF2B5EF4-FFF2-40B4-BE49-F238E27FC236}">
                <a16:creationId xmlns:a16="http://schemas.microsoft.com/office/drawing/2014/main" id="{F538BA55-C4DA-1C34-F04A-8369EA50741E}"/>
              </a:ext>
            </a:extLst>
          </p:cNvPr>
          <p:cNvPicPr>
            <a:picLocks noChangeAspect="1"/>
          </p:cNvPicPr>
          <p:nvPr/>
        </p:nvPicPr>
        <p:blipFill>
          <a:blip r:embed="rId5"/>
          <a:stretch>
            <a:fillRect/>
          </a:stretch>
        </p:blipFill>
        <p:spPr>
          <a:xfrm>
            <a:off x="895351" y="4909438"/>
            <a:ext cx="5036821" cy="1268011"/>
          </a:xfrm>
          <a:prstGeom prst="rect">
            <a:avLst/>
          </a:prstGeom>
        </p:spPr>
      </p:pic>
    </p:spTree>
    <p:extLst>
      <p:ext uri="{BB962C8B-B14F-4D97-AF65-F5344CB8AC3E}">
        <p14:creationId xmlns:p14="http://schemas.microsoft.com/office/powerpoint/2010/main" val="342978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D472D01-D6C1-8A13-8428-96450163F844}"/>
              </a:ext>
            </a:extLst>
          </p:cNvPr>
          <p:cNvPicPr>
            <a:picLocks noChangeAspect="1"/>
          </p:cNvPicPr>
          <p:nvPr/>
        </p:nvPicPr>
        <p:blipFill>
          <a:blip r:embed="rId2"/>
          <a:stretch>
            <a:fillRect/>
          </a:stretch>
        </p:blipFill>
        <p:spPr>
          <a:xfrm>
            <a:off x="4783427" y="677704"/>
            <a:ext cx="6989166" cy="5710660"/>
          </a:xfrm>
          <a:prstGeom prst="rect">
            <a:avLst/>
          </a:prstGeom>
        </p:spPr>
      </p:pic>
      <p:pic>
        <p:nvPicPr>
          <p:cNvPr id="5" name="Picture 4">
            <a:extLst>
              <a:ext uri="{FF2B5EF4-FFF2-40B4-BE49-F238E27FC236}">
                <a16:creationId xmlns:a16="http://schemas.microsoft.com/office/drawing/2014/main" id="{CCC878B6-FCCB-3153-EBB5-6EBAE3C8B89E}"/>
              </a:ext>
            </a:extLst>
          </p:cNvPr>
          <p:cNvPicPr>
            <a:picLocks noChangeAspect="1"/>
          </p:cNvPicPr>
          <p:nvPr/>
        </p:nvPicPr>
        <p:blipFill>
          <a:blip r:embed="rId3"/>
          <a:stretch>
            <a:fillRect/>
          </a:stretch>
        </p:blipFill>
        <p:spPr>
          <a:xfrm>
            <a:off x="82437" y="273082"/>
            <a:ext cx="3132326" cy="2160000"/>
          </a:xfrm>
          <a:prstGeom prst="rect">
            <a:avLst/>
          </a:prstGeom>
        </p:spPr>
      </p:pic>
      <p:pic>
        <p:nvPicPr>
          <p:cNvPr id="7" name="Picture 6">
            <a:extLst>
              <a:ext uri="{FF2B5EF4-FFF2-40B4-BE49-F238E27FC236}">
                <a16:creationId xmlns:a16="http://schemas.microsoft.com/office/drawing/2014/main" id="{B2F57A93-8C7E-BEC9-3A0A-E28CF548554C}"/>
              </a:ext>
            </a:extLst>
          </p:cNvPr>
          <p:cNvPicPr>
            <a:picLocks noChangeAspect="1"/>
          </p:cNvPicPr>
          <p:nvPr/>
        </p:nvPicPr>
        <p:blipFill>
          <a:blip r:embed="rId4"/>
          <a:stretch>
            <a:fillRect/>
          </a:stretch>
        </p:blipFill>
        <p:spPr>
          <a:xfrm>
            <a:off x="146038" y="2453034"/>
            <a:ext cx="3205161" cy="2160000"/>
          </a:xfrm>
          <a:prstGeom prst="rect">
            <a:avLst/>
          </a:prstGeom>
        </p:spPr>
      </p:pic>
      <p:pic>
        <p:nvPicPr>
          <p:cNvPr id="9" name="Picture 8">
            <a:extLst>
              <a:ext uri="{FF2B5EF4-FFF2-40B4-BE49-F238E27FC236}">
                <a16:creationId xmlns:a16="http://schemas.microsoft.com/office/drawing/2014/main" id="{A473D63E-F75B-5A7B-BF73-BCC092CE6E93}"/>
              </a:ext>
            </a:extLst>
          </p:cNvPr>
          <p:cNvPicPr>
            <a:picLocks noChangeAspect="1"/>
          </p:cNvPicPr>
          <p:nvPr/>
        </p:nvPicPr>
        <p:blipFill>
          <a:blip r:embed="rId5"/>
          <a:srcRect b="12489"/>
          <a:stretch>
            <a:fillRect/>
          </a:stretch>
        </p:blipFill>
        <p:spPr>
          <a:xfrm>
            <a:off x="213552" y="4632986"/>
            <a:ext cx="3137647" cy="2160000"/>
          </a:xfrm>
          <a:prstGeom prst="rect">
            <a:avLst/>
          </a:prstGeom>
        </p:spPr>
      </p:pic>
      <p:pic>
        <p:nvPicPr>
          <p:cNvPr id="11" name="Picture 10">
            <a:extLst>
              <a:ext uri="{FF2B5EF4-FFF2-40B4-BE49-F238E27FC236}">
                <a16:creationId xmlns:a16="http://schemas.microsoft.com/office/drawing/2014/main" id="{4D407B1B-360D-FFFD-5BAB-BEBE68E041DD}"/>
              </a:ext>
            </a:extLst>
          </p:cNvPr>
          <p:cNvPicPr>
            <a:picLocks noChangeAspect="1"/>
          </p:cNvPicPr>
          <p:nvPr/>
        </p:nvPicPr>
        <p:blipFill>
          <a:blip r:embed="rId6"/>
          <a:stretch>
            <a:fillRect/>
          </a:stretch>
        </p:blipFill>
        <p:spPr>
          <a:xfrm>
            <a:off x="3214763" y="1124900"/>
            <a:ext cx="1810003" cy="476316"/>
          </a:xfrm>
          <a:prstGeom prst="rect">
            <a:avLst/>
          </a:prstGeom>
        </p:spPr>
      </p:pic>
      <p:pic>
        <p:nvPicPr>
          <p:cNvPr id="13" name="Picture 12">
            <a:extLst>
              <a:ext uri="{FF2B5EF4-FFF2-40B4-BE49-F238E27FC236}">
                <a16:creationId xmlns:a16="http://schemas.microsoft.com/office/drawing/2014/main" id="{06026DFC-7161-CABB-CD8E-96A2DDE4714B}"/>
              </a:ext>
            </a:extLst>
          </p:cNvPr>
          <p:cNvPicPr>
            <a:picLocks noChangeAspect="1"/>
          </p:cNvPicPr>
          <p:nvPr/>
        </p:nvPicPr>
        <p:blipFill>
          <a:blip r:embed="rId7"/>
          <a:stretch>
            <a:fillRect/>
          </a:stretch>
        </p:blipFill>
        <p:spPr>
          <a:xfrm>
            <a:off x="3214763" y="3429000"/>
            <a:ext cx="1895740" cy="314369"/>
          </a:xfrm>
          <a:prstGeom prst="rect">
            <a:avLst/>
          </a:prstGeom>
        </p:spPr>
      </p:pic>
      <p:pic>
        <p:nvPicPr>
          <p:cNvPr id="15" name="Picture 14">
            <a:extLst>
              <a:ext uri="{FF2B5EF4-FFF2-40B4-BE49-F238E27FC236}">
                <a16:creationId xmlns:a16="http://schemas.microsoft.com/office/drawing/2014/main" id="{88940B6C-9953-6123-44D9-5B49F43E8107}"/>
              </a:ext>
            </a:extLst>
          </p:cNvPr>
          <p:cNvPicPr>
            <a:picLocks noChangeAspect="1"/>
          </p:cNvPicPr>
          <p:nvPr/>
        </p:nvPicPr>
        <p:blipFill>
          <a:blip r:embed="rId8"/>
          <a:stretch>
            <a:fillRect/>
          </a:stretch>
        </p:blipFill>
        <p:spPr>
          <a:xfrm>
            <a:off x="3443530" y="5589143"/>
            <a:ext cx="952633" cy="247685"/>
          </a:xfrm>
          <a:prstGeom prst="rect">
            <a:avLst/>
          </a:prstGeom>
        </p:spPr>
      </p:pic>
      <p:sp>
        <p:nvSpPr>
          <p:cNvPr id="21" name="TextBox 20">
            <a:extLst>
              <a:ext uri="{FF2B5EF4-FFF2-40B4-BE49-F238E27FC236}">
                <a16:creationId xmlns:a16="http://schemas.microsoft.com/office/drawing/2014/main" id="{5083C04B-04D4-DBE2-B2D0-C3F0FB5ECAA0}"/>
              </a:ext>
            </a:extLst>
          </p:cNvPr>
          <p:cNvSpPr txBox="1"/>
          <p:nvPr/>
        </p:nvSpPr>
        <p:spPr>
          <a:xfrm>
            <a:off x="6096000" y="6388364"/>
            <a:ext cx="3909468" cy="369332"/>
          </a:xfrm>
          <a:prstGeom prst="rect">
            <a:avLst/>
          </a:prstGeom>
          <a:noFill/>
        </p:spPr>
        <p:txBody>
          <a:bodyPr wrap="none" rtlCol="0">
            <a:spAutoFit/>
          </a:bodyPr>
          <a:lstStyle/>
          <a:p>
            <a:r>
              <a:rPr lang="en-US" dirty="0"/>
              <a:t>Logic diagram of a sequence detector</a:t>
            </a:r>
            <a:endParaRPr lang="en-IN" dirty="0"/>
          </a:p>
        </p:txBody>
      </p:sp>
      <p:pic>
        <p:nvPicPr>
          <p:cNvPr id="22" name="Picture 21">
            <a:extLst>
              <a:ext uri="{FF2B5EF4-FFF2-40B4-BE49-F238E27FC236}">
                <a16:creationId xmlns:a16="http://schemas.microsoft.com/office/drawing/2014/main" id="{B5504DD4-7A68-00F5-B11A-04E853DE3450}"/>
              </a:ext>
            </a:extLst>
          </p:cNvPr>
          <p:cNvPicPr>
            <a:picLocks noChangeAspect="1"/>
          </p:cNvPicPr>
          <p:nvPr/>
        </p:nvPicPr>
        <p:blipFill>
          <a:blip r:embed="rId9"/>
          <a:stretch>
            <a:fillRect/>
          </a:stretch>
        </p:blipFill>
        <p:spPr>
          <a:xfrm>
            <a:off x="8977239" y="43698"/>
            <a:ext cx="3182618" cy="801219"/>
          </a:xfrm>
          <a:prstGeom prst="rect">
            <a:avLst/>
          </a:prstGeom>
        </p:spPr>
      </p:pic>
    </p:spTree>
    <p:extLst>
      <p:ext uri="{BB962C8B-B14F-4D97-AF65-F5344CB8AC3E}">
        <p14:creationId xmlns:p14="http://schemas.microsoft.com/office/powerpoint/2010/main" val="341321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0B41-F01E-E412-C94D-9C42A6421B2D}"/>
              </a:ext>
            </a:extLst>
          </p:cNvPr>
          <p:cNvSpPr>
            <a:spLocks noGrp="1"/>
          </p:cNvSpPr>
          <p:nvPr>
            <p:ph type="title"/>
          </p:nvPr>
        </p:nvSpPr>
        <p:spPr/>
        <p:txBody>
          <a:bodyPr/>
          <a:lstStyle/>
          <a:p>
            <a:r>
              <a:rPr lang="en-IN" dirty="0"/>
              <a:t>Excitation Tables</a:t>
            </a:r>
          </a:p>
        </p:txBody>
      </p:sp>
      <p:pic>
        <p:nvPicPr>
          <p:cNvPr id="5" name="Picture 4">
            <a:extLst>
              <a:ext uri="{FF2B5EF4-FFF2-40B4-BE49-F238E27FC236}">
                <a16:creationId xmlns:a16="http://schemas.microsoft.com/office/drawing/2014/main" id="{E368518E-EA24-5497-417D-C8193A84F226}"/>
              </a:ext>
            </a:extLst>
          </p:cNvPr>
          <p:cNvPicPr>
            <a:picLocks noChangeAspect="1"/>
          </p:cNvPicPr>
          <p:nvPr/>
        </p:nvPicPr>
        <p:blipFill>
          <a:blip r:embed="rId2"/>
          <a:srcRect r="49633"/>
          <a:stretch>
            <a:fillRect/>
          </a:stretch>
        </p:blipFill>
        <p:spPr>
          <a:xfrm>
            <a:off x="1283971" y="2771775"/>
            <a:ext cx="3665220" cy="2619057"/>
          </a:xfrm>
          <a:prstGeom prst="rect">
            <a:avLst/>
          </a:prstGeom>
        </p:spPr>
      </p:pic>
      <p:pic>
        <p:nvPicPr>
          <p:cNvPr id="7" name="Picture 6">
            <a:extLst>
              <a:ext uri="{FF2B5EF4-FFF2-40B4-BE49-F238E27FC236}">
                <a16:creationId xmlns:a16="http://schemas.microsoft.com/office/drawing/2014/main" id="{0A672CEE-4C54-006A-840C-E9168B307753}"/>
              </a:ext>
            </a:extLst>
          </p:cNvPr>
          <p:cNvPicPr>
            <a:picLocks noChangeAspect="1"/>
          </p:cNvPicPr>
          <p:nvPr/>
        </p:nvPicPr>
        <p:blipFill>
          <a:blip r:embed="rId3"/>
          <a:srcRect l="13980" r="12209" b="40994"/>
          <a:stretch>
            <a:fillRect/>
          </a:stretch>
        </p:blipFill>
        <p:spPr>
          <a:xfrm>
            <a:off x="8888798" y="0"/>
            <a:ext cx="3303202" cy="2114550"/>
          </a:xfrm>
          <a:prstGeom prst="rect">
            <a:avLst/>
          </a:prstGeom>
        </p:spPr>
      </p:pic>
      <p:pic>
        <p:nvPicPr>
          <p:cNvPr id="9" name="Picture 8">
            <a:extLst>
              <a:ext uri="{FF2B5EF4-FFF2-40B4-BE49-F238E27FC236}">
                <a16:creationId xmlns:a16="http://schemas.microsoft.com/office/drawing/2014/main" id="{B38B6B7D-A7E7-6949-1C7E-8C87A9813C4F}"/>
              </a:ext>
            </a:extLst>
          </p:cNvPr>
          <p:cNvPicPr>
            <a:picLocks noChangeAspect="1"/>
          </p:cNvPicPr>
          <p:nvPr/>
        </p:nvPicPr>
        <p:blipFill>
          <a:blip r:embed="rId4"/>
          <a:stretch>
            <a:fillRect/>
          </a:stretch>
        </p:blipFill>
        <p:spPr>
          <a:xfrm>
            <a:off x="9187556" y="2114550"/>
            <a:ext cx="2488521" cy="1314450"/>
          </a:xfrm>
          <a:prstGeom prst="rect">
            <a:avLst/>
          </a:prstGeom>
        </p:spPr>
      </p:pic>
      <p:pic>
        <p:nvPicPr>
          <p:cNvPr id="10" name="Picture 9">
            <a:extLst>
              <a:ext uri="{FF2B5EF4-FFF2-40B4-BE49-F238E27FC236}">
                <a16:creationId xmlns:a16="http://schemas.microsoft.com/office/drawing/2014/main" id="{73196B24-7AC6-E7FB-E605-2FB484CC0FF5}"/>
              </a:ext>
            </a:extLst>
          </p:cNvPr>
          <p:cNvPicPr>
            <a:picLocks noChangeAspect="1"/>
          </p:cNvPicPr>
          <p:nvPr/>
        </p:nvPicPr>
        <p:blipFill>
          <a:blip r:embed="rId2"/>
          <a:srcRect l="58912"/>
          <a:stretch>
            <a:fillRect/>
          </a:stretch>
        </p:blipFill>
        <p:spPr>
          <a:xfrm>
            <a:off x="5383530" y="2771775"/>
            <a:ext cx="3000125" cy="2619057"/>
          </a:xfrm>
          <a:prstGeom prst="rect">
            <a:avLst/>
          </a:prstGeom>
        </p:spPr>
      </p:pic>
    </p:spTree>
    <p:extLst>
      <p:ext uri="{BB962C8B-B14F-4D97-AF65-F5344CB8AC3E}">
        <p14:creationId xmlns:p14="http://schemas.microsoft.com/office/powerpoint/2010/main" val="340809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5B8D-A182-0127-B186-5463AF753734}"/>
              </a:ext>
            </a:extLst>
          </p:cNvPr>
          <p:cNvSpPr>
            <a:spLocks noGrp="1"/>
          </p:cNvSpPr>
          <p:nvPr>
            <p:ph type="title"/>
          </p:nvPr>
        </p:nvSpPr>
        <p:spPr/>
        <p:txBody>
          <a:bodyPr/>
          <a:lstStyle/>
          <a:p>
            <a:r>
              <a:rPr lang="en-IN" dirty="0"/>
              <a:t>Synthesis Using JK Flip-Flops</a:t>
            </a:r>
          </a:p>
        </p:txBody>
      </p:sp>
      <p:pic>
        <p:nvPicPr>
          <p:cNvPr id="5" name="Picture 4">
            <a:extLst>
              <a:ext uri="{FF2B5EF4-FFF2-40B4-BE49-F238E27FC236}">
                <a16:creationId xmlns:a16="http://schemas.microsoft.com/office/drawing/2014/main" id="{3CF0FA9D-FA6D-B298-ABC8-41DBAC3FCC94}"/>
              </a:ext>
            </a:extLst>
          </p:cNvPr>
          <p:cNvPicPr>
            <a:picLocks noChangeAspect="1"/>
          </p:cNvPicPr>
          <p:nvPr/>
        </p:nvPicPr>
        <p:blipFill>
          <a:blip r:embed="rId2"/>
          <a:stretch>
            <a:fillRect/>
          </a:stretch>
        </p:blipFill>
        <p:spPr>
          <a:xfrm>
            <a:off x="312421" y="1785969"/>
            <a:ext cx="6477000" cy="3599075"/>
          </a:xfrm>
          <a:prstGeom prst="rect">
            <a:avLst/>
          </a:prstGeom>
        </p:spPr>
      </p:pic>
      <p:pic>
        <p:nvPicPr>
          <p:cNvPr id="6" name="Picture 5">
            <a:extLst>
              <a:ext uri="{FF2B5EF4-FFF2-40B4-BE49-F238E27FC236}">
                <a16:creationId xmlns:a16="http://schemas.microsoft.com/office/drawing/2014/main" id="{7D05AF3C-1B71-F74B-469A-90C707F500E0}"/>
              </a:ext>
            </a:extLst>
          </p:cNvPr>
          <p:cNvPicPr>
            <a:picLocks noChangeAspect="1"/>
          </p:cNvPicPr>
          <p:nvPr/>
        </p:nvPicPr>
        <p:blipFill>
          <a:blip r:embed="rId3"/>
          <a:srcRect r="49633"/>
          <a:stretch>
            <a:fillRect/>
          </a:stretch>
        </p:blipFill>
        <p:spPr>
          <a:xfrm>
            <a:off x="9692640" y="1"/>
            <a:ext cx="2499360" cy="1785968"/>
          </a:xfrm>
          <a:prstGeom prst="rect">
            <a:avLst/>
          </a:prstGeom>
        </p:spPr>
      </p:pic>
      <p:pic>
        <p:nvPicPr>
          <p:cNvPr id="8" name="Picture 7">
            <a:extLst>
              <a:ext uri="{FF2B5EF4-FFF2-40B4-BE49-F238E27FC236}">
                <a16:creationId xmlns:a16="http://schemas.microsoft.com/office/drawing/2014/main" id="{5760353B-98D9-B857-B395-14AED9472077}"/>
              </a:ext>
            </a:extLst>
          </p:cNvPr>
          <p:cNvPicPr>
            <a:picLocks noChangeAspect="1"/>
          </p:cNvPicPr>
          <p:nvPr/>
        </p:nvPicPr>
        <p:blipFill>
          <a:blip r:embed="rId4"/>
          <a:stretch>
            <a:fillRect/>
          </a:stretch>
        </p:blipFill>
        <p:spPr>
          <a:xfrm>
            <a:off x="7084400" y="1963816"/>
            <a:ext cx="2232403" cy="1800000"/>
          </a:xfrm>
          <a:prstGeom prst="rect">
            <a:avLst/>
          </a:prstGeom>
        </p:spPr>
      </p:pic>
      <p:pic>
        <p:nvPicPr>
          <p:cNvPr id="10" name="Picture 9">
            <a:extLst>
              <a:ext uri="{FF2B5EF4-FFF2-40B4-BE49-F238E27FC236}">
                <a16:creationId xmlns:a16="http://schemas.microsoft.com/office/drawing/2014/main" id="{31BDA737-77D4-1B1E-B285-A31AA7456EBC}"/>
              </a:ext>
            </a:extLst>
          </p:cNvPr>
          <p:cNvPicPr>
            <a:picLocks noChangeAspect="1"/>
          </p:cNvPicPr>
          <p:nvPr/>
        </p:nvPicPr>
        <p:blipFill>
          <a:blip r:embed="rId5"/>
          <a:stretch>
            <a:fillRect/>
          </a:stretch>
        </p:blipFill>
        <p:spPr>
          <a:xfrm>
            <a:off x="9611782" y="1963816"/>
            <a:ext cx="2148542" cy="1800000"/>
          </a:xfrm>
          <a:prstGeom prst="rect">
            <a:avLst/>
          </a:prstGeom>
        </p:spPr>
      </p:pic>
      <p:pic>
        <p:nvPicPr>
          <p:cNvPr id="12" name="Picture 11">
            <a:extLst>
              <a:ext uri="{FF2B5EF4-FFF2-40B4-BE49-F238E27FC236}">
                <a16:creationId xmlns:a16="http://schemas.microsoft.com/office/drawing/2014/main" id="{EB8F379E-BA7B-CB2F-8696-34A396DE8E0E}"/>
              </a:ext>
            </a:extLst>
          </p:cNvPr>
          <p:cNvPicPr>
            <a:picLocks noChangeAspect="1"/>
          </p:cNvPicPr>
          <p:nvPr/>
        </p:nvPicPr>
        <p:blipFill>
          <a:blip r:embed="rId6"/>
          <a:stretch>
            <a:fillRect/>
          </a:stretch>
        </p:blipFill>
        <p:spPr>
          <a:xfrm>
            <a:off x="7084400" y="3941663"/>
            <a:ext cx="4526685" cy="1800000"/>
          </a:xfrm>
          <a:prstGeom prst="rect">
            <a:avLst/>
          </a:prstGeom>
        </p:spPr>
      </p:pic>
    </p:spTree>
    <p:extLst>
      <p:ext uri="{BB962C8B-B14F-4D97-AF65-F5344CB8AC3E}">
        <p14:creationId xmlns:p14="http://schemas.microsoft.com/office/powerpoint/2010/main" val="58547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2AC070-9477-B5BA-CCD3-D18BA9544F51}"/>
              </a:ext>
            </a:extLst>
          </p:cNvPr>
          <p:cNvPicPr>
            <a:picLocks noChangeAspect="1"/>
          </p:cNvPicPr>
          <p:nvPr/>
        </p:nvPicPr>
        <p:blipFill>
          <a:blip r:embed="rId2"/>
          <a:stretch>
            <a:fillRect/>
          </a:stretch>
        </p:blipFill>
        <p:spPr>
          <a:xfrm>
            <a:off x="1671020" y="385322"/>
            <a:ext cx="8849960" cy="6315956"/>
          </a:xfrm>
          <a:prstGeom prst="rect">
            <a:avLst/>
          </a:prstGeom>
        </p:spPr>
      </p:pic>
    </p:spTree>
    <p:extLst>
      <p:ext uri="{BB962C8B-B14F-4D97-AF65-F5344CB8AC3E}">
        <p14:creationId xmlns:p14="http://schemas.microsoft.com/office/powerpoint/2010/main" val="5512868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963C-5CDB-E7DD-54E4-E9326FED2D4D}"/>
              </a:ext>
            </a:extLst>
          </p:cNvPr>
          <p:cNvSpPr>
            <a:spLocks noGrp="1"/>
          </p:cNvSpPr>
          <p:nvPr>
            <p:ph type="title"/>
          </p:nvPr>
        </p:nvSpPr>
        <p:spPr/>
        <p:txBody>
          <a:bodyPr/>
          <a:lstStyle/>
          <a:p>
            <a:r>
              <a:rPr lang="en-IN" dirty="0"/>
              <a:t>Synthesis Using T Flip-Flops</a:t>
            </a:r>
          </a:p>
        </p:txBody>
      </p:sp>
      <p:sp>
        <p:nvSpPr>
          <p:cNvPr id="3" name="Content Placeholder 2">
            <a:extLst>
              <a:ext uri="{FF2B5EF4-FFF2-40B4-BE49-F238E27FC236}">
                <a16:creationId xmlns:a16="http://schemas.microsoft.com/office/drawing/2014/main" id="{D0ED7D2C-9973-4C4E-59A7-7350E3B47E86}"/>
              </a:ext>
            </a:extLst>
          </p:cNvPr>
          <p:cNvSpPr>
            <a:spLocks noGrp="1"/>
          </p:cNvSpPr>
          <p:nvPr>
            <p:ph idx="1"/>
          </p:nvPr>
        </p:nvSpPr>
        <p:spPr/>
        <p:txBody>
          <a:bodyPr/>
          <a:lstStyle/>
          <a:p>
            <a:r>
              <a:rPr lang="en-IN" dirty="0"/>
              <a:t>Binary Counter</a:t>
            </a:r>
          </a:p>
        </p:txBody>
      </p:sp>
    </p:spTree>
    <p:extLst>
      <p:ext uri="{BB962C8B-B14F-4D97-AF65-F5344CB8AC3E}">
        <p14:creationId xmlns:p14="http://schemas.microsoft.com/office/powerpoint/2010/main" val="35701843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20C0D1-1955-6DCE-DF58-3570223DD471}"/>
              </a:ext>
            </a:extLst>
          </p:cNvPr>
          <p:cNvPicPr>
            <a:picLocks noChangeAspect="1"/>
          </p:cNvPicPr>
          <p:nvPr/>
        </p:nvPicPr>
        <p:blipFill>
          <a:blip r:embed="rId2"/>
          <a:stretch>
            <a:fillRect/>
          </a:stretch>
        </p:blipFill>
        <p:spPr>
          <a:xfrm>
            <a:off x="1224610" y="0"/>
            <a:ext cx="9491320" cy="6858000"/>
          </a:xfrm>
          <a:prstGeom prst="rect">
            <a:avLst/>
          </a:prstGeom>
        </p:spPr>
      </p:pic>
    </p:spTree>
    <p:extLst>
      <p:ext uri="{BB962C8B-B14F-4D97-AF65-F5344CB8AC3E}">
        <p14:creationId xmlns:p14="http://schemas.microsoft.com/office/powerpoint/2010/main" val="3816054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A0F43-3469-F02B-480A-2F77C587B0EF}"/>
              </a:ext>
            </a:extLst>
          </p:cNvPr>
          <p:cNvSpPr>
            <a:spLocks noGrp="1"/>
          </p:cNvSpPr>
          <p:nvPr>
            <p:ph type="title"/>
          </p:nvPr>
        </p:nvSpPr>
        <p:spPr/>
        <p:txBody>
          <a:bodyPr/>
          <a:lstStyle/>
          <a:p>
            <a:r>
              <a:rPr lang="en-IN" dirty="0"/>
              <a:t>Registers and Counters</a:t>
            </a:r>
          </a:p>
        </p:txBody>
      </p:sp>
      <p:sp>
        <p:nvSpPr>
          <p:cNvPr id="3" name="Content Placeholder 2">
            <a:extLst>
              <a:ext uri="{FF2B5EF4-FFF2-40B4-BE49-F238E27FC236}">
                <a16:creationId xmlns:a16="http://schemas.microsoft.com/office/drawing/2014/main" id="{F97F11B2-0330-7AC8-6286-6461651D865F}"/>
              </a:ext>
            </a:extLst>
          </p:cNvPr>
          <p:cNvSpPr>
            <a:spLocks noGrp="1"/>
          </p:cNvSpPr>
          <p:nvPr>
            <p:ph idx="1"/>
          </p:nvPr>
        </p:nvSpPr>
        <p:spPr>
          <a:xfrm>
            <a:off x="96985" y="1459865"/>
            <a:ext cx="9403080" cy="4884420"/>
          </a:xfrm>
        </p:spPr>
        <p:txBody>
          <a:bodyPr>
            <a:normAutofit/>
          </a:bodyPr>
          <a:lstStyle/>
          <a:p>
            <a:r>
              <a:rPr lang="en-US" sz="2400" dirty="0"/>
              <a:t>A </a:t>
            </a:r>
            <a:r>
              <a:rPr lang="en-US" sz="2400" b="1" dirty="0"/>
              <a:t>register</a:t>
            </a:r>
            <a:r>
              <a:rPr lang="en-US" sz="2400" dirty="0"/>
              <a:t> is a collection of </a:t>
            </a:r>
            <a:r>
              <a:rPr lang="en-US" sz="2400" b="1" dirty="0"/>
              <a:t>flip-flops</a:t>
            </a:r>
            <a:r>
              <a:rPr lang="en-US" sz="2400" dirty="0"/>
              <a:t> used to store binary data.</a:t>
            </a:r>
          </a:p>
          <a:p>
            <a:r>
              <a:rPr lang="en-US" sz="2400" dirty="0"/>
              <a:t>Each flip-flop stores </a:t>
            </a:r>
            <a:r>
              <a:rPr lang="en-US" sz="2400" b="1" dirty="0"/>
              <a:t>1 bit</a:t>
            </a:r>
            <a:r>
              <a:rPr lang="en-US" sz="2400" dirty="0"/>
              <a:t> of information.</a:t>
            </a:r>
          </a:p>
          <a:p>
            <a:r>
              <a:rPr lang="en-US" sz="2400" dirty="0"/>
              <a:t>All flip-flops share a </a:t>
            </a:r>
            <a:r>
              <a:rPr lang="en-US" sz="2400" b="1" dirty="0"/>
              <a:t>common clock signal.</a:t>
            </a:r>
          </a:p>
          <a:p>
            <a:r>
              <a:rPr lang="en-US" sz="2400" dirty="0"/>
              <a:t>An </a:t>
            </a:r>
            <a:r>
              <a:rPr lang="en-US" sz="2400" b="1" dirty="0"/>
              <a:t>n-bit register</a:t>
            </a:r>
            <a:r>
              <a:rPr lang="en-US" sz="2400" dirty="0"/>
              <a:t> consists of </a:t>
            </a:r>
            <a:r>
              <a:rPr lang="en-US" sz="2400" b="1" dirty="0"/>
              <a:t>n flip-flops → stores n bits</a:t>
            </a:r>
          </a:p>
          <a:p>
            <a:r>
              <a:rPr lang="en-US" altLang="en-US" sz="2400" dirty="0">
                <a:latin typeface="Aptos" panose="020B0004020202020204" pitchFamily="34" charset="0"/>
              </a:rPr>
              <a:t>A </a:t>
            </a:r>
            <a:r>
              <a:rPr lang="en-US" altLang="en-US" sz="2400" b="1" dirty="0">
                <a:latin typeface="Aptos" panose="020B0004020202020204" pitchFamily="34" charset="0"/>
              </a:rPr>
              <a:t>counter</a:t>
            </a:r>
            <a:r>
              <a:rPr lang="en-US" altLang="en-US" sz="2400" dirty="0">
                <a:latin typeface="Aptos" panose="020B0004020202020204" pitchFamily="34" charset="0"/>
              </a:rPr>
              <a:t> is a special type of </a:t>
            </a:r>
            <a:r>
              <a:rPr lang="en-US" altLang="en-US" sz="2400" b="1" dirty="0">
                <a:latin typeface="Aptos" panose="020B0004020202020204" pitchFamily="34" charset="0"/>
              </a:rPr>
              <a:t>register.</a:t>
            </a:r>
          </a:p>
          <a:p>
            <a:r>
              <a:rPr lang="en-US" altLang="en-US" sz="2400" dirty="0">
                <a:latin typeface="Aptos" panose="020B0004020202020204" pitchFamily="34" charset="0"/>
              </a:rPr>
              <a:t>It goes through a </a:t>
            </a:r>
            <a:r>
              <a:rPr lang="en-US" altLang="en-US" sz="2400" b="1" dirty="0">
                <a:latin typeface="Aptos" panose="020B0004020202020204" pitchFamily="34" charset="0"/>
              </a:rPr>
              <a:t>predefined sequence of binary states</a:t>
            </a:r>
            <a:r>
              <a:rPr lang="en-US" altLang="en-US" sz="2400" dirty="0">
                <a:latin typeface="Aptos" panose="020B0004020202020204" pitchFamily="34" charset="0"/>
              </a:rPr>
              <a:t> </a:t>
            </a:r>
          </a:p>
          <a:p>
            <a:r>
              <a:rPr lang="en-US" altLang="en-US" sz="2400" dirty="0">
                <a:latin typeface="Aptos" panose="020B0004020202020204" pitchFamily="34" charset="0"/>
              </a:rPr>
              <a:t>Each state represents a </a:t>
            </a:r>
            <a:r>
              <a:rPr lang="en-US" altLang="en-US" sz="2400" b="1" dirty="0">
                <a:latin typeface="Aptos" panose="020B0004020202020204" pitchFamily="34" charset="0"/>
              </a:rPr>
              <a:t>count value</a:t>
            </a:r>
          </a:p>
          <a:p>
            <a:r>
              <a:rPr lang="en-IN" sz="2400" dirty="0"/>
              <a:t>Up counter, Down counter, Up/Down counter</a:t>
            </a:r>
            <a:endParaRPr lang="en-US" altLang="en-US" sz="2400" dirty="0">
              <a:latin typeface="Aptos" panose="020B0004020202020204" pitchFamily="34" charset="0"/>
            </a:endParaRPr>
          </a:p>
          <a:p>
            <a:endParaRPr lang="en-US" altLang="en-US" dirty="0">
              <a:latin typeface="Aptos" panose="020B0004020202020204" pitchFamily="34" charset="0"/>
            </a:endParaRPr>
          </a:p>
          <a:p>
            <a:endParaRPr lang="en-US" dirty="0"/>
          </a:p>
          <a:p>
            <a:endParaRPr lang="en-IN" dirty="0"/>
          </a:p>
        </p:txBody>
      </p:sp>
      <p:pic>
        <p:nvPicPr>
          <p:cNvPr id="12" name="Picture 11">
            <a:extLst>
              <a:ext uri="{FF2B5EF4-FFF2-40B4-BE49-F238E27FC236}">
                <a16:creationId xmlns:a16="http://schemas.microsoft.com/office/drawing/2014/main" id="{F90E955F-8BE9-1D14-7E94-2ED4C6547336}"/>
              </a:ext>
            </a:extLst>
          </p:cNvPr>
          <p:cNvPicPr>
            <a:picLocks noChangeAspect="1"/>
          </p:cNvPicPr>
          <p:nvPr/>
        </p:nvPicPr>
        <p:blipFill>
          <a:blip r:embed="rId3"/>
          <a:stretch>
            <a:fillRect/>
          </a:stretch>
        </p:blipFill>
        <p:spPr>
          <a:xfrm>
            <a:off x="9021910" y="99548"/>
            <a:ext cx="2438740" cy="6658904"/>
          </a:xfrm>
          <a:prstGeom prst="rect">
            <a:avLst/>
          </a:prstGeom>
        </p:spPr>
      </p:pic>
    </p:spTree>
    <p:extLst>
      <p:ext uri="{BB962C8B-B14F-4D97-AF65-F5344CB8AC3E}">
        <p14:creationId xmlns:p14="http://schemas.microsoft.com/office/powerpoint/2010/main" val="237310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C79C78-FE48-F82A-1B22-880514A489B1}"/>
              </a:ext>
            </a:extLst>
          </p:cNvPr>
          <p:cNvPicPr>
            <a:picLocks noChangeAspect="1"/>
          </p:cNvPicPr>
          <p:nvPr/>
        </p:nvPicPr>
        <p:blipFill>
          <a:blip r:embed="rId2"/>
          <a:stretch>
            <a:fillRect/>
          </a:stretch>
        </p:blipFill>
        <p:spPr>
          <a:xfrm>
            <a:off x="6096000" y="0"/>
            <a:ext cx="6004305" cy="6035150"/>
          </a:xfrm>
          <a:prstGeom prst="rect">
            <a:avLst/>
          </a:prstGeom>
        </p:spPr>
      </p:pic>
      <p:sp>
        <p:nvSpPr>
          <p:cNvPr id="6" name="TextBox 5">
            <a:extLst>
              <a:ext uri="{FF2B5EF4-FFF2-40B4-BE49-F238E27FC236}">
                <a16:creationId xmlns:a16="http://schemas.microsoft.com/office/drawing/2014/main" id="{CC07BB4D-FDA8-0EDB-5ED3-8E601A90D8D2}"/>
              </a:ext>
            </a:extLst>
          </p:cNvPr>
          <p:cNvSpPr txBox="1"/>
          <p:nvPr/>
        </p:nvSpPr>
        <p:spPr>
          <a:xfrm>
            <a:off x="91694" y="1355581"/>
            <a:ext cx="6126225" cy="2954655"/>
          </a:xfrm>
          <a:prstGeom prst="rect">
            <a:avLst/>
          </a:prstGeom>
          <a:noFill/>
        </p:spPr>
        <p:txBody>
          <a:bodyPr wrap="square" rtlCol="0">
            <a:spAutoFit/>
          </a:bodyPr>
          <a:lstStyle/>
          <a:p>
            <a:pPr algn="just"/>
            <a:r>
              <a:rPr lang="en-US" sz="2400" dirty="0"/>
              <a:t>Register Includes flip flop and combinational logic gates:</a:t>
            </a:r>
          </a:p>
          <a:p>
            <a:pPr algn="just"/>
            <a:r>
              <a:rPr lang="en-US" sz="2400" dirty="0"/>
              <a:t>Flip-flops → store data </a:t>
            </a:r>
          </a:p>
          <a:p>
            <a:pPr algn="just"/>
            <a:r>
              <a:rPr lang="en-US" sz="2400" dirty="0"/>
              <a:t>Combinational logic gates → control data flow</a:t>
            </a:r>
          </a:p>
          <a:p>
            <a:pPr algn="just"/>
            <a:r>
              <a:rPr lang="en-IN" sz="2400" dirty="0"/>
              <a:t>Flip-flops hold binary information</a:t>
            </a:r>
          </a:p>
          <a:p>
            <a:pPr algn="just"/>
            <a:r>
              <a:rPr lang="en-US" sz="2400" dirty="0"/>
              <a:t>Logic gates determine how data is loaded, transferred, or modified.</a:t>
            </a:r>
          </a:p>
          <a:p>
            <a:endParaRPr lang="en-IN" dirty="0"/>
          </a:p>
        </p:txBody>
      </p:sp>
      <p:sp>
        <p:nvSpPr>
          <p:cNvPr id="7" name="TextBox 6">
            <a:extLst>
              <a:ext uri="{FF2B5EF4-FFF2-40B4-BE49-F238E27FC236}">
                <a16:creationId xmlns:a16="http://schemas.microsoft.com/office/drawing/2014/main" id="{C32807B3-A598-A7AD-81B3-A72619D4157F}"/>
              </a:ext>
            </a:extLst>
          </p:cNvPr>
          <p:cNvSpPr txBox="1"/>
          <p:nvPr/>
        </p:nvSpPr>
        <p:spPr>
          <a:xfrm>
            <a:off x="8058405" y="6035150"/>
            <a:ext cx="3719031" cy="369332"/>
          </a:xfrm>
          <a:prstGeom prst="rect">
            <a:avLst/>
          </a:prstGeom>
          <a:noFill/>
        </p:spPr>
        <p:txBody>
          <a:bodyPr wrap="none" rtlCol="0">
            <a:spAutoFit/>
          </a:bodyPr>
          <a:lstStyle/>
          <a:p>
            <a:r>
              <a:rPr lang="en-US" b="1" dirty="0"/>
              <a:t>Four-bit register with parallel load</a:t>
            </a:r>
            <a:endParaRPr lang="en-IN" b="1" dirty="0"/>
          </a:p>
        </p:txBody>
      </p:sp>
      <p:sp>
        <p:nvSpPr>
          <p:cNvPr id="10" name="Rectangle 2">
            <a:extLst>
              <a:ext uri="{FF2B5EF4-FFF2-40B4-BE49-F238E27FC236}">
                <a16:creationId xmlns:a16="http://schemas.microsoft.com/office/drawing/2014/main" id="{91D42B15-24AE-6403-EA90-B30CEF20C184}"/>
              </a:ext>
            </a:extLst>
          </p:cNvPr>
          <p:cNvSpPr>
            <a:spLocks noChangeArrowheads="1"/>
          </p:cNvSpPr>
          <p:nvPr/>
        </p:nvSpPr>
        <p:spPr bwMode="auto">
          <a:xfrm>
            <a:off x="91694" y="4526361"/>
            <a:ext cx="57470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Load = 1:</a:t>
            </a:r>
            <a:r>
              <a:rPr kumimoji="0" lang="en-US" altLang="en-US" sz="1800" b="0" i="0" u="none" strike="noStrike" cap="none" normalizeH="0" baseline="0" dirty="0">
                <a:ln>
                  <a:noFill/>
                </a:ln>
                <a:solidFill>
                  <a:schemeClr val="tx1"/>
                </a:solidFill>
                <a:effectLst/>
                <a:latin typeface="Arial" panose="020B0604020202020204" pitchFamily="34" charset="0"/>
              </a:rPr>
              <a:t> New data is loaded on the next clock edge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Load = 0:</a:t>
            </a:r>
            <a:r>
              <a:rPr kumimoji="0" lang="en-US" altLang="en-US" sz="1800" b="0" i="0" u="none" strike="noStrike" cap="none" normalizeH="0" baseline="0" dirty="0">
                <a:ln>
                  <a:noFill/>
                </a:ln>
                <a:solidFill>
                  <a:schemeClr val="tx1"/>
                </a:solidFill>
                <a:effectLst/>
                <a:latin typeface="Arial" panose="020B0604020202020204" pitchFamily="34" charset="0"/>
              </a:rPr>
              <a:t> Register holds its current value</a:t>
            </a:r>
          </a:p>
        </p:txBody>
      </p:sp>
    </p:spTree>
    <p:extLst>
      <p:ext uri="{BB962C8B-B14F-4D97-AF65-F5344CB8AC3E}">
        <p14:creationId xmlns:p14="http://schemas.microsoft.com/office/powerpoint/2010/main" val="133948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9F128A-62E3-C026-3F7E-1DD17A369F36}"/>
              </a:ext>
            </a:extLst>
          </p:cNvPr>
          <p:cNvPicPr>
            <a:picLocks noChangeAspect="1"/>
          </p:cNvPicPr>
          <p:nvPr/>
        </p:nvPicPr>
        <p:blipFill>
          <a:blip r:embed="rId3"/>
          <a:stretch>
            <a:fillRect/>
          </a:stretch>
        </p:blipFill>
        <p:spPr>
          <a:xfrm>
            <a:off x="553564" y="1859228"/>
            <a:ext cx="11336332" cy="2781688"/>
          </a:xfrm>
          <a:prstGeom prst="rect">
            <a:avLst/>
          </a:prstGeom>
        </p:spPr>
      </p:pic>
      <p:sp>
        <p:nvSpPr>
          <p:cNvPr id="6" name="TextBox 5">
            <a:extLst>
              <a:ext uri="{FF2B5EF4-FFF2-40B4-BE49-F238E27FC236}">
                <a16:creationId xmlns:a16="http://schemas.microsoft.com/office/drawing/2014/main" id="{AC9ECC92-160D-CB0B-A6E8-67776780C7E5}"/>
              </a:ext>
            </a:extLst>
          </p:cNvPr>
          <p:cNvSpPr txBox="1"/>
          <p:nvPr/>
        </p:nvSpPr>
        <p:spPr>
          <a:xfrm>
            <a:off x="262890" y="388620"/>
            <a:ext cx="3846309" cy="584775"/>
          </a:xfrm>
          <a:prstGeom prst="rect">
            <a:avLst/>
          </a:prstGeom>
          <a:noFill/>
        </p:spPr>
        <p:txBody>
          <a:bodyPr wrap="none" rtlCol="0">
            <a:spAutoFit/>
          </a:bodyPr>
          <a:lstStyle/>
          <a:p>
            <a:r>
              <a:rPr lang="en-IN" sz="3200" dirty="0"/>
              <a:t>Four-bit shift register</a:t>
            </a:r>
          </a:p>
        </p:txBody>
      </p:sp>
      <p:graphicFrame>
        <p:nvGraphicFramePr>
          <p:cNvPr id="7" name="Table 6">
            <a:extLst>
              <a:ext uri="{FF2B5EF4-FFF2-40B4-BE49-F238E27FC236}">
                <a16:creationId xmlns:a16="http://schemas.microsoft.com/office/drawing/2014/main" id="{AD9E1755-4F85-12B9-D762-8A3CB51FF727}"/>
              </a:ext>
            </a:extLst>
          </p:cNvPr>
          <p:cNvGraphicFramePr>
            <a:graphicFrameLocks noGrp="1"/>
          </p:cNvGraphicFramePr>
          <p:nvPr>
            <p:extLst>
              <p:ext uri="{D42A27DB-BD31-4B8C-83A1-F6EECF244321}">
                <p14:modId xmlns:p14="http://schemas.microsoft.com/office/powerpoint/2010/main" val="3743925308"/>
              </p:ext>
            </p:extLst>
          </p:nvPr>
        </p:nvGraphicFramePr>
        <p:xfrm>
          <a:off x="2186044" y="5074496"/>
          <a:ext cx="7509512" cy="370840"/>
        </p:xfrm>
        <a:graphic>
          <a:graphicData uri="http://schemas.openxmlformats.org/drawingml/2006/table">
            <a:tbl>
              <a:tblPr firstRow="1" bandRow="1">
                <a:tableStyleId>{5C22544A-7EE6-4342-B048-85BDC9FD1C3A}</a:tableStyleId>
              </a:tblPr>
              <a:tblGrid>
                <a:gridCol w="1877378">
                  <a:extLst>
                    <a:ext uri="{9D8B030D-6E8A-4147-A177-3AD203B41FA5}">
                      <a16:colId xmlns:a16="http://schemas.microsoft.com/office/drawing/2014/main" val="1362851392"/>
                    </a:ext>
                  </a:extLst>
                </a:gridCol>
                <a:gridCol w="1877378">
                  <a:extLst>
                    <a:ext uri="{9D8B030D-6E8A-4147-A177-3AD203B41FA5}">
                      <a16:colId xmlns:a16="http://schemas.microsoft.com/office/drawing/2014/main" val="3520427834"/>
                    </a:ext>
                  </a:extLst>
                </a:gridCol>
                <a:gridCol w="1877378">
                  <a:extLst>
                    <a:ext uri="{9D8B030D-6E8A-4147-A177-3AD203B41FA5}">
                      <a16:colId xmlns:a16="http://schemas.microsoft.com/office/drawing/2014/main" val="3936153525"/>
                    </a:ext>
                  </a:extLst>
                </a:gridCol>
                <a:gridCol w="1877378">
                  <a:extLst>
                    <a:ext uri="{9D8B030D-6E8A-4147-A177-3AD203B41FA5}">
                      <a16:colId xmlns:a16="http://schemas.microsoft.com/office/drawing/2014/main" val="2900291103"/>
                    </a:ext>
                  </a:extLst>
                </a:gridCol>
              </a:tblGrid>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3457455138"/>
                  </a:ext>
                </a:extLst>
              </a:tr>
            </a:tbl>
          </a:graphicData>
        </a:graphic>
      </p:graphicFrame>
      <p:cxnSp>
        <p:nvCxnSpPr>
          <p:cNvPr id="9" name="Straight Arrow Connector 8">
            <a:extLst>
              <a:ext uri="{FF2B5EF4-FFF2-40B4-BE49-F238E27FC236}">
                <a16:creationId xmlns:a16="http://schemas.microsoft.com/office/drawing/2014/main" id="{57FBC274-4CD7-278E-A1C7-1D42554A10B1}"/>
              </a:ext>
            </a:extLst>
          </p:cNvPr>
          <p:cNvCxnSpPr/>
          <p:nvPr/>
        </p:nvCxnSpPr>
        <p:spPr>
          <a:xfrm>
            <a:off x="1177290" y="5259916"/>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2B8AA89-B209-F03D-31F3-9B572CEA3BF5}"/>
              </a:ext>
            </a:extLst>
          </p:cNvPr>
          <p:cNvCxnSpPr/>
          <p:nvPr/>
        </p:nvCxnSpPr>
        <p:spPr>
          <a:xfrm>
            <a:off x="9776460" y="5259916"/>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6B4D722-A40B-F348-C5B7-137DD89568A8}"/>
              </a:ext>
            </a:extLst>
          </p:cNvPr>
          <p:cNvSpPr txBox="1"/>
          <p:nvPr/>
        </p:nvSpPr>
        <p:spPr>
          <a:xfrm>
            <a:off x="1005840" y="4923794"/>
            <a:ext cx="1199519" cy="369332"/>
          </a:xfrm>
          <a:prstGeom prst="rect">
            <a:avLst/>
          </a:prstGeom>
          <a:noFill/>
        </p:spPr>
        <p:txBody>
          <a:bodyPr wrap="square" rtlCol="0">
            <a:spAutoFit/>
          </a:bodyPr>
          <a:lstStyle/>
          <a:p>
            <a:r>
              <a:rPr lang="en-IN" dirty="0"/>
              <a:t>…000111</a:t>
            </a:r>
          </a:p>
        </p:txBody>
      </p:sp>
      <p:graphicFrame>
        <p:nvGraphicFramePr>
          <p:cNvPr id="12" name="Table 11">
            <a:extLst>
              <a:ext uri="{FF2B5EF4-FFF2-40B4-BE49-F238E27FC236}">
                <a16:creationId xmlns:a16="http://schemas.microsoft.com/office/drawing/2014/main" id="{1D83D935-E120-0270-70FA-EFDD2469C60F}"/>
              </a:ext>
            </a:extLst>
          </p:cNvPr>
          <p:cNvGraphicFramePr>
            <a:graphicFrameLocks noGrp="1"/>
          </p:cNvGraphicFramePr>
          <p:nvPr>
            <p:extLst>
              <p:ext uri="{D42A27DB-BD31-4B8C-83A1-F6EECF244321}">
                <p14:modId xmlns:p14="http://schemas.microsoft.com/office/powerpoint/2010/main" val="213201874"/>
              </p:ext>
            </p:extLst>
          </p:nvPr>
        </p:nvGraphicFramePr>
        <p:xfrm>
          <a:off x="2186044" y="5587800"/>
          <a:ext cx="7509512" cy="370840"/>
        </p:xfrm>
        <a:graphic>
          <a:graphicData uri="http://schemas.openxmlformats.org/drawingml/2006/table">
            <a:tbl>
              <a:tblPr firstRow="1" bandRow="1">
                <a:tableStyleId>{5C22544A-7EE6-4342-B048-85BDC9FD1C3A}</a:tableStyleId>
              </a:tblPr>
              <a:tblGrid>
                <a:gridCol w="1877378">
                  <a:extLst>
                    <a:ext uri="{9D8B030D-6E8A-4147-A177-3AD203B41FA5}">
                      <a16:colId xmlns:a16="http://schemas.microsoft.com/office/drawing/2014/main" val="1362851392"/>
                    </a:ext>
                  </a:extLst>
                </a:gridCol>
                <a:gridCol w="1877378">
                  <a:extLst>
                    <a:ext uri="{9D8B030D-6E8A-4147-A177-3AD203B41FA5}">
                      <a16:colId xmlns:a16="http://schemas.microsoft.com/office/drawing/2014/main" val="3520427834"/>
                    </a:ext>
                  </a:extLst>
                </a:gridCol>
                <a:gridCol w="1877378">
                  <a:extLst>
                    <a:ext uri="{9D8B030D-6E8A-4147-A177-3AD203B41FA5}">
                      <a16:colId xmlns:a16="http://schemas.microsoft.com/office/drawing/2014/main" val="3936153525"/>
                    </a:ext>
                  </a:extLst>
                </a:gridCol>
                <a:gridCol w="1877378">
                  <a:extLst>
                    <a:ext uri="{9D8B030D-6E8A-4147-A177-3AD203B41FA5}">
                      <a16:colId xmlns:a16="http://schemas.microsoft.com/office/drawing/2014/main" val="2900291103"/>
                    </a:ext>
                  </a:extLst>
                </a:gridCol>
              </a:tblGrid>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3457455138"/>
                  </a:ext>
                </a:extLst>
              </a:tr>
            </a:tbl>
          </a:graphicData>
        </a:graphic>
      </p:graphicFrame>
      <p:cxnSp>
        <p:nvCxnSpPr>
          <p:cNvPr id="13" name="Straight Arrow Connector 12">
            <a:extLst>
              <a:ext uri="{FF2B5EF4-FFF2-40B4-BE49-F238E27FC236}">
                <a16:creationId xmlns:a16="http://schemas.microsoft.com/office/drawing/2014/main" id="{C1E9F6E2-4DFB-551E-7BAB-6725B2470F1F}"/>
              </a:ext>
            </a:extLst>
          </p:cNvPr>
          <p:cNvCxnSpPr/>
          <p:nvPr/>
        </p:nvCxnSpPr>
        <p:spPr>
          <a:xfrm>
            <a:off x="1177290" y="5773220"/>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5770C65-9131-82CC-D8AC-70A3D81ED6DA}"/>
              </a:ext>
            </a:extLst>
          </p:cNvPr>
          <p:cNvCxnSpPr/>
          <p:nvPr/>
        </p:nvCxnSpPr>
        <p:spPr>
          <a:xfrm>
            <a:off x="9776460" y="5773220"/>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FD1FD03-0FBC-4E6D-D2CD-8BBD2AB1B780}"/>
              </a:ext>
            </a:extLst>
          </p:cNvPr>
          <p:cNvSpPr txBox="1"/>
          <p:nvPr/>
        </p:nvSpPr>
        <p:spPr>
          <a:xfrm>
            <a:off x="1177290" y="5437098"/>
            <a:ext cx="1028069" cy="369332"/>
          </a:xfrm>
          <a:prstGeom prst="rect">
            <a:avLst/>
          </a:prstGeom>
          <a:noFill/>
        </p:spPr>
        <p:txBody>
          <a:bodyPr wrap="square" rtlCol="0">
            <a:spAutoFit/>
          </a:bodyPr>
          <a:lstStyle/>
          <a:p>
            <a:r>
              <a:rPr lang="en-IN" dirty="0"/>
              <a:t>…00011</a:t>
            </a:r>
          </a:p>
        </p:txBody>
      </p:sp>
      <p:sp>
        <p:nvSpPr>
          <p:cNvPr id="16" name="TextBox 15">
            <a:extLst>
              <a:ext uri="{FF2B5EF4-FFF2-40B4-BE49-F238E27FC236}">
                <a16:creationId xmlns:a16="http://schemas.microsoft.com/office/drawing/2014/main" id="{D47F6E5B-AF44-8FA4-6907-877CA97A942E}"/>
              </a:ext>
            </a:extLst>
          </p:cNvPr>
          <p:cNvSpPr txBox="1"/>
          <p:nvPr/>
        </p:nvSpPr>
        <p:spPr>
          <a:xfrm>
            <a:off x="10161270" y="5437098"/>
            <a:ext cx="308098" cy="369332"/>
          </a:xfrm>
          <a:prstGeom prst="rect">
            <a:avLst/>
          </a:prstGeom>
          <a:noFill/>
        </p:spPr>
        <p:txBody>
          <a:bodyPr wrap="none" rtlCol="0">
            <a:spAutoFit/>
          </a:bodyPr>
          <a:lstStyle/>
          <a:p>
            <a:r>
              <a:rPr lang="en-IN" dirty="0"/>
              <a:t>1</a:t>
            </a:r>
          </a:p>
        </p:txBody>
      </p:sp>
      <p:graphicFrame>
        <p:nvGraphicFramePr>
          <p:cNvPr id="17" name="Table 16">
            <a:extLst>
              <a:ext uri="{FF2B5EF4-FFF2-40B4-BE49-F238E27FC236}">
                <a16:creationId xmlns:a16="http://schemas.microsoft.com/office/drawing/2014/main" id="{CBBF9A28-5B29-7F13-40E8-40BD9CE2CEBC}"/>
              </a:ext>
            </a:extLst>
          </p:cNvPr>
          <p:cNvGraphicFramePr>
            <a:graphicFrameLocks noGrp="1"/>
          </p:cNvGraphicFramePr>
          <p:nvPr>
            <p:extLst>
              <p:ext uri="{D42A27DB-BD31-4B8C-83A1-F6EECF244321}">
                <p14:modId xmlns:p14="http://schemas.microsoft.com/office/powerpoint/2010/main" val="1097187898"/>
              </p:ext>
            </p:extLst>
          </p:nvPr>
        </p:nvGraphicFramePr>
        <p:xfrm>
          <a:off x="2189854" y="6071670"/>
          <a:ext cx="7509512" cy="370840"/>
        </p:xfrm>
        <a:graphic>
          <a:graphicData uri="http://schemas.openxmlformats.org/drawingml/2006/table">
            <a:tbl>
              <a:tblPr firstRow="1" bandRow="1">
                <a:tableStyleId>{5C22544A-7EE6-4342-B048-85BDC9FD1C3A}</a:tableStyleId>
              </a:tblPr>
              <a:tblGrid>
                <a:gridCol w="1877378">
                  <a:extLst>
                    <a:ext uri="{9D8B030D-6E8A-4147-A177-3AD203B41FA5}">
                      <a16:colId xmlns:a16="http://schemas.microsoft.com/office/drawing/2014/main" val="1362851392"/>
                    </a:ext>
                  </a:extLst>
                </a:gridCol>
                <a:gridCol w="1877378">
                  <a:extLst>
                    <a:ext uri="{9D8B030D-6E8A-4147-A177-3AD203B41FA5}">
                      <a16:colId xmlns:a16="http://schemas.microsoft.com/office/drawing/2014/main" val="3520427834"/>
                    </a:ext>
                  </a:extLst>
                </a:gridCol>
                <a:gridCol w="1877378">
                  <a:extLst>
                    <a:ext uri="{9D8B030D-6E8A-4147-A177-3AD203B41FA5}">
                      <a16:colId xmlns:a16="http://schemas.microsoft.com/office/drawing/2014/main" val="3936153525"/>
                    </a:ext>
                  </a:extLst>
                </a:gridCol>
                <a:gridCol w="1877378">
                  <a:extLst>
                    <a:ext uri="{9D8B030D-6E8A-4147-A177-3AD203B41FA5}">
                      <a16:colId xmlns:a16="http://schemas.microsoft.com/office/drawing/2014/main" val="2900291103"/>
                    </a:ext>
                  </a:extLst>
                </a:gridCol>
              </a:tblGrid>
              <a:tr h="370840">
                <a:tc>
                  <a:txBody>
                    <a:bodyPr/>
                    <a:lstStyle/>
                    <a:p>
                      <a:pPr algn="ctr"/>
                      <a:r>
                        <a:rPr lang="en-IN" dirty="0"/>
                        <a:t>1</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3457455138"/>
                  </a:ext>
                </a:extLst>
              </a:tr>
            </a:tbl>
          </a:graphicData>
        </a:graphic>
      </p:graphicFrame>
      <p:cxnSp>
        <p:nvCxnSpPr>
          <p:cNvPr id="18" name="Straight Arrow Connector 17">
            <a:extLst>
              <a:ext uri="{FF2B5EF4-FFF2-40B4-BE49-F238E27FC236}">
                <a16:creationId xmlns:a16="http://schemas.microsoft.com/office/drawing/2014/main" id="{63AB09B3-3E8A-2C46-833F-B870FE1DA2EC}"/>
              </a:ext>
            </a:extLst>
          </p:cNvPr>
          <p:cNvCxnSpPr/>
          <p:nvPr/>
        </p:nvCxnSpPr>
        <p:spPr>
          <a:xfrm>
            <a:off x="1181100" y="6257090"/>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6AA6E05-30D9-4A18-049A-CD4914115329}"/>
              </a:ext>
            </a:extLst>
          </p:cNvPr>
          <p:cNvCxnSpPr/>
          <p:nvPr/>
        </p:nvCxnSpPr>
        <p:spPr>
          <a:xfrm>
            <a:off x="9780270" y="6257090"/>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25A0331-1D94-41B5-BE7C-1D22EDCB4EA4}"/>
              </a:ext>
            </a:extLst>
          </p:cNvPr>
          <p:cNvSpPr txBox="1"/>
          <p:nvPr/>
        </p:nvSpPr>
        <p:spPr>
          <a:xfrm>
            <a:off x="1181100" y="5920968"/>
            <a:ext cx="1028069" cy="369332"/>
          </a:xfrm>
          <a:prstGeom prst="rect">
            <a:avLst/>
          </a:prstGeom>
          <a:noFill/>
        </p:spPr>
        <p:txBody>
          <a:bodyPr wrap="square" rtlCol="0">
            <a:spAutoFit/>
          </a:bodyPr>
          <a:lstStyle/>
          <a:p>
            <a:r>
              <a:rPr lang="en-IN" dirty="0"/>
              <a:t>…0001</a:t>
            </a:r>
          </a:p>
        </p:txBody>
      </p:sp>
      <p:sp>
        <p:nvSpPr>
          <p:cNvPr id="21" name="TextBox 20">
            <a:extLst>
              <a:ext uri="{FF2B5EF4-FFF2-40B4-BE49-F238E27FC236}">
                <a16:creationId xmlns:a16="http://schemas.microsoft.com/office/drawing/2014/main" id="{24852477-075E-4CB7-8B98-3D7DD553F506}"/>
              </a:ext>
            </a:extLst>
          </p:cNvPr>
          <p:cNvSpPr txBox="1"/>
          <p:nvPr/>
        </p:nvSpPr>
        <p:spPr>
          <a:xfrm>
            <a:off x="10165080" y="5920968"/>
            <a:ext cx="431528" cy="369332"/>
          </a:xfrm>
          <a:prstGeom prst="rect">
            <a:avLst/>
          </a:prstGeom>
          <a:noFill/>
        </p:spPr>
        <p:txBody>
          <a:bodyPr wrap="none" rtlCol="0">
            <a:spAutoFit/>
          </a:bodyPr>
          <a:lstStyle/>
          <a:p>
            <a:r>
              <a:rPr lang="en-IN" dirty="0"/>
              <a:t>01</a:t>
            </a:r>
          </a:p>
        </p:txBody>
      </p:sp>
    </p:spTree>
    <p:extLst>
      <p:ext uri="{BB962C8B-B14F-4D97-AF65-F5344CB8AC3E}">
        <p14:creationId xmlns:p14="http://schemas.microsoft.com/office/powerpoint/2010/main" val="322358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20" grpId="0"/>
      <p:bldP spid="2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38FDB-E0A9-0295-BF5D-8595A71C5D8B}"/>
              </a:ext>
            </a:extLst>
          </p:cNvPr>
          <p:cNvSpPr>
            <a:spLocks noGrp="1"/>
          </p:cNvSpPr>
          <p:nvPr>
            <p:ph type="title"/>
          </p:nvPr>
        </p:nvSpPr>
        <p:spPr>
          <a:xfrm>
            <a:off x="91440" y="0"/>
            <a:ext cx="11262360" cy="1325563"/>
          </a:xfrm>
        </p:spPr>
        <p:txBody>
          <a:bodyPr/>
          <a:lstStyle/>
          <a:p>
            <a:r>
              <a:rPr lang="en-IN" dirty="0"/>
              <a:t>Serial Transfer</a:t>
            </a:r>
          </a:p>
        </p:txBody>
      </p:sp>
      <p:pic>
        <p:nvPicPr>
          <p:cNvPr id="5" name="Picture 4">
            <a:extLst>
              <a:ext uri="{FF2B5EF4-FFF2-40B4-BE49-F238E27FC236}">
                <a16:creationId xmlns:a16="http://schemas.microsoft.com/office/drawing/2014/main" id="{B1F08D97-ACA0-C94E-8E3C-049FADA0C8E7}"/>
              </a:ext>
            </a:extLst>
          </p:cNvPr>
          <p:cNvPicPr>
            <a:picLocks noChangeAspect="1"/>
          </p:cNvPicPr>
          <p:nvPr/>
        </p:nvPicPr>
        <p:blipFill>
          <a:blip r:embed="rId2"/>
          <a:stretch>
            <a:fillRect/>
          </a:stretch>
        </p:blipFill>
        <p:spPr>
          <a:xfrm>
            <a:off x="427444" y="1649814"/>
            <a:ext cx="8842638" cy="2806944"/>
          </a:xfrm>
          <a:prstGeom prst="rect">
            <a:avLst/>
          </a:prstGeom>
        </p:spPr>
      </p:pic>
      <p:sp>
        <p:nvSpPr>
          <p:cNvPr id="6" name="TextBox 5">
            <a:extLst>
              <a:ext uri="{FF2B5EF4-FFF2-40B4-BE49-F238E27FC236}">
                <a16:creationId xmlns:a16="http://schemas.microsoft.com/office/drawing/2014/main" id="{D64D88C8-19CF-2EDE-D1B3-F2291BC7BC42}"/>
              </a:ext>
            </a:extLst>
          </p:cNvPr>
          <p:cNvSpPr txBox="1"/>
          <p:nvPr/>
        </p:nvSpPr>
        <p:spPr>
          <a:xfrm>
            <a:off x="0" y="982345"/>
            <a:ext cx="7703820"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Data is processed </a:t>
            </a:r>
            <a:r>
              <a:rPr lang="en-US" sz="2200" b="1" dirty="0"/>
              <a:t>one bit at a time </a:t>
            </a:r>
            <a:r>
              <a:rPr lang="en-IN" sz="2200" dirty="0"/>
              <a:t>using shift operations.</a:t>
            </a:r>
          </a:p>
        </p:txBody>
      </p:sp>
      <p:pic>
        <p:nvPicPr>
          <p:cNvPr id="8" name="Picture 7">
            <a:extLst>
              <a:ext uri="{FF2B5EF4-FFF2-40B4-BE49-F238E27FC236}">
                <a16:creationId xmlns:a16="http://schemas.microsoft.com/office/drawing/2014/main" id="{4D956C1B-4DC1-E6C7-D210-9F0787EC10E6}"/>
              </a:ext>
            </a:extLst>
          </p:cNvPr>
          <p:cNvPicPr>
            <a:picLocks noChangeAspect="1"/>
          </p:cNvPicPr>
          <p:nvPr/>
        </p:nvPicPr>
        <p:blipFill>
          <a:blip r:embed="rId3"/>
          <a:stretch>
            <a:fillRect/>
          </a:stretch>
        </p:blipFill>
        <p:spPr>
          <a:xfrm>
            <a:off x="91440" y="4544427"/>
            <a:ext cx="6332220" cy="2234198"/>
          </a:xfrm>
          <a:prstGeom prst="rect">
            <a:avLst/>
          </a:prstGeom>
        </p:spPr>
      </p:pic>
      <p:pic>
        <p:nvPicPr>
          <p:cNvPr id="10" name="Picture 9">
            <a:extLst>
              <a:ext uri="{FF2B5EF4-FFF2-40B4-BE49-F238E27FC236}">
                <a16:creationId xmlns:a16="http://schemas.microsoft.com/office/drawing/2014/main" id="{0E65FDAC-5C73-F152-DA6F-F58550B377A5}"/>
              </a:ext>
            </a:extLst>
          </p:cNvPr>
          <p:cNvPicPr>
            <a:picLocks noChangeAspect="1"/>
          </p:cNvPicPr>
          <p:nvPr/>
        </p:nvPicPr>
        <p:blipFill>
          <a:blip r:embed="rId4"/>
          <a:srcRect t="81071"/>
          <a:stretch>
            <a:fillRect/>
          </a:stretch>
        </p:blipFill>
        <p:spPr>
          <a:xfrm>
            <a:off x="6648613" y="6275070"/>
            <a:ext cx="5409496" cy="398728"/>
          </a:xfrm>
          <a:prstGeom prst="rect">
            <a:avLst/>
          </a:prstGeom>
        </p:spPr>
      </p:pic>
      <p:pic>
        <p:nvPicPr>
          <p:cNvPr id="11" name="Picture 10">
            <a:extLst>
              <a:ext uri="{FF2B5EF4-FFF2-40B4-BE49-F238E27FC236}">
                <a16:creationId xmlns:a16="http://schemas.microsoft.com/office/drawing/2014/main" id="{B2CB5159-185C-74BA-12EE-18EDCFD52E06}"/>
              </a:ext>
            </a:extLst>
          </p:cNvPr>
          <p:cNvPicPr>
            <a:picLocks noChangeAspect="1"/>
          </p:cNvPicPr>
          <p:nvPr/>
        </p:nvPicPr>
        <p:blipFill>
          <a:blip r:embed="rId5"/>
          <a:stretch>
            <a:fillRect/>
          </a:stretch>
        </p:blipFill>
        <p:spPr>
          <a:xfrm>
            <a:off x="7524209" y="184202"/>
            <a:ext cx="4651437" cy="1141361"/>
          </a:xfrm>
          <a:prstGeom prst="rect">
            <a:avLst/>
          </a:prstGeom>
        </p:spPr>
      </p:pic>
      <p:pic>
        <p:nvPicPr>
          <p:cNvPr id="12" name="Picture 11">
            <a:extLst>
              <a:ext uri="{FF2B5EF4-FFF2-40B4-BE49-F238E27FC236}">
                <a16:creationId xmlns:a16="http://schemas.microsoft.com/office/drawing/2014/main" id="{F985357C-3AD8-707B-C8AD-78D527B11DD5}"/>
              </a:ext>
            </a:extLst>
          </p:cNvPr>
          <p:cNvPicPr>
            <a:picLocks noChangeAspect="1"/>
          </p:cNvPicPr>
          <p:nvPr/>
        </p:nvPicPr>
        <p:blipFill>
          <a:blip r:embed="rId4"/>
          <a:srcRect t="70219" b="18929"/>
          <a:stretch>
            <a:fillRect/>
          </a:stretch>
        </p:blipFill>
        <p:spPr>
          <a:xfrm>
            <a:off x="6648613" y="6046470"/>
            <a:ext cx="5409496" cy="228600"/>
          </a:xfrm>
          <a:prstGeom prst="rect">
            <a:avLst/>
          </a:prstGeom>
        </p:spPr>
      </p:pic>
      <p:pic>
        <p:nvPicPr>
          <p:cNvPr id="13" name="Picture 12">
            <a:extLst>
              <a:ext uri="{FF2B5EF4-FFF2-40B4-BE49-F238E27FC236}">
                <a16:creationId xmlns:a16="http://schemas.microsoft.com/office/drawing/2014/main" id="{4F2270AF-C605-3718-35A7-9E59449C1F0E}"/>
              </a:ext>
            </a:extLst>
          </p:cNvPr>
          <p:cNvPicPr>
            <a:picLocks noChangeAspect="1"/>
          </p:cNvPicPr>
          <p:nvPr/>
        </p:nvPicPr>
        <p:blipFill>
          <a:blip r:embed="rId4"/>
          <a:srcRect t="57739" b="31409"/>
          <a:stretch>
            <a:fillRect/>
          </a:stretch>
        </p:blipFill>
        <p:spPr>
          <a:xfrm>
            <a:off x="6648613" y="5783580"/>
            <a:ext cx="5409496" cy="228600"/>
          </a:xfrm>
          <a:prstGeom prst="rect">
            <a:avLst/>
          </a:prstGeom>
        </p:spPr>
      </p:pic>
      <p:pic>
        <p:nvPicPr>
          <p:cNvPr id="14" name="Picture 13">
            <a:extLst>
              <a:ext uri="{FF2B5EF4-FFF2-40B4-BE49-F238E27FC236}">
                <a16:creationId xmlns:a16="http://schemas.microsoft.com/office/drawing/2014/main" id="{98DF8DC8-D47C-3572-D0D3-5E9570AFBCF9}"/>
              </a:ext>
            </a:extLst>
          </p:cNvPr>
          <p:cNvPicPr>
            <a:picLocks noChangeAspect="1"/>
          </p:cNvPicPr>
          <p:nvPr/>
        </p:nvPicPr>
        <p:blipFill>
          <a:blip r:embed="rId4"/>
          <a:srcRect t="45258" b="42262"/>
          <a:stretch>
            <a:fillRect/>
          </a:stretch>
        </p:blipFill>
        <p:spPr>
          <a:xfrm>
            <a:off x="6648613" y="5520690"/>
            <a:ext cx="5409496" cy="262890"/>
          </a:xfrm>
          <a:prstGeom prst="rect">
            <a:avLst/>
          </a:prstGeom>
        </p:spPr>
      </p:pic>
      <p:pic>
        <p:nvPicPr>
          <p:cNvPr id="15" name="Picture 14">
            <a:extLst>
              <a:ext uri="{FF2B5EF4-FFF2-40B4-BE49-F238E27FC236}">
                <a16:creationId xmlns:a16="http://schemas.microsoft.com/office/drawing/2014/main" id="{5DAB178E-58F0-A085-7B8A-99A7F94283FD}"/>
              </a:ext>
            </a:extLst>
          </p:cNvPr>
          <p:cNvPicPr>
            <a:picLocks noChangeAspect="1"/>
          </p:cNvPicPr>
          <p:nvPr/>
        </p:nvPicPr>
        <p:blipFill>
          <a:blip r:embed="rId4"/>
          <a:srcRect b="54742"/>
          <a:stretch>
            <a:fillRect/>
          </a:stretch>
        </p:blipFill>
        <p:spPr>
          <a:xfrm>
            <a:off x="6648613" y="4567348"/>
            <a:ext cx="5409496" cy="953342"/>
          </a:xfrm>
          <a:prstGeom prst="rect">
            <a:avLst/>
          </a:prstGeom>
        </p:spPr>
      </p:pic>
    </p:spTree>
    <p:extLst>
      <p:ext uri="{BB962C8B-B14F-4D97-AF65-F5344CB8AC3E}">
        <p14:creationId xmlns:p14="http://schemas.microsoft.com/office/powerpoint/2010/main" val="85599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87E3DE-F43C-085A-4333-23231F959906}"/>
              </a:ext>
            </a:extLst>
          </p:cNvPr>
          <p:cNvPicPr>
            <a:picLocks noChangeAspect="1"/>
          </p:cNvPicPr>
          <p:nvPr/>
        </p:nvPicPr>
        <p:blipFill>
          <a:blip r:embed="rId3"/>
          <a:stretch>
            <a:fillRect/>
          </a:stretch>
        </p:blipFill>
        <p:spPr>
          <a:xfrm>
            <a:off x="3285189" y="2763948"/>
            <a:ext cx="6426501" cy="3268572"/>
          </a:xfrm>
          <a:prstGeom prst="rect">
            <a:avLst/>
          </a:prstGeom>
        </p:spPr>
      </p:pic>
      <p:sp>
        <p:nvSpPr>
          <p:cNvPr id="2" name="Title 1">
            <a:extLst>
              <a:ext uri="{FF2B5EF4-FFF2-40B4-BE49-F238E27FC236}">
                <a16:creationId xmlns:a16="http://schemas.microsoft.com/office/drawing/2014/main" id="{14A418EE-4CB6-933E-63BC-B424C2DBB396}"/>
              </a:ext>
            </a:extLst>
          </p:cNvPr>
          <p:cNvSpPr>
            <a:spLocks noGrp="1"/>
          </p:cNvSpPr>
          <p:nvPr>
            <p:ph type="title"/>
          </p:nvPr>
        </p:nvSpPr>
        <p:spPr/>
        <p:txBody>
          <a:bodyPr/>
          <a:lstStyle/>
          <a:p>
            <a:r>
              <a:rPr lang="en-IN" dirty="0"/>
              <a:t>Serial Addition</a:t>
            </a:r>
          </a:p>
        </p:txBody>
      </p:sp>
      <p:pic>
        <p:nvPicPr>
          <p:cNvPr id="5" name="Picture 4">
            <a:extLst>
              <a:ext uri="{FF2B5EF4-FFF2-40B4-BE49-F238E27FC236}">
                <a16:creationId xmlns:a16="http://schemas.microsoft.com/office/drawing/2014/main" id="{086386BD-F597-4FF0-FE78-B5B04627BE3D}"/>
              </a:ext>
            </a:extLst>
          </p:cNvPr>
          <p:cNvPicPr>
            <a:picLocks noChangeAspect="1"/>
          </p:cNvPicPr>
          <p:nvPr/>
        </p:nvPicPr>
        <p:blipFill>
          <a:blip r:embed="rId4"/>
          <a:stretch>
            <a:fillRect/>
          </a:stretch>
        </p:blipFill>
        <p:spPr>
          <a:xfrm>
            <a:off x="3073198" y="1207286"/>
            <a:ext cx="6638492" cy="5524984"/>
          </a:xfrm>
          <a:prstGeom prst="rect">
            <a:avLst/>
          </a:prstGeom>
        </p:spPr>
      </p:pic>
    </p:spTree>
    <p:extLst>
      <p:ext uri="{BB962C8B-B14F-4D97-AF65-F5344CB8AC3E}">
        <p14:creationId xmlns:p14="http://schemas.microsoft.com/office/powerpoint/2010/main" val="93715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78F2-CD66-1A15-FBB0-54D145EFA838}"/>
              </a:ext>
            </a:extLst>
          </p:cNvPr>
          <p:cNvSpPr>
            <a:spLocks noGrp="1"/>
          </p:cNvSpPr>
          <p:nvPr>
            <p:ph type="title"/>
          </p:nvPr>
        </p:nvSpPr>
        <p:spPr/>
        <p:txBody>
          <a:bodyPr/>
          <a:lstStyle/>
          <a:p>
            <a:r>
              <a:rPr lang="en-IN" dirty="0"/>
              <a:t>Serial Addition</a:t>
            </a:r>
          </a:p>
        </p:txBody>
      </p:sp>
      <p:pic>
        <p:nvPicPr>
          <p:cNvPr id="7" name="Picture 6">
            <a:extLst>
              <a:ext uri="{FF2B5EF4-FFF2-40B4-BE49-F238E27FC236}">
                <a16:creationId xmlns:a16="http://schemas.microsoft.com/office/drawing/2014/main" id="{0204834D-9FD1-AADD-A253-D439CAE5EA09}"/>
              </a:ext>
            </a:extLst>
          </p:cNvPr>
          <p:cNvPicPr>
            <a:picLocks noChangeAspect="1"/>
          </p:cNvPicPr>
          <p:nvPr/>
        </p:nvPicPr>
        <p:blipFill>
          <a:blip r:embed="rId2"/>
          <a:srcRect l="71296"/>
          <a:stretch>
            <a:fillRect/>
          </a:stretch>
        </p:blipFill>
        <p:spPr>
          <a:xfrm>
            <a:off x="8303444" y="1596342"/>
            <a:ext cx="3229426" cy="4896533"/>
          </a:xfrm>
          <a:prstGeom prst="rect">
            <a:avLst/>
          </a:prstGeom>
        </p:spPr>
      </p:pic>
      <p:pic>
        <p:nvPicPr>
          <p:cNvPr id="9" name="Picture 8">
            <a:extLst>
              <a:ext uri="{FF2B5EF4-FFF2-40B4-BE49-F238E27FC236}">
                <a16:creationId xmlns:a16="http://schemas.microsoft.com/office/drawing/2014/main" id="{A8F50B90-CC97-B756-2BD7-CC19EB0E2EC7}"/>
              </a:ext>
            </a:extLst>
          </p:cNvPr>
          <p:cNvPicPr>
            <a:picLocks noChangeAspect="1"/>
          </p:cNvPicPr>
          <p:nvPr/>
        </p:nvPicPr>
        <p:blipFill>
          <a:blip r:embed="rId3"/>
          <a:stretch>
            <a:fillRect/>
          </a:stretch>
        </p:blipFill>
        <p:spPr>
          <a:xfrm>
            <a:off x="8962574" y="0"/>
            <a:ext cx="3229426" cy="1495634"/>
          </a:xfrm>
          <a:prstGeom prst="rect">
            <a:avLst/>
          </a:prstGeom>
        </p:spPr>
      </p:pic>
      <p:pic>
        <p:nvPicPr>
          <p:cNvPr id="10" name="Picture 9">
            <a:extLst>
              <a:ext uri="{FF2B5EF4-FFF2-40B4-BE49-F238E27FC236}">
                <a16:creationId xmlns:a16="http://schemas.microsoft.com/office/drawing/2014/main" id="{0E0F34C1-ED49-BA1A-973C-E358757486E0}"/>
              </a:ext>
            </a:extLst>
          </p:cNvPr>
          <p:cNvPicPr>
            <a:picLocks noChangeAspect="1"/>
          </p:cNvPicPr>
          <p:nvPr/>
        </p:nvPicPr>
        <p:blipFill>
          <a:blip r:embed="rId2"/>
          <a:srcRect r="29970"/>
          <a:stretch>
            <a:fillRect/>
          </a:stretch>
        </p:blipFill>
        <p:spPr>
          <a:xfrm>
            <a:off x="282275" y="1596342"/>
            <a:ext cx="7878745" cy="4896533"/>
          </a:xfrm>
          <a:prstGeom prst="rect">
            <a:avLst/>
          </a:prstGeom>
        </p:spPr>
      </p:pic>
    </p:spTree>
    <p:extLst>
      <p:ext uri="{BB962C8B-B14F-4D97-AF65-F5344CB8AC3E}">
        <p14:creationId xmlns:p14="http://schemas.microsoft.com/office/powerpoint/2010/main" val="48957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F775-45E1-3F4D-240F-9DA87B969417}"/>
              </a:ext>
            </a:extLst>
          </p:cNvPr>
          <p:cNvSpPr>
            <a:spLocks noGrp="1"/>
          </p:cNvSpPr>
          <p:nvPr>
            <p:ph type="title"/>
          </p:nvPr>
        </p:nvSpPr>
        <p:spPr/>
        <p:txBody>
          <a:bodyPr/>
          <a:lstStyle/>
          <a:p>
            <a:r>
              <a:rPr lang="en-IN" dirty="0"/>
              <a:t>Serial Addition</a:t>
            </a:r>
          </a:p>
        </p:txBody>
      </p:sp>
      <p:pic>
        <p:nvPicPr>
          <p:cNvPr id="5" name="Picture 4">
            <a:extLst>
              <a:ext uri="{FF2B5EF4-FFF2-40B4-BE49-F238E27FC236}">
                <a16:creationId xmlns:a16="http://schemas.microsoft.com/office/drawing/2014/main" id="{FBE1BB1C-454B-35A8-F572-B7D61A10FABE}"/>
              </a:ext>
            </a:extLst>
          </p:cNvPr>
          <p:cNvPicPr>
            <a:picLocks noChangeAspect="1"/>
          </p:cNvPicPr>
          <p:nvPr/>
        </p:nvPicPr>
        <p:blipFill>
          <a:blip r:embed="rId2"/>
          <a:stretch>
            <a:fillRect/>
          </a:stretch>
        </p:blipFill>
        <p:spPr>
          <a:xfrm>
            <a:off x="1169670" y="1520191"/>
            <a:ext cx="9270538" cy="4715602"/>
          </a:xfrm>
          <a:prstGeom prst="rect">
            <a:avLst/>
          </a:prstGeom>
        </p:spPr>
      </p:pic>
    </p:spTree>
    <p:extLst>
      <p:ext uri="{BB962C8B-B14F-4D97-AF65-F5344CB8AC3E}">
        <p14:creationId xmlns:p14="http://schemas.microsoft.com/office/powerpoint/2010/main" val="1273954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9854D-02D0-76D1-6F0C-1AD0530E5324}"/>
              </a:ext>
            </a:extLst>
          </p:cNvPr>
          <p:cNvSpPr>
            <a:spLocks noGrp="1"/>
          </p:cNvSpPr>
          <p:nvPr>
            <p:ph type="title"/>
          </p:nvPr>
        </p:nvSpPr>
        <p:spPr/>
        <p:txBody>
          <a:bodyPr/>
          <a:lstStyle/>
          <a:p>
            <a:r>
              <a:rPr lang="en-IN" dirty="0"/>
              <a:t>Universal Shift Register</a:t>
            </a:r>
          </a:p>
        </p:txBody>
      </p:sp>
      <p:sp>
        <p:nvSpPr>
          <p:cNvPr id="4" name="Rectangle 1">
            <a:extLst>
              <a:ext uri="{FF2B5EF4-FFF2-40B4-BE49-F238E27FC236}">
                <a16:creationId xmlns:a16="http://schemas.microsoft.com/office/drawing/2014/main" id="{74D3B919-B9BF-77DA-1BE1-F00078134F71}"/>
              </a:ext>
            </a:extLst>
          </p:cNvPr>
          <p:cNvSpPr>
            <a:spLocks noChangeArrowheads="1"/>
          </p:cNvSpPr>
          <p:nvPr/>
        </p:nvSpPr>
        <p:spPr bwMode="auto">
          <a:xfrm>
            <a:off x="838200" y="1690688"/>
            <a:ext cx="102387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Serial in → Parallel out:</a:t>
            </a:r>
            <a:r>
              <a:rPr kumimoji="0" lang="en-US" altLang="en-US" sz="1800" b="0" i="0" u="none" strike="noStrike" cap="none" normalizeH="0" baseline="0" dirty="0">
                <a:ln>
                  <a:noFill/>
                </a:ln>
                <a:solidFill>
                  <a:schemeClr val="tx1"/>
                </a:solidFill>
                <a:effectLst/>
                <a:latin typeface="Arial" panose="020B0604020202020204" pitchFamily="34" charset="0"/>
              </a:rPr>
              <a:t> Data shifted in serially can be read simultaneously from flip-flop outputs.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Parallel in → Serial out:</a:t>
            </a:r>
            <a:r>
              <a:rPr kumimoji="0" lang="en-US" altLang="en-US" sz="1800" b="0" i="0" u="none" strike="noStrike" cap="none" normalizeH="0" baseline="0" dirty="0">
                <a:ln>
                  <a:noFill/>
                </a:ln>
                <a:solidFill>
                  <a:schemeClr val="tx1"/>
                </a:solidFill>
                <a:effectLst/>
                <a:latin typeface="Arial" panose="020B0604020202020204" pitchFamily="34" charset="0"/>
              </a:rPr>
              <a:t> Data loaded in parallel can be shifted out one bit at a time.</a:t>
            </a:r>
          </a:p>
          <a:p>
            <a:pPr lvl="0" eaLnBrk="0" fontAlgn="base" hangingPunct="0">
              <a:spcBef>
                <a:spcPct val="0"/>
              </a:spcBef>
              <a:spcAft>
                <a:spcPct val="0"/>
              </a:spcAft>
            </a:pPr>
            <a:r>
              <a:rPr lang="en-US" dirty="0"/>
              <a:t>P</a:t>
            </a:r>
            <a:r>
              <a:rPr lang="en-US" b="1" dirty="0"/>
              <a:t>arallel input and Parallel output.</a:t>
            </a:r>
          </a:p>
          <a:p>
            <a:pPr lvl="0" eaLnBrk="0" fontAlgn="base" hangingPunct="0">
              <a:spcBef>
                <a:spcPct val="0"/>
              </a:spcBef>
              <a:spcAft>
                <a:spcPct val="0"/>
              </a:spcAft>
            </a:pPr>
            <a:r>
              <a:rPr lang="en-US" dirty="0"/>
              <a:t>Shift data </a:t>
            </a:r>
            <a:r>
              <a:rPr lang="en-US" b="1" dirty="0"/>
              <a:t>both right and left.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A494949-BF0C-21F4-5425-D8609DBF0C25}"/>
              </a:ext>
            </a:extLst>
          </p:cNvPr>
          <p:cNvPicPr>
            <a:picLocks noChangeAspect="1"/>
          </p:cNvPicPr>
          <p:nvPr/>
        </p:nvPicPr>
        <p:blipFill>
          <a:blip r:embed="rId2"/>
          <a:stretch>
            <a:fillRect/>
          </a:stretch>
        </p:blipFill>
        <p:spPr>
          <a:xfrm>
            <a:off x="7063741" y="115622"/>
            <a:ext cx="5002530" cy="1227512"/>
          </a:xfrm>
          <a:prstGeom prst="rect">
            <a:avLst/>
          </a:prstGeom>
        </p:spPr>
      </p:pic>
      <p:sp>
        <p:nvSpPr>
          <p:cNvPr id="9" name="Rectangle 2">
            <a:extLst>
              <a:ext uri="{FF2B5EF4-FFF2-40B4-BE49-F238E27FC236}">
                <a16:creationId xmlns:a16="http://schemas.microsoft.com/office/drawing/2014/main" id="{3549FB26-3912-1DCE-B224-861E9F2C1098}"/>
              </a:ext>
            </a:extLst>
          </p:cNvPr>
          <p:cNvSpPr>
            <a:spLocks noChangeArrowheads="1"/>
          </p:cNvSpPr>
          <p:nvPr/>
        </p:nvSpPr>
        <p:spPr bwMode="auto">
          <a:xfrm>
            <a:off x="838200" y="3135987"/>
            <a:ext cx="629210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Clear control:</a:t>
            </a:r>
            <a:r>
              <a:rPr kumimoji="0" lang="en-US" altLang="en-US" sz="1800" b="0" i="0" u="none" strike="noStrike" cap="none" normalizeH="0" baseline="0" dirty="0">
                <a:ln>
                  <a:noFill/>
                </a:ln>
                <a:solidFill>
                  <a:schemeClr val="tx1"/>
                </a:solidFill>
                <a:effectLst/>
                <a:latin typeface="Arial" panose="020B0604020202020204" pitchFamily="34" charset="0"/>
              </a:rPr>
              <a:t> Reset register to 0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Clock input:</a:t>
            </a:r>
            <a:r>
              <a:rPr kumimoji="0" lang="en-US" altLang="en-US" sz="1800" b="0" i="0" u="none" strike="noStrike" cap="none" normalizeH="0" baseline="0" dirty="0">
                <a:ln>
                  <a:noFill/>
                </a:ln>
                <a:solidFill>
                  <a:schemeClr val="tx1"/>
                </a:solidFill>
                <a:effectLst/>
                <a:latin typeface="Arial" panose="020B0604020202020204" pitchFamily="34" charset="0"/>
              </a:rPr>
              <a:t> Synchronizes operations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Shift-right control:</a:t>
            </a:r>
            <a:r>
              <a:rPr kumimoji="0" lang="en-US" altLang="en-US" sz="1800" b="0" i="0" u="none" strike="noStrike" cap="none" normalizeH="0" baseline="0" dirty="0">
                <a:ln>
                  <a:noFill/>
                </a:ln>
                <a:solidFill>
                  <a:schemeClr val="tx1"/>
                </a:solidFill>
                <a:effectLst/>
                <a:latin typeface="Arial" panose="020B0604020202020204" pitchFamily="34" charset="0"/>
              </a:rPr>
              <a:t> Enables right shift + serial I/O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Shift-left control:</a:t>
            </a:r>
            <a:r>
              <a:rPr kumimoji="0" lang="en-US" altLang="en-US" sz="1800" b="0" i="0" u="none" strike="noStrike" cap="none" normalizeH="0" baseline="0" dirty="0">
                <a:ln>
                  <a:noFill/>
                </a:ln>
                <a:solidFill>
                  <a:schemeClr val="tx1"/>
                </a:solidFill>
                <a:effectLst/>
                <a:latin typeface="Arial" panose="020B0604020202020204" pitchFamily="34" charset="0"/>
              </a:rPr>
              <a:t> Enables left shift + serial I/O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Parallel-load control:</a:t>
            </a:r>
            <a:r>
              <a:rPr kumimoji="0" lang="en-US" altLang="en-US" sz="1800" b="0" i="0" u="none" strike="noStrike" cap="none" normalizeH="0" baseline="0" dirty="0">
                <a:ln>
                  <a:noFill/>
                </a:ln>
                <a:solidFill>
                  <a:schemeClr val="tx1"/>
                </a:solidFill>
                <a:effectLst/>
                <a:latin typeface="Arial" panose="020B0604020202020204" pitchFamily="34" charset="0"/>
              </a:rPr>
              <a:t> Enables parallel data input (n lines)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Parallel outputs:</a:t>
            </a:r>
            <a:r>
              <a:rPr kumimoji="0" lang="en-US" altLang="en-US" sz="1800" b="0" i="0" u="none" strike="noStrike" cap="none" normalizeH="0" baseline="0" dirty="0">
                <a:ln>
                  <a:noFill/>
                </a:ln>
                <a:solidFill>
                  <a:schemeClr val="tx1"/>
                </a:solidFill>
                <a:effectLst/>
                <a:latin typeface="Arial" panose="020B0604020202020204" pitchFamily="34" charset="0"/>
              </a:rPr>
              <a:t> n output lines available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Hold state:</a:t>
            </a:r>
            <a:r>
              <a:rPr kumimoji="0" lang="en-US" altLang="en-US" sz="1800" b="0" i="0" u="none" strike="noStrike" cap="none" normalizeH="0" baseline="0" dirty="0">
                <a:ln>
                  <a:noFill/>
                </a:ln>
                <a:solidFill>
                  <a:schemeClr val="tx1"/>
                </a:solidFill>
                <a:effectLst/>
                <a:latin typeface="Arial" panose="020B0604020202020204" pitchFamily="34" charset="0"/>
              </a:rPr>
              <a:t> Retains data (no change on clock)</a:t>
            </a:r>
          </a:p>
        </p:txBody>
      </p:sp>
      <p:sp>
        <p:nvSpPr>
          <p:cNvPr id="10" name="TextBox 9">
            <a:extLst>
              <a:ext uri="{FF2B5EF4-FFF2-40B4-BE49-F238E27FC236}">
                <a16:creationId xmlns:a16="http://schemas.microsoft.com/office/drawing/2014/main" id="{9D2BA139-E959-E144-9B1A-774CF933EF7A}"/>
              </a:ext>
            </a:extLst>
          </p:cNvPr>
          <p:cNvSpPr txBox="1"/>
          <p:nvPr/>
        </p:nvSpPr>
        <p:spPr>
          <a:xfrm>
            <a:off x="838200" y="5326380"/>
            <a:ext cx="2868670" cy="923330"/>
          </a:xfrm>
          <a:prstGeom prst="rect">
            <a:avLst/>
          </a:prstGeom>
          <a:noFill/>
        </p:spPr>
        <p:txBody>
          <a:bodyPr wrap="none" rtlCol="0">
            <a:spAutoFit/>
          </a:bodyPr>
          <a:lstStyle/>
          <a:p>
            <a:r>
              <a:rPr lang="en-IN" dirty="0"/>
              <a:t>Unidirectional shift register</a:t>
            </a:r>
          </a:p>
          <a:p>
            <a:r>
              <a:rPr lang="en-IN" dirty="0"/>
              <a:t>Bidirectional shift register</a:t>
            </a:r>
          </a:p>
          <a:p>
            <a:r>
              <a:rPr lang="en-IN" dirty="0"/>
              <a:t>Universal shift register</a:t>
            </a:r>
          </a:p>
        </p:txBody>
      </p:sp>
      <p:pic>
        <p:nvPicPr>
          <p:cNvPr id="12" name="Picture 11">
            <a:extLst>
              <a:ext uri="{FF2B5EF4-FFF2-40B4-BE49-F238E27FC236}">
                <a16:creationId xmlns:a16="http://schemas.microsoft.com/office/drawing/2014/main" id="{F5A03EB8-5EC7-AB89-30C0-A73B50F697A3}"/>
              </a:ext>
            </a:extLst>
          </p:cNvPr>
          <p:cNvPicPr>
            <a:picLocks noChangeAspect="1"/>
          </p:cNvPicPr>
          <p:nvPr/>
        </p:nvPicPr>
        <p:blipFill>
          <a:blip r:embed="rId3"/>
          <a:srcRect l="5834" r="1402"/>
          <a:stretch>
            <a:fillRect/>
          </a:stretch>
        </p:blipFill>
        <p:spPr>
          <a:xfrm>
            <a:off x="6960870" y="2891017"/>
            <a:ext cx="5105401" cy="3279222"/>
          </a:xfrm>
          <a:prstGeom prst="rect">
            <a:avLst/>
          </a:prstGeom>
        </p:spPr>
      </p:pic>
    </p:spTree>
    <p:extLst>
      <p:ext uri="{BB962C8B-B14F-4D97-AF65-F5344CB8AC3E}">
        <p14:creationId xmlns:p14="http://schemas.microsoft.com/office/powerpoint/2010/main" val="270744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CE1F3F-EEE9-C665-158C-FDD74251095B}"/>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EEF6A4BB-3230-5C07-D20E-DB3AF3145D35}"/>
              </a:ext>
            </a:extLst>
          </p:cNvPr>
          <p:cNvPicPr>
            <a:picLocks noChangeAspect="1"/>
          </p:cNvPicPr>
          <p:nvPr/>
        </p:nvPicPr>
        <p:blipFill>
          <a:blip r:embed="rId3"/>
          <a:stretch>
            <a:fillRect/>
          </a:stretch>
        </p:blipFill>
        <p:spPr>
          <a:xfrm>
            <a:off x="8468635" y="0"/>
            <a:ext cx="3723365" cy="2080260"/>
          </a:xfrm>
          <a:prstGeom prst="rect">
            <a:avLst/>
          </a:prstGeom>
        </p:spPr>
      </p:pic>
    </p:spTree>
    <p:extLst>
      <p:ext uri="{BB962C8B-B14F-4D97-AF65-F5344CB8AC3E}">
        <p14:creationId xmlns:p14="http://schemas.microsoft.com/office/powerpoint/2010/main" val="23797338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2C9F-F4ED-9C8B-7102-BF79163D58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F26B74-B59E-FFCA-275C-D3C8CB1BF3CE}"/>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A5C21D9D-4B57-D8F1-FCA9-36EEA07C0F03}"/>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2" name="Rectangle 1">
            <a:extLst>
              <a:ext uri="{FF2B5EF4-FFF2-40B4-BE49-F238E27FC236}">
                <a16:creationId xmlns:a16="http://schemas.microsoft.com/office/drawing/2014/main" id="{87744628-4775-1B7C-9579-8299B0EE99BA}"/>
              </a:ext>
            </a:extLst>
          </p:cNvPr>
          <p:cNvSpPr/>
          <p:nvPr/>
        </p:nvSpPr>
        <p:spPr>
          <a:xfrm>
            <a:off x="331470" y="2857500"/>
            <a:ext cx="7841363" cy="1120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048EB98-1D49-2752-443F-547CFDC11C20}"/>
              </a:ext>
            </a:extLst>
          </p:cNvPr>
          <p:cNvSpPr/>
          <p:nvPr/>
        </p:nvSpPr>
        <p:spPr>
          <a:xfrm>
            <a:off x="331470" y="5044440"/>
            <a:ext cx="7841363" cy="16321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94845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11CEF-48D5-483A-78F0-57B87E123F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D90947-36C6-5E2D-0458-7239C2A627F2}"/>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2D043671-A18A-621C-B10C-D1777CB31B63}"/>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2" name="Rectangle 1">
            <a:extLst>
              <a:ext uri="{FF2B5EF4-FFF2-40B4-BE49-F238E27FC236}">
                <a16:creationId xmlns:a16="http://schemas.microsoft.com/office/drawing/2014/main" id="{BEA6AFFC-08D4-E53C-ADD0-501E79703E11}"/>
              </a:ext>
            </a:extLst>
          </p:cNvPr>
          <p:cNvSpPr/>
          <p:nvPr/>
        </p:nvSpPr>
        <p:spPr>
          <a:xfrm>
            <a:off x="331470" y="3280410"/>
            <a:ext cx="7841363" cy="697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A6A2CABA-ED9E-4CC4-BA3A-4F76EA0B5AE6}"/>
              </a:ext>
            </a:extLst>
          </p:cNvPr>
          <p:cNvSpPr/>
          <p:nvPr/>
        </p:nvSpPr>
        <p:spPr>
          <a:xfrm>
            <a:off x="331470" y="5044440"/>
            <a:ext cx="7841363" cy="16321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076585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E4B4-8728-D65D-F24C-E94398A76E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EB478D6-0A12-C46C-31C3-C1E712B20088}"/>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400E9CAD-92F2-A3DE-CFFB-20E1E6498F8B}"/>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3" name="Rectangle 2">
            <a:extLst>
              <a:ext uri="{FF2B5EF4-FFF2-40B4-BE49-F238E27FC236}">
                <a16:creationId xmlns:a16="http://schemas.microsoft.com/office/drawing/2014/main" id="{7380B15A-E1C8-5DA5-A2FC-D4E2D9D5EAD6}"/>
              </a:ext>
            </a:extLst>
          </p:cNvPr>
          <p:cNvSpPr/>
          <p:nvPr/>
        </p:nvSpPr>
        <p:spPr>
          <a:xfrm>
            <a:off x="331470" y="5044440"/>
            <a:ext cx="7841363" cy="10134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13107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EF4E2-A370-40B7-73F8-A1551F90FA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DD2857-752A-D77E-8D1A-68150B8218F4}"/>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D440DFE2-A7A4-E82F-7601-6764FF85ED9D}"/>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3" name="Rectangle 2">
            <a:extLst>
              <a:ext uri="{FF2B5EF4-FFF2-40B4-BE49-F238E27FC236}">
                <a16:creationId xmlns:a16="http://schemas.microsoft.com/office/drawing/2014/main" id="{E502203D-0F70-EFD7-4788-6DC76CDD6434}"/>
              </a:ext>
            </a:extLst>
          </p:cNvPr>
          <p:cNvSpPr/>
          <p:nvPr/>
        </p:nvSpPr>
        <p:spPr>
          <a:xfrm>
            <a:off x="331470" y="5257800"/>
            <a:ext cx="7841363"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E4A94EE5-9686-B33E-2300-C29BDDB0552D}"/>
              </a:ext>
            </a:extLst>
          </p:cNvPr>
          <p:cNvSpPr/>
          <p:nvPr/>
        </p:nvSpPr>
        <p:spPr>
          <a:xfrm>
            <a:off x="2701291" y="5200650"/>
            <a:ext cx="1162050" cy="742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EE8CBF5D-CE49-B18A-F354-91ADB85CF721}"/>
              </a:ext>
            </a:extLst>
          </p:cNvPr>
          <p:cNvSpPr/>
          <p:nvPr/>
        </p:nvSpPr>
        <p:spPr>
          <a:xfrm>
            <a:off x="4465321" y="5143500"/>
            <a:ext cx="1162049" cy="742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2543E74-4E6A-3CD9-3737-5047ED9A388E}"/>
              </a:ext>
            </a:extLst>
          </p:cNvPr>
          <p:cNvSpPr/>
          <p:nvPr/>
        </p:nvSpPr>
        <p:spPr>
          <a:xfrm>
            <a:off x="6278878" y="5166360"/>
            <a:ext cx="1162049" cy="742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503705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97576-B3D4-33DF-36A7-1C510C32E9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BD355B-4F9D-20B8-ECD0-79042D06B005}"/>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DD6DFE38-62CC-B7E7-D5E3-1A6185968BEB}"/>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3" name="Rectangle 2">
            <a:extLst>
              <a:ext uri="{FF2B5EF4-FFF2-40B4-BE49-F238E27FC236}">
                <a16:creationId xmlns:a16="http://schemas.microsoft.com/office/drawing/2014/main" id="{5275FA24-9A4D-CD56-4DD3-39F9D287BD48}"/>
              </a:ext>
            </a:extLst>
          </p:cNvPr>
          <p:cNvSpPr/>
          <p:nvPr/>
        </p:nvSpPr>
        <p:spPr>
          <a:xfrm>
            <a:off x="2834640" y="5349240"/>
            <a:ext cx="5212080"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C63CF13C-F002-FC31-6F80-698080D13092}"/>
              </a:ext>
            </a:extLst>
          </p:cNvPr>
          <p:cNvSpPr/>
          <p:nvPr/>
        </p:nvSpPr>
        <p:spPr>
          <a:xfrm>
            <a:off x="2125980" y="5337810"/>
            <a:ext cx="139446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3AFE925-BA4B-CC8C-CA67-6BE74C656A62}"/>
              </a:ext>
            </a:extLst>
          </p:cNvPr>
          <p:cNvSpPr/>
          <p:nvPr/>
        </p:nvSpPr>
        <p:spPr>
          <a:xfrm>
            <a:off x="4465321" y="5349240"/>
            <a:ext cx="1162049" cy="537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40CAF5A-60C2-110B-D6D6-051F465970BD}"/>
              </a:ext>
            </a:extLst>
          </p:cNvPr>
          <p:cNvSpPr/>
          <p:nvPr/>
        </p:nvSpPr>
        <p:spPr>
          <a:xfrm>
            <a:off x="6278878" y="5337810"/>
            <a:ext cx="1162049"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4948F51A-3B61-F162-5CFD-13C18D9BD271}"/>
              </a:ext>
            </a:extLst>
          </p:cNvPr>
          <p:cNvSpPr/>
          <p:nvPr/>
        </p:nvSpPr>
        <p:spPr>
          <a:xfrm>
            <a:off x="1535044" y="5349240"/>
            <a:ext cx="491491"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621833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AFAF-287B-7BFD-04C0-BEBAF38D73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5650AA-31F6-BA47-702A-B34D744218BB}"/>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91A941B2-9039-DD3E-0474-4DC9FC30B72E}"/>
              </a:ext>
            </a:extLst>
          </p:cNvPr>
          <p:cNvPicPr>
            <a:picLocks noChangeAspect="1"/>
          </p:cNvPicPr>
          <p:nvPr/>
        </p:nvPicPr>
        <p:blipFill>
          <a:blip r:embed="rId3"/>
          <a:stretch>
            <a:fillRect/>
          </a:stretch>
        </p:blipFill>
        <p:spPr>
          <a:xfrm>
            <a:off x="8468635" y="114300"/>
            <a:ext cx="3723365" cy="2080260"/>
          </a:xfrm>
          <a:prstGeom prst="rect">
            <a:avLst/>
          </a:prstGeom>
        </p:spPr>
      </p:pic>
      <p:sp>
        <p:nvSpPr>
          <p:cNvPr id="3" name="Rectangle 2">
            <a:extLst>
              <a:ext uri="{FF2B5EF4-FFF2-40B4-BE49-F238E27FC236}">
                <a16:creationId xmlns:a16="http://schemas.microsoft.com/office/drawing/2014/main" id="{9D33BB73-731C-E6E4-F6BE-691F306909F2}"/>
              </a:ext>
            </a:extLst>
          </p:cNvPr>
          <p:cNvSpPr/>
          <p:nvPr/>
        </p:nvSpPr>
        <p:spPr>
          <a:xfrm>
            <a:off x="2834640" y="5634990"/>
            <a:ext cx="4080510" cy="537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3BBF6830-EDAE-7E7E-09FA-F7E4606D1F24}"/>
              </a:ext>
            </a:extLst>
          </p:cNvPr>
          <p:cNvSpPr/>
          <p:nvPr/>
        </p:nvSpPr>
        <p:spPr>
          <a:xfrm>
            <a:off x="2125980" y="5634990"/>
            <a:ext cx="1394460" cy="160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CA8681E-F2FD-C77E-5DD3-52B9AFCC339B}"/>
              </a:ext>
            </a:extLst>
          </p:cNvPr>
          <p:cNvSpPr/>
          <p:nvPr/>
        </p:nvSpPr>
        <p:spPr>
          <a:xfrm>
            <a:off x="4465321" y="5634990"/>
            <a:ext cx="1162049" cy="2514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14C62A5-DC40-5109-2B2E-76708289B756}"/>
              </a:ext>
            </a:extLst>
          </p:cNvPr>
          <p:cNvSpPr/>
          <p:nvPr/>
        </p:nvSpPr>
        <p:spPr>
          <a:xfrm>
            <a:off x="6278879" y="5634990"/>
            <a:ext cx="784862"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847035D-B2F5-BBCB-DBDD-C3D468F177A2}"/>
              </a:ext>
            </a:extLst>
          </p:cNvPr>
          <p:cNvSpPr/>
          <p:nvPr/>
        </p:nvSpPr>
        <p:spPr>
          <a:xfrm>
            <a:off x="1535044" y="5349240"/>
            <a:ext cx="491491"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99926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39A0-2D01-4AC2-EB57-917546897E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543554-F86A-86A1-1F82-49CE71AF9C73}"/>
              </a:ext>
            </a:extLst>
          </p:cNvPr>
          <p:cNvPicPr>
            <a:picLocks noChangeAspect="1"/>
          </p:cNvPicPr>
          <p:nvPr/>
        </p:nvPicPr>
        <p:blipFill>
          <a:blip r:embed="rId2"/>
          <a:stretch>
            <a:fillRect/>
          </a:stretch>
        </p:blipFill>
        <p:spPr>
          <a:xfrm>
            <a:off x="137160" y="1040130"/>
            <a:ext cx="8035673" cy="5636430"/>
          </a:xfrm>
          <a:prstGeom prst="rect">
            <a:avLst/>
          </a:prstGeom>
        </p:spPr>
      </p:pic>
      <p:pic>
        <p:nvPicPr>
          <p:cNvPr id="7" name="Picture 6">
            <a:extLst>
              <a:ext uri="{FF2B5EF4-FFF2-40B4-BE49-F238E27FC236}">
                <a16:creationId xmlns:a16="http://schemas.microsoft.com/office/drawing/2014/main" id="{61C131AA-043D-AE03-9AE5-F24DA9D14F34}"/>
              </a:ext>
            </a:extLst>
          </p:cNvPr>
          <p:cNvPicPr>
            <a:picLocks noChangeAspect="1"/>
          </p:cNvPicPr>
          <p:nvPr/>
        </p:nvPicPr>
        <p:blipFill>
          <a:blip r:embed="rId3"/>
          <a:stretch>
            <a:fillRect/>
          </a:stretch>
        </p:blipFill>
        <p:spPr>
          <a:xfrm>
            <a:off x="8468635" y="114300"/>
            <a:ext cx="3723365" cy="2080260"/>
          </a:xfrm>
          <a:prstGeom prst="rect">
            <a:avLst/>
          </a:prstGeom>
        </p:spPr>
      </p:pic>
    </p:spTree>
    <p:extLst>
      <p:ext uri="{BB962C8B-B14F-4D97-AF65-F5344CB8AC3E}">
        <p14:creationId xmlns:p14="http://schemas.microsoft.com/office/powerpoint/2010/main" val="8196549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AC4B-A947-2266-3108-DB047706A9F8}"/>
              </a:ext>
            </a:extLst>
          </p:cNvPr>
          <p:cNvSpPr>
            <a:spLocks noGrp="1"/>
          </p:cNvSpPr>
          <p:nvPr>
            <p:ph type="title"/>
          </p:nvPr>
        </p:nvSpPr>
        <p:spPr/>
        <p:txBody>
          <a:bodyPr/>
          <a:lstStyle/>
          <a:p>
            <a:r>
              <a:rPr lang="en-IN" dirty="0"/>
              <a:t>Counters</a:t>
            </a:r>
          </a:p>
        </p:txBody>
      </p:sp>
      <p:sp>
        <p:nvSpPr>
          <p:cNvPr id="8" name="Rectangle 2">
            <a:extLst>
              <a:ext uri="{FF2B5EF4-FFF2-40B4-BE49-F238E27FC236}">
                <a16:creationId xmlns:a16="http://schemas.microsoft.com/office/drawing/2014/main" id="{133B0151-073F-EDA8-00F6-37961848FB9E}"/>
              </a:ext>
            </a:extLst>
          </p:cNvPr>
          <p:cNvSpPr>
            <a:spLocks noChangeArrowheads="1"/>
          </p:cNvSpPr>
          <p:nvPr/>
        </p:nvSpPr>
        <p:spPr bwMode="auto">
          <a:xfrm>
            <a:off x="838200" y="1427936"/>
            <a:ext cx="77060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counter</a:t>
            </a:r>
            <a:r>
              <a:rPr kumimoji="0" lang="en-US" altLang="en-US" sz="1800" b="0" i="0" u="none" strike="noStrike" cap="none" normalizeH="0" baseline="0" dirty="0">
                <a:ln>
                  <a:noFill/>
                </a:ln>
                <a:solidFill>
                  <a:schemeClr val="tx1"/>
                </a:solidFill>
                <a:effectLst/>
                <a:latin typeface="Arial" panose="020B0604020202020204" pitchFamily="34" charset="0"/>
              </a:rPr>
              <a:t> is a register that goes through a </a:t>
            </a:r>
            <a:r>
              <a:rPr kumimoji="0" lang="en-US" altLang="en-US" sz="1800" b="1" i="0" u="none" strike="noStrike" cap="none" normalizeH="0" baseline="0" dirty="0">
                <a:ln>
                  <a:noFill/>
                </a:ln>
                <a:solidFill>
                  <a:schemeClr val="tx1"/>
                </a:solidFill>
                <a:effectLst/>
                <a:latin typeface="Arial" panose="020B0604020202020204" pitchFamily="34" charset="0"/>
              </a:rPr>
              <a:t>fixed sequence of states.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Triggered by </a:t>
            </a:r>
            <a:r>
              <a:rPr kumimoji="0" lang="en-US" altLang="en-US" sz="1800" b="1" i="0" u="none" strike="noStrike" cap="none" normalizeH="0" baseline="0" dirty="0">
                <a:ln>
                  <a:noFill/>
                </a:ln>
                <a:solidFill>
                  <a:schemeClr val="tx1"/>
                </a:solidFill>
                <a:effectLst/>
                <a:latin typeface="Arial" panose="020B0604020202020204" pitchFamily="34" charset="0"/>
              </a:rPr>
              <a:t>input pulses</a:t>
            </a:r>
            <a:r>
              <a:rPr kumimoji="0" lang="en-US" altLang="en-US" sz="1800" b="0" i="0" u="none" strike="noStrike" cap="none" normalizeH="0" baseline="0" dirty="0">
                <a:ln>
                  <a:noFill/>
                </a:ln>
                <a:solidFill>
                  <a:schemeClr val="tx1"/>
                </a:solidFill>
                <a:effectLst/>
                <a:latin typeface="Arial" panose="020B0604020202020204" pitchFamily="34" charset="0"/>
              </a:rPr>
              <a:t> (clock or external signals)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Sequence can be: </a:t>
            </a:r>
          </a:p>
          <a:p>
            <a:pPr marL="742950" lvl="1" indent="-285750" eaLnBrk="0" fontAlgn="base" hangingPunct="0">
              <a:spcBef>
                <a:spcPct val="0"/>
              </a:spcBef>
              <a:spcAft>
                <a:spcPct val="0"/>
              </a:spcAft>
              <a:buFont typeface="Courier New" panose="02070309020205020404" pitchFamily="49" charset="0"/>
              <a:buChar char="o"/>
            </a:pPr>
            <a:r>
              <a:rPr kumimoji="0" lang="en-US" altLang="en-US" b="1" i="0" u="none" strike="noStrike" cap="none" normalizeH="0" baseline="0" dirty="0">
                <a:ln>
                  <a:noFill/>
                </a:ln>
                <a:solidFill>
                  <a:schemeClr val="tx1"/>
                </a:solidFill>
                <a:effectLst/>
                <a:latin typeface="Arial" panose="020B0604020202020204" pitchFamily="34" charset="0"/>
              </a:rPr>
              <a:t>Binary</a:t>
            </a:r>
            <a:r>
              <a:rPr kumimoji="0" lang="en-US" altLang="en-US" b="0" i="0" u="none" strike="noStrike" cap="none" normalizeH="0" baseline="0" dirty="0">
                <a:ln>
                  <a:noFill/>
                </a:ln>
                <a:solidFill>
                  <a:schemeClr val="tx1"/>
                </a:solidFill>
                <a:effectLst/>
                <a:latin typeface="Arial" panose="020B0604020202020204" pitchFamily="34" charset="0"/>
              </a:rPr>
              <a:t> or   Any custom-defined sequence</a:t>
            </a:r>
          </a:p>
        </p:txBody>
      </p:sp>
      <p:sp>
        <p:nvSpPr>
          <p:cNvPr id="10" name="TextBox 9">
            <a:extLst>
              <a:ext uri="{FF2B5EF4-FFF2-40B4-BE49-F238E27FC236}">
                <a16:creationId xmlns:a16="http://schemas.microsoft.com/office/drawing/2014/main" id="{CB9076A8-672E-5F27-78EB-2EFBA513B12E}"/>
              </a:ext>
            </a:extLst>
          </p:cNvPr>
          <p:cNvSpPr txBox="1"/>
          <p:nvPr/>
        </p:nvSpPr>
        <p:spPr>
          <a:xfrm>
            <a:off x="838200" y="2624028"/>
            <a:ext cx="6097904" cy="1200329"/>
          </a:xfrm>
          <a:prstGeom prst="rect">
            <a:avLst/>
          </a:prstGeom>
          <a:noFill/>
        </p:spPr>
        <p:txBody>
          <a:bodyPr wrap="square">
            <a:spAutoFit/>
          </a:bodyPr>
          <a:lstStyle/>
          <a:p>
            <a:pPr>
              <a:buNone/>
            </a:pPr>
            <a:r>
              <a:rPr lang="en-US" b="1" dirty="0"/>
              <a:t>Binary Counter</a:t>
            </a:r>
          </a:p>
          <a:p>
            <a:pPr marL="285750" indent="-285750">
              <a:buFont typeface="Arial" panose="020B0604020202020204" pitchFamily="34" charset="0"/>
              <a:buChar char="•"/>
            </a:pPr>
            <a:r>
              <a:rPr lang="en-US" dirty="0"/>
              <a:t>Follows </a:t>
            </a:r>
            <a:r>
              <a:rPr lang="en-US" b="1" dirty="0"/>
              <a:t>binary number sequence</a:t>
            </a:r>
            <a:r>
              <a:rPr lang="en-US" dirty="0"/>
              <a:t> </a:t>
            </a:r>
          </a:p>
          <a:p>
            <a:pPr marL="285750" indent="-285750">
              <a:buFont typeface="Arial" panose="020B0604020202020204" pitchFamily="34" charset="0"/>
              <a:buChar char="•"/>
            </a:pPr>
            <a:r>
              <a:rPr lang="en-US" dirty="0"/>
              <a:t>An </a:t>
            </a:r>
            <a:r>
              <a:rPr lang="en-US" b="1" dirty="0"/>
              <a:t>n-bit counter → n flip-flops</a:t>
            </a:r>
            <a:r>
              <a:rPr lang="en-US" dirty="0"/>
              <a:t> </a:t>
            </a:r>
          </a:p>
          <a:p>
            <a:pPr marL="285750" indent="-285750">
              <a:buFont typeface="Arial" panose="020B0604020202020204" pitchFamily="34" charset="0"/>
              <a:buChar char="•"/>
            </a:pPr>
            <a:r>
              <a:rPr lang="en-US" dirty="0"/>
              <a:t>Counts from </a:t>
            </a:r>
            <a:r>
              <a:rPr lang="en-US" b="1" dirty="0"/>
              <a:t>0 to (2ⁿ − 1)</a:t>
            </a:r>
            <a:endParaRPr lang="en-US" dirty="0"/>
          </a:p>
        </p:txBody>
      </p:sp>
      <p:sp>
        <p:nvSpPr>
          <p:cNvPr id="13" name="TextBox 12">
            <a:extLst>
              <a:ext uri="{FF2B5EF4-FFF2-40B4-BE49-F238E27FC236}">
                <a16:creationId xmlns:a16="http://schemas.microsoft.com/office/drawing/2014/main" id="{3EF01142-7585-04C8-020E-90D59EB2300F}"/>
              </a:ext>
            </a:extLst>
          </p:cNvPr>
          <p:cNvSpPr txBox="1"/>
          <p:nvPr/>
        </p:nvSpPr>
        <p:spPr>
          <a:xfrm>
            <a:off x="838200" y="3824357"/>
            <a:ext cx="6097904" cy="1200329"/>
          </a:xfrm>
          <a:prstGeom prst="rect">
            <a:avLst/>
          </a:prstGeom>
          <a:noFill/>
        </p:spPr>
        <p:txBody>
          <a:bodyPr wrap="square">
            <a:spAutoFit/>
          </a:bodyPr>
          <a:lstStyle/>
          <a:p>
            <a:pPr>
              <a:buNone/>
            </a:pPr>
            <a:r>
              <a:rPr lang="en-US" b="1" dirty="0"/>
              <a:t>Ripple (Asynchronous) Counter</a:t>
            </a:r>
          </a:p>
          <a:p>
            <a:pPr marL="285750" indent="-285750">
              <a:buFont typeface="Arial" panose="020B0604020202020204" pitchFamily="34" charset="0"/>
              <a:buChar char="•"/>
            </a:pPr>
            <a:r>
              <a:rPr lang="en-US" dirty="0"/>
              <a:t>Flip-flops are </a:t>
            </a:r>
            <a:r>
              <a:rPr lang="en-US" b="1" dirty="0"/>
              <a:t>triggered by outputs of other flip-flops</a:t>
            </a:r>
            <a:r>
              <a:rPr lang="en-US" dirty="0"/>
              <a:t> </a:t>
            </a:r>
          </a:p>
          <a:p>
            <a:pPr marL="285750" indent="-285750">
              <a:buFont typeface="Arial" panose="020B0604020202020204" pitchFamily="34" charset="0"/>
              <a:buChar char="•"/>
            </a:pPr>
            <a:r>
              <a:rPr lang="en-US" dirty="0"/>
              <a:t>No common clock for all stages </a:t>
            </a:r>
          </a:p>
          <a:p>
            <a:pPr marL="285750" indent="-285750">
              <a:buFont typeface="Arial" panose="020B0604020202020204" pitchFamily="34" charset="0"/>
              <a:buChar char="•"/>
            </a:pPr>
            <a:r>
              <a:rPr lang="en-US" b="1" dirty="0"/>
              <a:t>Simple but slower</a:t>
            </a:r>
            <a:r>
              <a:rPr lang="en-US" dirty="0"/>
              <a:t> (propagation delay)</a:t>
            </a:r>
          </a:p>
        </p:txBody>
      </p:sp>
      <p:sp>
        <p:nvSpPr>
          <p:cNvPr id="15" name="TextBox 14">
            <a:extLst>
              <a:ext uri="{FF2B5EF4-FFF2-40B4-BE49-F238E27FC236}">
                <a16:creationId xmlns:a16="http://schemas.microsoft.com/office/drawing/2014/main" id="{7B4E3520-FAB8-295E-9545-98070365094F}"/>
              </a:ext>
            </a:extLst>
          </p:cNvPr>
          <p:cNvSpPr txBox="1"/>
          <p:nvPr/>
        </p:nvSpPr>
        <p:spPr>
          <a:xfrm>
            <a:off x="838200" y="5020449"/>
            <a:ext cx="6097904" cy="1200329"/>
          </a:xfrm>
          <a:prstGeom prst="rect">
            <a:avLst/>
          </a:prstGeom>
          <a:noFill/>
        </p:spPr>
        <p:txBody>
          <a:bodyPr wrap="square">
            <a:spAutoFit/>
          </a:bodyPr>
          <a:lstStyle/>
          <a:p>
            <a:pPr>
              <a:buNone/>
            </a:pPr>
            <a:r>
              <a:rPr lang="en-US" b="1" dirty="0"/>
              <a:t>Synchronous Counter</a:t>
            </a:r>
          </a:p>
          <a:p>
            <a:pPr marL="285750" indent="-285750">
              <a:buFont typeface="Arial" panose="020B0604020202020204" pitchFamily="34" charset="0"/>
              <a:buChar char="•"/>
            </a:pPr>
            <a:r>
              <a:rPr lang="en-US" dirty="0"/>
              <a:t>All flip-flops share a </a:t>
            </a:r>
            <a:r>
              <a:rPr lang="en-US" b="1" dirty="0"/>
              <a:t>common clock</a:t>
            </a:r>
            <a:r>
              <a:rPr lang="en-US" dirty="0"/>
              <a:t> </a:t>
            </a:r>
          </a:p>
          <a:p>
            <a:pPr marL="285750" indent="-285750">
              <a:buFont typeface="Arial" panose="020B0604020202020204" pitchFamily="34" charset="0"/>
              <a:buChar char="•"/>
            </a:pPr>
            <a:r>
              <a:rPr lang="en-US" dirty="0"/>
              <a:t>Operate </a:t>
            </a:r>
            <a:r>
              <a:rPr lang="en-US" b="1" dirty="0"/>
              <a:t>simultaneously</a:t>
            </a:r>
            <a:r>
              <a:rPr lang="en-US" dirty="0"/>
              <a:t> </a:t>
            </a:r>
          </a:p>
          <a:p>
            <a:pPr marL="285750" indent="-285750">
              <a:buFont typeface="Arial" panose="020B0604020202020204" pitchFamily="34" charset="0"/>
              <a:buChar char="•"/>
            </a:pPr>
            <a:r>
              <a:rPr lang="en-US" b="1" dirty="0"/>
              <a:t>Faster and more reliable</a:t>
            </a:r>
            <a:endParaRPr lang="en-US" dirty="0"/>
          </a:p>
        </p:txBody>
      </p:sp>
    </p:spTree>
    <p:extLst>
      <p:ext uri="{BB962C8B-B14F-4D97-AF65-F5344CB8AC3E}">
        <p14:creationId xmlns:p14="http://schemas.microsoft.com/office/powerpoint/2010/main" val="319914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P spid="1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56026D-A431-DAC7-181F-54177D2F84C5}"/>
              </a:ext>
            </a:extLst>
          </p:cNvPr>
          <p:cNvPicPr>
            <a:picLocks noChangeAspect="1"/>
          </p:cNvPicPr>
          <p:nvPr/>
        </p:nvPicPr>
        <p:blipFill>
          <a:blip r:embed="rId3"/>
          <a:stretch>
            <a:fillRect/>
          </a:stretch>
        </p:blipFill>
        <p:spPr>
          <a:xfrm>
            <a:off x="0" y="0"/>
            <a:ext cx="3803589" cy="3851910"/>
          </a:xfrm>
          <a:prstGeom prst="rect">
            <a:avLst/>
          </a:prstGeom>
        </p:spPr>
      </p:pic>
      <p:pic>
        <p:nvPicPr>
          <p:cNvPr id="6" name="Picture 5">
            <a:extLst>
              <a:ext uri="{FF2B5EF4-FFF2-40B4-BE49-F238E27FC236}">
                <a16:creationId xmlns:a16="http://schemas.microsoft.com/office/drawing/2014/main" id="{2DC257EC-1D05-2CFB-C1E6-4F736B7B8F64}"/>
              </a:ext>
            </a:extLst>
          </p:cNvPr>
          <p:cNvPicPr>
            <a:picLocks noChangeAspect="1"/>
          </p:cNvPicPr>
          <p:nvPr/>
        </p:nvPicPr>
        <p:blipFill>
          <a:blip r:embed="rId4"/>
          <a:stretch>
            <a:fillRect/>
          </a:stretch>
        </p:blipFill>
        <p:spPr>
          <a:xfrm>
            <a:off x="4254307" y="182562"/>
            <a:ext cx="2481570" cy="6492875"/>
          </a:xfrm>
          <a:prstGeom prst="rect">
            <a:avLst/>
          </a:prstGeom>
        </p:spPr>
      </p:pic>
      <p:pic>
        <p:nvPicPr>
          <p:cNvPr id="8" name="Picture 7">
            <a:extLst>
              <a:ext uri="{FF2B5EF4-FFF2-40B4-BE49-F238E27FC236}">
                <a16:creationId xmlns:a16="http://schemas.microsoft.com/office/drawing/2014/main" id="{69F2A7E1-154A-318A-DA3C-A34F5840295B}"/>
              </a:ext>
            </a:extLst>
          </p:cNvPr>
          <p:cNvPicPr>
            <a:picLocks noChangeAspect="1"/>
          </p:cNvPicPr>
          <p:nvPr/>
        </p:nvPicPr>
        <p:blipFill>
          <a:blip r:embed="rId5"/>
          <a:stretch>
            <a:fillRect/>
          </a:stretch>
        </p:blipFill>
        <p:spPr>
          <a:xfrm>
            <a:off x="9568081" y="-1"/>
            <a:ext cx="2425960" cy="6858000"/>
          </a:xfrm>
          <a:prstGeom prst="rect">
            <a:avLst/>
          </a:prstGeom>
        </p:spPr>
      </p:pic>
      <p:sp>
        <p:nvSpPr>
          <p:cNvPr id="9" name="TextBox 8">
            <a:extLst>
              <a:ext uri="{FF2B5EF4-FFF2-40B4-BE49-F238E27FC236}">
                <a16:creationId xmlns:a16="http://schemas.microsoft.com/office/drawing/2014/main" id="{29702BE1-2802-06FB-C5D9-E632003717EE}"/>
              </a:ext>
            </a:extLst>
          </p:cNvPr>
          <p:cNvSpPr txBox="1"/>
          <p:nvPr/>
        </p:nvSpPr>
        <p:spPr>
          <a:xfrm>
            <a:off x="197959" y="4023360"/>
            <a:ext cx="1336071" cy="369332"/>
          </a:xfrm>
          <a:prstGeom prst="rect">
            <a:avLst/>
          </a:prstGeom>
          <a:noFill/>
        </p:spPr>
        <p:txBody>
          <a:bodyPr wrap="none" rtlCol="0">
            <a:spAutoFit/>
          </a:bodyPr>
          <a:lstStyle/>
          <a:p>
            <a:r>
              <a:rPr lang="en-IN" dirty="0"/>
              <a:t>UP Counter</a:t>
            </a:r>
          </a:p>
        </p:txBody>
      </p:sp>
      <p:sp>
        <p:nvSpPr>
          <p:cNvPr id="10" name="TextBox 9">
            <a:extLst>
              <a:ext uri="{FF2B5EF4-FFF2-40B4-BE49-F238E27FC236}">
                <a16:creationId xmlns:a16="http://schemas.microsoft.com/office/drawing/2014/main" id="{DD2D5C25-DFF7-E1EE-67B8-1BAA47B8E8A4}"/>
              </a:ext>
            </a:extLst>
          </p:cNvPr>
          <p:cNvSpPr txBox="1"/>
          <p:nvPr/>
        </p:nvSpPr>
        <p:spPr>
          <a:xfrm>
            <a:off x="197959" y="4392692"/>
            <a:ext cx="1622367" cy="369332"/>
          </a:xfrm>
          <a:prstGeom prst="rect">
            <a:avLst/>
          </a:prstGeom>
          <a:noFill/>
        </p:spPr>
        <p:txBody>
          <a:bodyPr wrap="none" rtlCol="0">
            <a:spAutoFit/>
          </a:bodyPr>
          <a:lstStyle/>
          <a:p>
            <a:r>
              <a:rPr lang="en-IN" dirty="0"/>
              <a:t>Down Counter</a:t>
            </a:r>
          </a:p>
        </p:txBody>
      </p:sp>
      <p:pic>
        <p:nvPicPr>
          <p:cNvPr id="21" name="Picture 20">
            <a:extLst>
              <a:ext uri="{FF2B5EF4-FFF2-40B4-BE49-F238E27FC236}">
                <a16:creationId xmlns:a16="http://schemas.microsoft.com/office/drawing/2014/main" id="{5804518B-D8A5-CCF5-70BC-D90CB275BD03}"/>
              </a:ext>
            </a:extLst>
          </p:cNvPr>
          <p:cNvPicPr>
            <a:picLocks noChangeAspect="1"/>
          </p:cNvPicPr>
          <p:nvPr/>
        </p:nvPicPr>
        <p:blipFill>
          <a:blip r:embed="rId6"/>
          <a:stretch>
            <a:fillRect/>
          </a:stretch>
        </p:blipFill>
        <p:spPr>
          <a:xfrm>
            <a:off x="6905176" y="500062"/>
            <a:ext cx="2493605" cy="6065838"/>
          </a:xfrm>
          <a:prstGeom prst="rect">
            <a:avLst/>
          </a:prstGeom>
        </p:spPr>
      </p:pic>
    </p:spTree>
    <p:extLst>
      <p:ext uri="{BB962C8B-B14F-4D97-AF65-F5344CB8AC3E}">
        <p14:creationId xmlns:p14="http://schemas.microsoft.com/office/powerpoint/2010/main" val="235897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B0A6A-87C0-0510-8439-45A08BB924AA}"/>
              </a:ext>
            </a:extLst>
          </p:cNvPr>
          <p:cNvSpPr>
            <a:spLocks noGrp="1"/>
          </p:cNvSpPr>
          <p:nvPr>
            <p:ph type="title"/>
          </p:nvPr>
        </p:nvSpPr>
        <p:spPr/>
        <p:txBody>
          <a:bodyPr/>
          <a:lstStyle/>
          <a:p>
            <a:r>
              <a:rPr lang="en-IN" dirty="0"/>
              <a:t>BCD Ripple Counter</a:t>
            </a:r>
          </a:p>
        </p:txBody>
      </p:sp>
      <p:pic>
        <p:nvPicPr>
          <p:cNvPr id="5" name="Picture 4">
            <a:extLst>
              <a:ext uri="{FF2B5EF4-FFF2-40B4-BE49-F238E27FC236}">
                <a16:creationId xmlns:a16="http://schemas.microsoft.com/office/drawing/2014/main" id="{959F65DA-6805-D729-8FFD-9CED8963E431}"/>
              </a:ext>
            </a:extLst>
          </p:cNvPr>
          <p:cNvPicPr>
            <a:picLocks noChangeAspect="1"/>
          </p:cNvPicPr>
          <p:nvPr/>
        </p:nvPicPr>
        <p:blipFill>
          <a:blip r:embed="rId2"/>
          <a:stretch>
            <a:fillRect/>
          </a:stretch>
        </p:blipFill>
        <p:spPr>
          <a:xfrm>
            <a:off x="1649730" y="1690688"/>
            <a:ext cx="5257800" cy="2379389"/>
          </a:xfrm>
          <a:prstGeom prst="rect">
            <a:avLst/>
          </a:prstGeom>
        </p:spPr>
      </p:pic>
      <p:pic>
        <p:nvPicPr>
          <p:cNvPr id="8" name="Picture 7">
            <a:extLst>
              <a:ext uri="{FF2B5EF4-FFF2-40B4-BE49-F238E27FC236}">
                <a16:creationId xmlns:a16="http://schemas.microsoft.com/office/drawing/2014/main" id="{328F941B-CB7C-5B63-D57D-1D87D31D2748}"/>
              </a:ext>
            </a:extLst>
          </p:cNvPr>
          <p:cNvPicPr>
            <a:picLocks noChangeAspect="1"/>
          </p:cNvPicPr>
          <p:nvPr/>
        </p:nvPicPr>
        <p:blipFill>
          <a:blip r:embed="rId3"/>
          <a:stretch>
            <a:fillRect/>
          </a:stretch>
        </p:blipFill>
        <p:spPr>
          <a:xfrm>
            <a:off x="1329690" y="4339664"/>
            <a:ext cx="6206743" cy="2111952"/>
          </a:xfrm>
          <a:prstGeom prst="rect">
            <a:avLst/>
          </a:prstGeom>
        </p:spPr>
      </p:pic>
      <p:pic>
        <p:nvPicPr>
          <p:cNvPr id="9" name="Picture 8">
            <a:extLst>
              <a:ext uri="{FF2B5EF4-FFF2-40B4-BE49-F238E27FC236}">
                <a16:creationId xmlns:a16="http://schemas.microsoft.com/office/drawing/2014/main" id="{59A60FCD-7AE6-6F90-BCD9-486EF6D0FE70}"/>
              </a:ext>
            </a:extLst>
          </p:cNvPr>
          <p:cNvPicPr>
            <a:picLocks noChangeAspect="1"/>
          </p:cNvPicPr>
          <p:nvPr/>
        </p:nvPicPr>
        <p:blipFill>
          <a:blip r:embed="rId4"/>
          <a:stretch>
            <a:fillRect/>
          </a:stretch>
        </p:blipFill>
        <p:spPr>
          <a:xfrm>
            <a:off x="9547860" y="182562"/>
            <a:ext cx="2481570" cy="6492875"/>
          </a:xfrm>
          <a:prstGeom prst="rect">
            <a:avLst/>
          </a:prstGeom>
        </p:spPr>
      </p:pic>
    </p:spTree>
    <p:extLst>
      <p:ext uri="{BB962C8B-B14F-4D97-AF65-F5344CB8AC3E}">
        <p14:creationId xmlns:p14="http://schemas.microsoft.com/office/powerpoint/2010/main" val="242167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3360B6-C961-F05E-505F-4EB7738BF36C}"/>
              </a:ext>
            </a:extLst>
          </p:cNvPr>
          <p:cNvPicPr>
            <a:picLocks noChangeAspect="1"/>
          </p:cNvPicPr>
          <p:nvPr/>
        </p:nvPicPr>
        <p:blipFill>
          <a:blip r:embed="rId2"/>
          <a:stretch>
            <a:fillRect/>
          </a:stretch>
        </p:blipFill>
        <p:spPr>
          <a:xfrm>
            <a:off x="465939" y="1623760"/>
            <a:ext cx="11260121" cy="3610479"/>
          </a:xfrm>
          <a:prstGeom prst="rect">
            <a:avLst/>
          </a:prstGeom>
        </p:spPr>
      </p:pic>
    </p:spTree>
    <p:extLst>
      <p:ext uri="{BB962C8B-B14F-4D97-AF65-F5344CB8AC3E}">
        <p14:creationId xmlns:p14="http://schemas.microsoft.com/office/powerpoint/2010/main" val="23283075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B961C-07A3-C4C4-602F-57CD018EDF4F}"/>
              </a:ext>
            </a:extLst>
          </p:cNvPr>
          <p:cNvSpPr>
            <a:spLocks noGrp="1"/>
          </p:cNvSpPr>
          <p:nvPr>
            <p:ph type="title"/>
          </p:nvPr>
        </p:nvSpPr>
        <p:spPr/>
        <p:txBody>
          <a:bodyPr/>
          <a:lstStyle/>
          <a:p>
            <a:r>
              <a:rPr lang="en-IN" dirty="0"/>
              <a:t>Synchronous Counters</a:t>
            </a:r>
          </a:p>
        </p:txBody>
      </p:sp>
      <p:pic>
        <p:nvPicPr>
          <p:cNvPr id="6" name="Picture 5">
            <a:extLst>
              <a:ext uri="{FF2B5EF4-FFF2-40B4-BE49-F238E27FC236}">
                <a16:creationId xmlns:a16="http://schemas.microsoft.com/office/drawing/2014/main" id="{1C894868-93A6-29B2-286C-89E683CC6E19}"/>
              </a:ext>
            </a:extLst>
          </p:cNvPr>
          <p:cNvPicPr>
            <a:picLocks noChangeAspect="1"/>
          </p:cNvPicPr>
          <p:nvPr/>
        </p:nvPicPr>
        <p:blipFill>
          <a:blip r:embed="rId3"/>
          <a:stretch>
            <a:fillRect/>
          </a:stretch>
        </p:blipFill>
        <p:spPr>
          <a:xfrm>
            <a:off x="7379124" y="0"/>
            <a:ext cx="3881887" cy="6858000"/>
          </a:xfrm>
          <a:prstGeom prst="rect">
            <a:avLst/>
          </a:prstGeom>
        </p:spPr>
      </p:pic>
    </p:spTree>
    <p:extLst>
      <p:ext uri="{BB962C8B-B14F-4D97-AF65-F5344CB8AC3E}">
        <p14:creationId xmlns:p14="http://schemas.microsoft.com/office/powerpoint/2010/main" val="293753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5C2CA7-8487-1EF9-F7A8-586FC161DD7E}"/>
              </a:ext>
            </a:extLst>
          </p:cNvPr>
          <p:cNvPicPr>
            <a:picLocks noChangeAspect="1"/>
          </p:cNvPicPr>
          <p:nvPr/>
        </p:nvPicPr>
        <p:blipFill>
          <a:blip r:embed="rId2"/>
          <a:stretch>
            <a:fillRect/>
          </a:stretch>
        </p:blipFill>
        <p:spPr>
          <a:xfrm>
            <a:off x="5919250" y="0"/>
            <a:ext cx="6137079" cy="6858000"/>
          </a:xfrm>
          <a:prstGeom prst="rect">
            <a:avLst/>
          </a:prstGeom>
        </p:spPr>
      </p:pic>
      <p:sp>
        <p:nvSpPr>
          <p:cNvPr id="2" name="Title 1">
            <a:extLst>
              <a:ext uri="{FF2B5EF4-FFF2-40B4-BE49-F238E27FC236}">
                <a16:creationId xmlns:a16="http://schemas.microsoft.com/office/drawing/2014/main" id="{1793F573-FAA6-1FF4-24FB-B9792435DA1D}"/>
              </a:ext>
            </a:extLst>
          </p:cNvPr>
          <p:cNvSpPr>
            <a:spLocks noGrp="1"/>
          </p:cNvSpPr>
          <p:nvPr>
            <p:ph type="title"/>
          </p:nvPr>
        </p:nvSpPr>
        <p:spPr>
          <a:xfrm>
            <a:off x="135671" y="1542415"/>
            <a:ext cx="10515600" cy="1325563"/>
          </a:xfrm>
        </p:spPr>
        <p:txBody>
          <a:bodyPr/>
          <a:lstStyle/>
          <a:p>
            <a:r>
              <a:rPr lang="en-US" dirty="0"/>
              <a:t>Four-bit up–down binary counter</a:t>
            </a:r>
            <a:endParaRPr lang="en-IN" dirty="0"/>
          </a:p>
        </p:txBody>
      </p:sp>
    </p:spTree>
    <p:extLst>
      <p:ext uri="{BB962C8B-B14F-4D97-AF65-F5344CB8AC3E}">
        <p14:creationId xmlns:p14="http://schemas.microsoft.com/office/powerpoint/2010/main" val="35990356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8E59A-A76B-A54C-8FA2-D0C0195038D5}"/>
              </a:ext>
            </a:extLst>
          </p:cNvPr>
          <p:cNvSpPr>
            <a:spLocks noGrp="1"/>
          </p:cNvSpPr>
          <p:nvPr>
            <p:ph type="title"/>
          </p:nvPr>
        </p:nvSpPr>
        <p:spPr/>
        <p:txBody>
          <a:bodyPr/>
          <a:lstStyle/>
          <a:p>
            <a:r>
              <a:rPr lang="en-IN" dirty="0"/>
              <a:t>BCD Counter</a:t>
            </a:r>
          </a:p>
        </p:txBody>
      </p:sp>
      <p:pic>
        <p:nvPicPr>
          <p:cNvPr id="5" name="Picture 4">
            <a:extLst>
              <a:ext uri="{FF2B5EF4-FFF2-40B4-BE49-F238E27FC236}">
                <a16:creationId xmlns:a16="http://schemas.microsoft.com/office/drawing/2014/main" id="{C257AE41-F172-3103-C47D-0172E150FABF}"/>
              </a:ext>
            </a:extLst>
          </p:cNvPr>
          <p:cNvPicPr>
            <a:picLocks noChangeAspect="1"/>
          </p:cNvPicPr>
          <p:nvPr/>
        </p:nvPicPr>
        <p:blipFill>
          <a:blip r:embed="rId2"/>
          <a:stretch>
            <a:fillRect/>
          </a:stretch>
        </p:blipFill>
        <p:spPr>
          <a:xfrm>
            <a:off x="838200" y="1296149"/>
            <a:ext cx="6812420" cy="2945652"/>
          </a:xfrm>
          <a:prstGeom prst="rect">
            <a:avLst/>
          </a:prstGeom>
        </p:spPr>
      </p:pic>
      <p:pic>
        <p:nvPicPr>
          <p:cNvPr id="7" name="Picture 6">
            <a:extLst>
              <a:ext uri="{FF2B5EF4-FFF2-40B4-BE49-F238E27FC236}">
                <a16:creationId xmlns:a16="http://schemas.microsoft.com/office/drawing/2014/main" id="{DD3E20B2-C694-47F2-14CA-121279FF4A60}"/>
              </a:ext>
            </a:extLst>
          </p:cNvPr>
          <p:cNvPicPr>
            <a:picLocks noChangeAspect="1"/>
          </p:cNvPicPr>
          <p:nvPr/>
        </p:nvPicPr>
        <p:blipFill>
          <a:blip r:embed="rId3"/>
          <a:stretch>
            <a:fillRect/>
          </a:stretch>
        </p:blipFill>
        <p:spPr>
          <a:xfrm>
            <a:off x="9448388" y="0"/>
            <a:ext cx="2743611" cy="1854200"/>
          </a:xfrm>
          <a:prstGeom prst="rect">
            <a:avLst/>
          </a:prstGeom>
        </p:spPr>
      </p:pic>
    </p:spTree>
    <p:extLst>
      <p:ext uri="{BB962C8B-B14F-4D97-AF65-F5344CB8AC3E}">
        <p14:creationId xmlns:p14="http://schemas.microsoft.com/office/powerpoint/2010/main" val="18449209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1B55865-DEEC-E1B4-7872-42E38DFE02E7}"/>
              </a:ext>
            </a:extLst>
          </p:cNvPr>
          <p:cNvPicPr>
            <a:picLocks noChangeAspect="1"/>
          </p:cNvPicPr>
          <p:nvPr/>
        </p:nvPicPr>
        <p:blipFill>
          <a:blip r:embed="rId3"/>
          <a:srcRect l="-255" r="-2"/>
          <a:stretch>
            <a:fillRect/>
          </a:stretch>
        </p:blipFill>
        <p:spPr>
          <a:xfrm>
            <a:off x="4058844" y="4240106"/>
            <a:ext cx="2947594" cy="2528643"/>
          </a:xfrm>
          <a:prstGeom prst="rect">
            <a:avLst/>
          </a:prstGeom>
        </p:spPr>
      </p:pic>
      <p:sp>
        <p:nvSpPr>
          <p:cNvPr id="2" name="Title 1">
            <a:extLst>
              <a:ext uri="{FF2B5EF4-FFF2-40B4-BE49-F238E27FC236}">
                <a16:creationId xmlns:a16="http://schemas.microsoft.com/office/drawing/2014/main" id="{B7456E7B-CEED-B97B-FAA1-EE7A54DB112F}"/>
              </a:ext>
            </a:extLst>
          </p:cNvPr>
          <p:cNvSpPr>
            <a:spLocks noGrp="1"/>
          </p:cNvSpPr>
          <p:nvPr>
            <p:ph type="title"/>
          </p:nvPr>
        </p:nvSpPr>
        <p:spPr/>
        <p:txBody>
          <a:bodyPr/>
          <a:lstStyle/>
          <a:p>
            <a:r>
              <a:rPr lang="en-IN" dirty="0"/>
              <a:t>Counter with Unused States</a:t>
            </a:r>
          </a:p>
        </p:txBody>
      </p:sp>
      <p:pic>
        <p:nvPicPr>
          <p:cNvPr id="5" name="Picture 4">
            <a:extLst>
              <a:ext uri="{FF2B5EF4-FFF2-40B4-BE49-F238E27FC236}">
                <a16:creationId xmlns:a16="http://schemas.microsoft.com/office/drawing/2014/main" id="{09DBAEA8-0F2A-6C6B-3114-861011506617}"/>
              </a:ext>
            </a:extLst>
          </p:cNvPr>
          <p:cNvPicPr>
            <a:picLocks noChangeAspect="1"/>
          </p:cNvPicPr>
          <p:nvPr/>
        </p:nvPicPr>
        <p:blipFill>
          <a:blip r:embed="rId4"/>
          <a:stretch>
            <a:fillRect/>
          </a:stretch>
        </p:blipFill>
        <p:spPr>
          <a:xfrm>
            <a:off x="838200" y="1574561"/>
            <a:ext cx="6819900" cy="2639961"/>
          </a:xfrm>
          <a:prstGeom prst="rect">
            <a:avLst/>
          </a:prstGeom>
        </p:spPr>
      </p:pic>
      <p:pic>
        <p:nvPicPr>
          <p:cNvPr id="7" name="Picture 6">
            <a:extLst>
              <a:ext uri="{FF2B5EF4-FFF2-40B4-BE49-F238E27FC236}">
                <a16:creationId xmlns:a16="http://schemas.microsoft.com/office/drawing/2014/main" id="{A97182E3-191C-A930-A102-CAC4055F5C43}"/>
              </a:ext>
            </a:extLst>
          </p:cNvPr>
          <p:cNvPicPr>
            <a:picLocks noChangeAspect="1"/>
          </p:cNvPicPr>
          <p:nvPr/>
        </p:nvPicPr>
        <p:blipFill>
          <a:blip r:embed="rId5"/>
          <a:stretch>
            <a:fillRect/>
          </a:stretch>
        </p:blipFill>
        <p:spPr>
          <a:xfrm>
            <a:off x="1079501" y="4888690"/>
            <a:ext cx="1920835" cy="972575"/>
          </a:xfrm>
          <a:prstGeom prst="rect">
            <a:avLst/>
          </a:prstGeom>
        </p:spPr>
      </p:pic>
      <p:pic>
        <p:nvPicPr>
          <p:cNvPr id="9" name="Picture 8">
            <a:extLst>
              <a:ext uri="{FF2B5EF4-FFF2-40B4-BE49-F238E27FC236}">
                <a16:creationId xmlns:a16="http://schemas.microsoft.com/office/drawing/2014/main" id="{185E9FF5-F980-5674-85E6-1B98ACC770AC}"/>
              </a:ext>
            </a:extLst>
          </p:cNvPr>
          <p:cNvPicPr>
            <a:picLocks noChangeAspect="1"/>
          </p:cNvPicPr>
          <p:nvPr/>
        </p:nvPicPr>
        <p:blipFill>
          <a:blip r:embed="rId6"/>
          <a:stretch>
            <a:fillRect/>
          </a:stretch>
        </p:blipFill>
        <p:spPr>
          <a:xfrm>
            <a:off x="8602308" y="667092"/>
            <a:ext cx="3589692" cy="5748773"/>
          </a:xfrm>
          <a:prstGeom prst="rect">
            <a:avLst/>
          </a:prstGeom>
        </p:spPr>
      </p:pic>
      <p:pic>
        <p:nvPicPr>
          <p:cNvPr id="11" name="Picture 10">
            <a:extLst>
              <a:ext uri="{FF2B5EF4-FFF2-40B4-BE49-F238E27FC236}">
                <a16:creationId xmlns:a16="http://schemas.microsoft.com/office/drawing/2014/main" id="{810ED827-659A-2DED-F157-2C59D9AB78C0}"/>
              </a:ext>
            </a:extLst>
          </p:cNvPr>
          <p:cNvPicPr>
            <a:picLocks noChangeAspect="1"/>
          </p:cNvPicPr>
          <p:nvPr/>
        </p:nvPicPr>
        <p:blipFill>
          <a:blip r:embed="rId3"/>
          <a:srcRect l="80521"/>
          <a:stretch>
            <a:fillRect/>
          </a:stretch>
        </p:blipFill>
        <p:spPr>
          <a:xfrm>
            <a:off x="6311900" y="4220918"/>
            <a:ext cx="572694" cy="2528643"/>
          </a:xfrm>
          <a:prstGeom prst="rect">
            <a:avLst/>
          </a:prstGeom>
        </p:spPr>
      </p:pic>
      <p:pic>
        <p:nvPicPr>
          <p:cNvPr id="17" name="Picture 16">
            <a:extLst>
              <a:ext uri="{FF2B5EF4-FFF2-40B4-BE49-F238E27FC236}">
                <a16:creationId xmlns:a16="http://schemas.microsoft.com/office/drawing/2014/main" id="{F8D92062-E11B-4CD2-9E44-FE69A6482F01}"/>
              </a:ext>
            </a:extLst>
          </p:cNvPr>
          <p:cNvPicPr>
            <a:picLocks noChangeAspect="1"/>
          </p:cNvPicPr>
          <p:nvPr/>
        </p:nvPicPr>
        <p:blipFill>
          <a:blip r:embed="rId7"/>
          <a:stretch>
            <a:fillRect/>
          </a:stretch>
        </p:blipFill>
        <p:spPr>
          <a:xfrm>
            <a:off x="4089400" y="4227314"/>
            <a:ext cx="2222500" cy="2528643"/>
          </a:xfrm>
          <a:prstGeom prst="rect">
            <a:avLst/>
          </a:prstGeom>
        </p:spPr>
      </p:pic>
      <p:sp>
        <p:nvSpPr>
          <p:cNvPr id="19" name="TextBox 18">
            <a:extLst>
              <a:ext uri="{FF2B5EF4-FFF2-40B4-BE49-F238E27FC236}">
                <a16:creationId xmlns:a16="http://schemas.microsoft.com/office/drawing/2014/main" id="{C74A2A47-878B-5FC7-44BB-B4A37C856BAA}"/>
              </a:ext>
            </a:extLst>
          </p:cNvPr>
          <p:cNvSpPr txBox="1"/>
          <p:nvPr/>
        </p:nvSpPr>
        <p:spPr>
          <a:xfrm>
            <a:off x="815696" y="6185032"/>
            <a:ext cx="3294556" cy="461665"/>
          </a:xfrm>
          <a:prstGeom prst="rect">
            <a:avLst/>
          </a:prstGeom>
          <a:noFill/>
        </p:spPr>
        <p:txBody>
          <a:bodyPr wrap="none" rtlCol="0">
            <a:spAutoFit/>
          </a:bodyPr>
          <a:lstStyle/>
          <a:p>
            <a:r>
              <a:rPr lang="en-IN" sz="2400" dirty="0"/>
              <a:t>Self-correcting Counter</a:t>
            </a:r>
          </a:p>
        </p:txBody>
      </p:sp>
      <p:grpSp>
        <p:nvGrpSpPr>
          <p:cNvPr id="8" name="Group 7">
            <a:extLst>
              <a:ext uri="{FF2B5EF4-FFF2-40B4-BE49-F238E27FC236}">
                <a16:creationId xmlns:a16="http://schemas.microsoft.com/office/drawing/2014/main" id="{365C85E2-9AB6-53AF-5265-9F8C525033EA}"/>
              </a:ext>
            </a:extLst>
          </p:cNvPr>
          <p:cNvGrpSpPr/>
          <p:nvPr/>
        </p:nvGrpSpPr>
        <p:grpSpPr>
          <a:xfrm>
            <a:off x="5513081" y="4549140"/>
            <a:ext cx="775959" cy="1943735"/>
            <a:chOff x="5513081" y="4549140"/>
            <a:chExt cx="775959" cy="1943735"/>
          </a:xfrm>
        </p:grpSpPr>
        <p:cxnSp>
          <p:nvCxnSpPr>
            <p:cNvPr id="4" name="Straight Arrow Connector 3">
              <a:extLst>
                <a:ext uri="{FF2B5EF4-FFF2-40B4-BE49-F238E27FC236}">
                  <a16:creationId xmlns:a16="http://schemas.microsoft.com/office/drawing/2014/main" id="{938F2509-BF3A-D7C0-09DA-A382A874E839}"/>
                </a:ext>
              </a:extLst>
            </p:cNvPr>
            <p:cNvCxnSpPr>
              <a:cxnSpLocks/>
            </p:cNvCxnSpPr>
            <p:nvPr/>
          </p:nvCxnSpPr>
          <p:spPr>
            <a:xfrm rot="10800000">
              <a:off x="5513081" y="4549140"/>
              <a:ext cx="756000" cy="0"/>
            </a:xfrm>
            <a:prstGeom prst="straightConnector1">
              <a:avLst/>
            </a:prstGeom>
            <a:ln w="254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05E23981-8E3B-D408-41D2-2C866DB94E2A}"/>
                </a:ext>
              </a:extLst>
            </p:cNvPr>
            <p:cNvCxnSpPr>
              <a:cxnSpLocks/>
            </p:cNvCxnSpPr>
            <p:nvPr/>
          </p:nvCxnSpPr>
          <p:spPr>
            <a:xfrm rot="10800000">
              <a:off x="5533040" y="6492875"/>
              <a:ext cx="756000" cy="0"/>
            </a:xfrm>
            <a:prstGeom prst="straightConnector1">
              <a:avLst/>
            </a:prstGeom>
            <a:ln w="2540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9235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2418A-AFE0-A312-3FFE-9733446D0ED5}"/>
              </a:ext>
            </a:extLst>
          </p:cNvPr>
          <p:cNvSpPr>
            <a:spLocks noGrp="1"/>
          </p:cNvSpPr>
          <p:nvPr>
            <p:ph type="title"/>
          </p:nvPr>
        </p:nvSpPr>
        <p:spPr/>
        <p:txBody>
          <a:bodyPr/>
          <a:lstStyle/>
          <a:p>
            <a:r>
              <a:rPr lang="en-IN" dirty="0"/>
              <a:t>Ring Counter</a:t>
            </a:r>
          </a:p>
        </p:txBody>
      </p:sp>
      <p:pic>
        <p:nvPicPr>
          <p:cNvPr id="4" name="Picture 3">
            <a:extLst>
              <a:ext uri="{FF2B5EF4-FFF2-40B4-BE49-F238E27FC236}">
                <a16:creationId xmlns:a16="http://schemas.microsoft.com/office/drawing/2014/main" id="{5E3B3881-A9DC-D53E-8005-B588EA4175D0}"/>
              </a:ext>
            </a:extLst>
          </p:cNvPr>
          <p:cNvPicPr>
            <a:picLocks noChangeAspect="1"/>
          </p:cNvPicPr>
          <p:nvPr/>
        </p:nvPicPr>
        <p:blipFill>
          <a:blip r:embed="rId3"/>
          <a:stretch>
            <a:fillRect/>
          </a:stretch>
        </p:blipFill>
        <p:spPr>
          <a:xfrm>
            <a:off x="6398104" y="336461"/>
            <a:ext cx="5793896" cy="1421695"/>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7462D20-64B6-6A08-1A12-84E12535BE7F}"/>
                  </a:ext>
                </a:extLst>
              </p:cNvPr>
              <p:cNvGraphicFramePr>
                <a:graphicFrameLocks noGrp="1"/>
              </p:cNvGraphicFramePr>
              <p:nvPr>
                <p:extLst>
                  <p:ext uri="{D42A27DB-BD31-4B8C-83A1-F6EECF244321}">
                    <p14:modId xmlns:p14="http://schemas.microsoft.com/office/powerpoint/2010/main" val="3611259951"/>
                  </p:ext>
                </p:extLst>
              </p:nvPr>
            </p:nvGraphicFramePr>
            <p:xfrm>
              <a:off x="953464" y="1574800"/>
              <a:ext cx="1713536" cy="3708400"/>
            </p:xfrm>
            <a:graphic>
              <a:graphicData uri="http://schemas.openxmlformats.org/drawingml/2006/table">
                <a:tbl>
                  <a:tblPr firstRow="1" bandRow="1">
                    <a:tableStyleId>{5C22544A-7EE6-4342-B048-85BDC9FD1C3A}</a:tableStyleId>
                  </a:tblPr>
                  <a:tblGrid>
                    <a:gridCol w="428384">
                      <a:extLst>
                        <a:ext uri="{9D8B030D-6E8A-4147-A177-3AD203B41FA5}">
                          <a16:colId xmlns:a16="http://schemas.microsoft.com/office/drawing/2014/main" val="1362851392"/>
                        </a:ext>
                      </a:extLst>
                    </a:gridCol>
                    <a:gridCol w="428384">
                      <a:extLst>
                        <a:ext uri="{9D8B030D-6E8A-4147-A177-3AD203B41FA5}">
                          <a16:colId xmlns:a16="http://schemas.microsoft.com/office/drawing/2014/main" val="3520427834"/>
                        </a:ext>
                      </a:extLst>
                    </a:gridCol>
                    <a:gridCol w="428384">
                      <a:extLst>
                        <a:ext uri="{9D8B030D-6E8A-4147-A177-3AD203B41FA5}">
                          <a16:colId xmlns:a16="http://schemas.microsoft.com/office/drawing/2014/main" val="3936153525"/>
                        </a:ext>
                      </a:extLst>
                    </a:gridCol>
                    <a:gridCol w="428384">
                      <a:extLst>
                        <a:ext uri="{9D8B030D-6E8A-4147-A177-3AD203B41FA5}">
                          <a16:colId xmlns:a16="http://schemas.microsoft.com/office/drawing/2014/main" val="2900291103"/>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𝑨</m:t>
                                    </m:r>
                                  </m:e>
                                  <m:sub>
                                    <m:r>
                                      <a:rPr lang="en-IN" b="1" i="1" smtClean="0">
                                        <a:latin typeface="Cambria Math" panose="02040503050406030204" pitchFamily="18" charset="0"/>
                                      </a:rPr>
                                      <m:t>𝟎</m:t>
                                    </m:r>
                                  </m:sub>
                                </m:sSub>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𝑨</m:t>
                                    </m:r>
                                  </m:e>
                                  <m:sub>
                                    <m:r>
                                      <a:rPr lang="en-IN" b="1" i="1" smtClean="0">
                                        <a:latin typeface="Cambria Math" panose="02040503050406030204" pitchFamily="18" charset="0"/>
                                      </a:rPr>
                                      <m:t>𝟏</m:t>
                                    </m:r>
                                  </m:sub>
                                </m:sSub>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𝑨</m:t>
                                    </m:r>
                                  </m:e>
                                  <m:sub>
                                    <m:r>
                                      <a:rPr lang="en-IN" b="1" i="1" smtClean="0">
                                        <a:latin typeface="Cambria Math" panose="02040503050406030204" pitchFamily="18" charset="0"/>
                                      </a:rPr>
                                      <m:t>𝟐</m:t>
                                    </m:r>
                                  </m:sub>
                                </m:sSub>
                              </m:oMath>
                            </m:oMathPara>
                          </a14:m>
                          <a:endParaRPr lang="en-IN"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𝑨</m:t>
                                    </m:r>
                                  </m:e>
                                  <m:sub>
                                    <m:r>
                                      <a:rPr lang="en-IN" b="1" i="1" smtClean="0">
                                        <a:latin typeface="Cambria Math" panose="02040503050406030204" pitchFamily="18" charset="0"/>
                                      </a:rPr>
                                      <m:t>𝟑</m:t>
                                    </m:r>
                                  </m:sub>
                                </m:sSub>
                              </m:oMath>
                            </m:oMathPara>
                          </a14:m>
                          <a:endParaRPr lang="en-IN" dirty="0"/>
                        </a:p>
                      </a:txBody>
                      <a:tcPr/>
                    </a:tc>
                    <a:extLst>
                      <a:ext uri="{0D108BD9-81ED-4DB2-BD59-A6C34878D82A}">
                        <a16:rowId xmlns:a16="http://schemas.microsoft.com/office/drawing/2014/main" val="3457455138"/>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63074584"/>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2167535888"/>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1483896211"/>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4171354434"/>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4119036768"/>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097558247"/>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1258525426"/>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2144489393"/>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153125747"/>
                      </a:ext>
                    </a:extLst>
                  </a:tr>
                </a:tbl>
              </a:graphicData>
            </a:graphic>
          </p:graphicFrame>
        </mc:Choice>
        <mc:Fallback xmlns="">
          <p:graphicFrame>
            <p:nvGraphicFramePr>
              <p:cNvPr id="5" name="Table 4">
                <a:extLst>
                  <a:ext uri="{FF2B5EF4-FFF2-40B4-BE49-F238E27FC236}">
                    <a16:creationId xmlns:a16="http://schemas.microsoft.com/office/drawing/2014/main" id="{C7462D20-64B6-6A08-1A12-84E12535BE7F}"/>
                  </a:ext>
                </a:extLst>
              </p:cNvPr>
              <p:cNvGraphicFramePr>
                <a:graphicFrameLocks noGrp="1"/>
              </p:cNvGraphicFramePr>
              <p:nvPr>
                <p:extLst>
                  <p:ext uri="{D42A27DB-BD31-4B8C-83A1-F6EECF244321}">
                    <p14:modId xmlns:p14="http://schemas.microsoft.com/office/powerpoint/2010/main" val="3611259951"/>
                  </p:ext>
                </p:extLst>
              </p:nvPr>
            </p:nvGraphicFramePr>
            <p:xfrm>
              <a:off x="953464" y="1574800"/>
              <a:ext cx="1713536" cy="3708400"/>
            </p:xfrm>
            <a:graphic>
              <a:graphicData uri="http://schemas.openxmlformats.org/drawingml/2006/table">
                <a:tbl>
                  <a:tblPr firstRow="1" bandRow="1">
                    <a:tableStyleId>{5C22544A-7EE6-4342-B048-85BDC9FD1C3A}</a:tableStyleId>
                  </a:tblPr>
                  <a:tblGrid>
                    <a:gridCol w="428384">
                      <a:extLst>
                        <a:ext uri="{9D8B030D-6E8A-4147-A177-3AD203B41FA5}">
                          <a16:colId xmlns:a16="http://schemas.microsoft.com/office/drawing/2014/main" val="1362851392"/>
                        </a:ext>
                      </a:extLst>
                    </a:gridCol>
                    <a:gridCol w="428384">
                      <a:extLst>
                        <a:ext uri="{9D8B030D-6E8A-4147-A177-3AD203B41FA5}">
                          <a16:colId xmlns:a16="http://schemas.microsoft.com/office/drawing/2014/main" val="3520427834"/>
                        </a:ext>
                      </a:extLst>
                    </a:gridCol>
                    <a:gridCol w="428384">
                      <a:extLst>
                        <a:ext uri="{9D8B030D-6E8A-4147-A177-3AD203B41FA5}">
                          <a16:colId xmlns:a16="http://schemas.microsoft.com/office/drawing/2014/main" val="3936153525"/>
                        </a:ext>
                      </a:extLst>
                    </a:gridCol>
                    <a:gridCol w="428384">
                      <a:extLst>
                        <a:ext uri="{9D8B030D-6E8A-4147-A177-3AD203B41FA5}">
                          <a16:colId xmlns:a16="http://schemas.microsoft.com/office/drawing/2014/main" val="2900291103"/>
                        </a:ext>
                      </a:extLst>
                    </a:gridCol>
                  </a:tblGrid>
                  <a:tr h="370840">
                    <a:tc>
                      <a:txBody>
                        <a:bodyPr/>
                        <a:lstStyle/>
                        <a:p>
                          <a:endParaRPr lang="en-US"/>
                        </a:p>
                      </a:txBody>
                      <a:tcPr>
                        <a:blipFill>
                          <a:blip r:embed="rId4"/>
                          <a:stretch>
                            <a:fillRect l="-1408" t="-1639" r="-302817" b="-924590"/>
                          </a:stretch>
                        </a:blipFill>
                      </a:tcPr>
                    </a:tc>
                    <a:tc>
                      <a:txBody>
                        <a:bodyPr/>
                        <a:lstStyle/>
                        <a:p>
                          <a:endParaRPr lang="en-US"/>
                        </a:p>
                      </a:txBody>
                      <a:tcPr>
                        <a:blipFill>
                          <a:blip r:embed="rId4"/>
                          <a:stretch>
                            <a:fillRect l="-102857" t="-1639" r="-207143" b="-924590"/>
                          </a:stretch>
                        </a:blipFill>
                      </a:tcPr>
                    </a:tc>
                    <a:tc>
                      <a:txBody>
                        <a:bodyPr/>
                        <a:lstStyle/>
                        <a:p>
                          <a:endParaRPr lang="en-US"/>
                        </a:p>
                      </a:txBody>
                      <a:tcPr>
                        <a:blipFill>
                          <a:blip r:embed="rId4"/>
                          <a:stretch>
                            <a:fillRect l="-200000" t="-1639" r="-104225" b="-924590"/>
                          </a:stretch>
                        </a:blipFill>
                      </a:tcPr>
                    </a:tc>
                    <a:tc>
                      <a:txBody>
                        <a:bodyPr/>
                        <a:lstStyle/>
                        <a:p>
                          <a:endParaRPr lang="en-US"/>
                        </a:p>
                      </a:txBody>
                      <a:tcPr>
                        <a:blipFill>
                          <a:blip r:embed="rId4"/>
                          <a:stretch>
                            <a:fillRect l="-304286" t="-1639" r="-5714" b="-924590"/>
                          </a:stretch>
                        </a:blipFill>
                      </a:tcPr>
                    </a:tc>
                    <a:extLst>
                      <a:ext uri="{0D108BD9-81ED-4DB2-BD59-A6C34878D82A}">
                        <a16:rowId xmlns:a16="http://schemas.microsoft.com/office/drawing/2014/main" val="3457455138"/>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63074584"/>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2167535888"/>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1483896211"/>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4171354434"/>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4119036768"/>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097558247"/>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tc>
                      <a:txBody>
                        <a:bodyPr/>
                        <a:lstStyle/>
                        <a:p>
                          <a:pPr algn="ctr"/>
                          <a:r>
                            <a:rPr lang="en-IN" dirty="0"/>
                            <a:t>0</a:t>
                          </a:r>
                        </a:p>
                      </a:txBody>
                      <a:tcPr/>
                    </a:tc>
                    <a:extLst>
                      <a:ext uri="{0D108BD9-81ED-4DB2-BD59-A6C34878D82A}">
                        <a16:rowId xmlns:a16="http://schemas.microsoft.com/office/drawing/2014/main" val="1258525426"/>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1</a:t>
                          </a:r>
                        </a:p>
                      </a:txBody>
                      <a:tcPr/>
                    </a:tc>
                    <a:extLst>
                      <a:ext uri="{0D108BD9-81ED-4DB2-BD59-A6C34878D82A}">
                        <a16:rowId xmlns:a16="http://schemas.microsoft.com/office/drawing/2014/main" val="2144489393"/>
                      </a:ext>
                    </a:extLst>
                  </a:tr>
                  <a:tr h="370840">
                    <a:tc>
                      <a:txBody>
                        <a:bodyPr/>
                        <a:lstStyle/>
                        <a:p>
                          <a:pPr algn="ctr"/>
                          <a:r>
                            <a:rPr lang="en-IN" dirty="0"/>
                            <a:t>1</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153125747"/>
                      </a:ext>
                    </a:extLst>
                  </a:tr>
                </a:tbl>
              </a:graphicData>
            </a:graphic>
          </p:graphicFrame>
        </mc:Fallback>
      </mc:AlternateContent>
      <p:pic>
        <p:nvPicPr>
          <p:cNvPr id="7" name="Picture 6">
            <a:extLst>
              <a:ext uri="{FF2B5EF4-FFF2-40B4-BE49-F238E27FC236}">
                <a16:creationId xmlns:a16="http://schemas.microsoft.com/office/drawing/2014/main" id="{690B9447-F5D5-9AAC-1611-D1E71DC9E278}"/>
              </a:ext>
            </a:extLst>
          </p:cNvPr>
          <p:cNvPicPr>
            <a:picLocks noChangeAspect="1"/>
          </p:cNvPicPr>
          <p:nvPr/>
        </p:nvPicPr>
        <p:blipFill>
          <a:blip r:embed="rId5"/>
          <a:stretch>
            <a:fillRect/>
          </a:stretch>
        </p:blipFill>
        <p:spPr>
          <a:xfrm>
            <a:off x="3152411" y="1758156"/>
            <a:ext cx="3245693" cy="1550436"/>
          </a:xfrm>
          <a:prstGeom prst="rect">
            <a:avLst/>
          </a:prstGeom>
        </p:spPr>
      </p:pic>
      <p:pic>
        <p:nvPicPr>
          <p:cNvPr id="9" name="Picture 8">
            <a:extLst>
              <a:ext uri="{FF2B5EF4-FFF2-40B4-BE49-F238E27FC236}">
                <a16:creationId xmlns:a16="http://schemas.microsoft.com/office/drawing/2014/main" id="{2A48FE3B-8C2D-96D6-A345-FFBAD487EB64}"/>
              </a:ext>
            </a:extLst>
          </p:cNvPr>
          <p:cNvPicPr>
            <a:picLocks noChangeAspect="1"/>
          </p:cNvPicPr>
          <p:nvPr/>
        </p:nvPicPr>
        <p:blipFill>
          <a:blip r:embed="rId6"/>
          <a:srcRect t="83263"/>
          <a:stretch>
            <a:fillRect/>
          </a:stretch>
        </p:blipFill>
        <p:spPr>
          <a:xfrm>
            <a:off x="7252493" y="5471075"/>
            <a:ext cx="4346417" cy="646332"/>
          </a:xfrm>
          <a:prstGeom prst="rect">
            <a:avLst/>
          </a:prstGeom>
        </p:spPr>
      </p:pic>
      <p:sp>
        <p:nvSpPr>
          <p:cNvPr id="10" name="TextBox 9">
            <a:extLst>
              <a:ext uri="{FF2B5EF4-FFF2-40B4-BE49-F238E27FC236}">
                <a16:creationId xmlns:a16="http://schemas.microsoft.com/office/drawing/2014/main" id="{7E701E7C-6310-C3FD-AB39-888E30EF752C}"/>
              </a:ext>
            </a:extLst>
          </p:cNvPr>
          <p:cNvSpPr txBox="1"/>
          <p:nvPr/>
        </p:nvSpPr>
        <p:spPr>
          <a:xfrm>
            <a:off x="406400" y="5471076"/>
            <a:ext cx="6235700" cy="646331"/>
          </a:xfrm>
          <a:prstGeom prst="rect">
            <a:avLst/>
          </a:prstGeom>
          <a:noFill/>
        </p:spPr>
        <p:txBody>
          <a:bodyPr wrap="square" rtlCol="0">
            <a:spAutoFit/>
          </a:bodyPr>
          <a:lstStyle/>
          <a:p>
            <a:r>
              <a:rPr lang="en-US" dirty="0"/>
              <a:t>A ring counter is a circular shift register with only one flip-flop being set at any particular time; all others </a:t>
            </a:r>
            <a:r>
              <a:rPr lang="en-IN" dirty="0"/>
              <a:t>are cleared. </a:t>
            </a:r>
          </a:p>
        </p:txBody>
      </p:sp>
      <p:pic>
        <p:nvPicPr>
          <p:cNvPr id="3" name="Picture 2">
            <a:extLst>
              <a:ext uri="{FF2B5EF4-FFF2-40B4-BE49-F238E27FC236}">
                <a16:creationId xmlns:a16="http://schemas.microsoft.com/office/drawing/2014/main" id="{854078BE-45A4-8F83-0531-BFCF033B6670}"/>
              </a:ext>
            </a:extLst>
          </p:cNvPr>
          <p:cNvPicPr>
            <a:picLocks noChangeAspect="1"/>
          </p:cNvPicPr>
          <p:nvPr/>
        </p:nvPicPr>
        <p:blipFill>
          <a:blip r:embed="rId6"/>
          <a:srcRect t="61165" b="16737"/>
          <a:stretch>
            <a:fillRect/>
          </a:stretch>
        </p:blipFill>
        <p:spPr>
          <a:xfrm>
            <a:off x="7252493" y="4617719"/>
            <a:ext cx="4346417" cy="853357"/>
          </a:xfrm>
          <a:prstGeom prst="rect">
            <a:avLst/>
          </a:prstGeom>
        </p:spPr>
      </p:pic>
      <p:pic>
        <p:nvPicPr>
          <p:cNvPr id="6" name="Picture 5">
            <a:extLst>
              <a:ext uri="{FF2B5EF4-FFF2-40B4-BE49-F238E27FC236}">
                <a16:creationId xmlns:a16="http://schemas.microsoft.com/office/drawing/2014/main" id="{FFFFF5D8-B1CA-93F2-AA8A-013A5D06F59F}"/>
              </a:ext>
            </a:extLst>
          </p:cNvPr>
          <p:cNvPicPr>
            <a:picLocks noChangeAspect="1"/>
          </p:cNvPicPr>
          <p:nvPr/>
        </p:nvPicPr>
        <p:blipFill>
          <a:blip r:embed="rId6"/>
          <a:srcRect t="38375" b="38834"/>
          <a:stretch>
            <a:fillRect/>
          </a:stretch>
        </p:blipFill>
        <p:spPr>
          <a:xfrm>
            <a:off x="7252493" y="3737609"/>
            <a:ext cx="4346417" cy="880111"/>
          </a:xfrm>
          <a:prstGeom prst="rect">
            <a:avLst/>
          </a:prstGeom>
        </p:spPr>
      </p:pic>
      <p:pic>
        <p:nvPicPr>
          <p:cNvPr id="8" name="Picture 7">
            <a:extLst>
              <a:ext uri="{FF2B5EF4-FFF2-40B4-BE49-F238E27FC236}">
                <a16:creationId xmlns:a16="http://schemas.microsoft.com/office/drawing/2014/main" id="{2D5D6C82-23C5-83EC-FC21-96D6A5ADE9C8}"/>
              </a:ext>
            </a:extLst>
          </p:cNvPr>
          <p:cNvPicPr>
            <a:picLocks noChangeAspect="1"/>
          </p:cNvPicPr>
          <p:nvPr/>
        </p:nvPicPr>
        <p:blipFill>
          <a:blip r:embed="rId6"/>
          <a:srcRect t="15584" b="61626"/>
          <a:stretch>
            <a:fillRect/>
          </a:stretch>
        </p:blipFill>
        <p:spPr>
          <a:xfrm>
            <a:off x="7252493" y="2857499"/>
            <a:ext cx="4346417" cy="880111"/>
          </a:xfrm>
          <a:prstGeom prst="rect">
            <a:avLst/>
          </a:prstGeom>
        </p:spPr>
      </p:pic>
      <p:pic>
        <p:nvPicPr>
          <p:cNvPr id="11" name="Picture 10">
            <a:extLst>
              <a:ext uri="{FF2B5EF4-FFF2-40B4-BE49-F238E27FC236}">
                <a16:creationId xmlns:a16="http://schemas.microsoft.com/office/drawing/2014/main" id="{4ACB948B-62FA-3044-19E3-7F65D4F9782E}"/>
              </a:ext>
            </a:extLst>
          </p:cNvPr>
          <p:cNvPicPr>
            <a:picLocks noChangeAspect="1"/>
          </p:cNvPicPr>
          <p:nvPr/>
        </p:nvPicPr>
        <p:blipFill>
          <a:blip r:embed="rId6"/>
          <a:srcRect b="84417"/>
          <a:stretch>
            <a:fillRect/>
          </a:stretch>
        </p:blipFill>
        <p:spPr>
          <a:xfrm>
            <a:off x="7252493" y="2255751"/>
            <a:ext cx="4346417" cy="601749"/>
          </a:xfrm>
          <a:prstGeom prst="rect">
            <a:avLst/>
          </a:prstGeom>
        </p:spPr>
      </p:pic>
    </p:spTree>
    <p:extLst>
      <p:ext uri="{BB962C8B-B14F-4D97-AF65-F5344CB8AC3E}">
        <p14:creationId xmlns:p14="http://schemas.microsoft.com/office/powerpoint/2010/main" val="107614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9E07-70CA-F2F9-A72F-AC9E8B01EA28}"/>
              </a:ext>
            </a:extLst>
          </p:cNvPr>
          <p:cNvSpPr>
            <a:spLocks noGrp="1"/>
          </p:cNvSpPr>
          <p:nvPr>
            <p:ph type="title"/>
          </p:nvPr>
        </p:nvSpPr>
        <p:spPr/>
        <p:txBody>
          <a:bodyPr/>
          <a:lstStyle/>
          <a:p>
            <a:r>
              <a:rPr lang="en-IN" dirty="0"/>
              <a:t>Generation of timing signals</a:t>
            </a:r>
          </a:p>
        </p:txBody>
      </p:sp>
      <p:pic>
        <p:nvPicPr>
          <p:cNvPr id="5" name="Picture 4">
            <a:extLst>
              <a:ext uri="{FF2B5EF4-FFF2-40B4-BE49-F238E27FC236}">
                <a16:creationId xmlns:a16="http://schemas.microsoft.com/office/drawing/2014/main" id="{31BC0862-7D20-D681-BB89-9B357A164BC9}"/>
              </a:ext>
            </a:extLst>
          </p:cNvPr>
          <p:cNvPicPr>
            <a:picLocks noChangeAspect="1"/>
          </p:cNvPicPr>
          <p:nvPr/>
        </p:nvPicPr>
        <p:blipFill>
          <a:blip r:embed="rId2"/>
          <a:stretch>
            <a:fillRect/>
          </a:stretch>
        </p:blipFill>
        <p:spPr>
          <a:xfrm>
            <a:off x="4348354" y="2055813"/>
            <a:ext cx="3197516" cy="3305540"/>
          </a:xfrm>
          <a:prstGeom prst="rect">
            <a:avLst/>
          </a:prstGeom>
        </p:spPr>
      </p:pic>
      <p:pic>
        <p:nvPicPr>
          <p:cNvPr id="6" name="Picture 5">
            <a:extLst>
              <a:ext uri="{FF2B5EF4-FFF2-40B4-BE49-F238E27FC236}">
                <a16:creationId xmlns:a16="http://schemas.microsoft.com/office/drawing/2014/main" id="{FE239687-C3A3-D450-86B2-1346E932D1C4}"/>
              </a:ext>
            </a:extLst>
          </p:cNvPr>
          <p:cNvPicPr>
            <a:picLocks noChangeAspect="1"/>
          </p:cNvPicPr>
          <p:nvPr/>
        </p:nvPicPr>
        <p:blipFill>
          <a:blip r:embed="rId3"/>
          <a:stretch>
            <a:fillRect/>
          </a:stretch>
        </p:blipFill>
        <p:spPr>
          <a:xfrm>
            <a:off x="838201" y="1971471"/>
            <a:ext cx="3441572" cy="3057729"/>
          </a:xfrm>
          <a:prstGeom prst="rect">
            <a:avLst/>
          </a:prstGeom>
        </p:spPr>
      </p:pic>
      <p:pic>
        <p:nvPicPr>
          <p:cNvPr id="3" name="Picture 2">
            <a:extLst>
              <a:ext uri="{FF2B5EF4-FFF2-40B4-BE49-F238E27FC236}">
                <a16:creationId xmlns:a16="http://schemas.microsoft.com/office/drawing/2014/main" id="{BC1E783E-4A1C-B7D0-2C8C-B03B3380518C}"/>
              </a:ext>
            </a:extLst>
          </p:cNvPr>
          <p:cNvPicPr>
            <a:picLocks noChangeAspect="1"/>
          </p:cNvPicPr>
          <p:nvPr/>
        </p:nvPicPr>
        <p:blipFill>
          <a:blip r:embed="rId4"/>
          <a:stretch>
            <a:fillRect/>
          </a:stretch>
        </p:blipFill>
        <p:spPr>
          <a:xfrm>
            <a:off x="8946307" y="0"/>
            <a:ext cx="3245693" cy="155043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A4275B-012C-B46E-AAF7-322D1A3A3A5C}"/>
                  </a:ext>
                </a:extLst>
              </p:cNvPr>
              <p:cNvSpPr txBox="1"/>
              <p:nvPr/>
            </p:nvSpPr>
            <p:spPr>
              <a:xfrm>
                <a:off x="737999" y="5569545"/>
                <a:ext cx="5358001" cy="923330"/>
              </a:xfrm>
              <a:prstGeom prst="rect">
                <a:avLst/>
              </a:prstGeom>
              <a:noFill/>
            </p:spPr>
            <p:txBody>
              <a:bodyPr wrap="square" rtlCol="0">
                <a:spAutoFit/>
              </a:bodyPr>
              <a:lstStyle/>
              <a:p>
                <a14:m>
                  <m:oMath xmlns:m="http://schemas.openxmlformats.org/officeDocument/2006/math">
                    <m:sSup>
                      <m:sSupPr>
                        <m:ctrlPr>
                          <a:rPr lang="en-IN" b="0" i="1" smtClean="0">
                            <a:latin typeface="Cambria Math" panose="02040503050406030204" pitchFamily="18" charset="0"/>
                          </a:rPr>
                        </m:ctrlPr>
                      </m:sSupPr>
                      <m:e>
                        <m:r>
                          <a:rPr lang="en-IN" b="0" i="1" smtClean="0">
                            <a:latin typeface="Cambria Math" panose="02040503050406030204" pitchFamily="18" charset="0"/>
                          </a:rPr>
                          <m:t>2</m:t>
                        </m:r>
                      </m:e>
                      <m:sup>
                        <m:r>
                          <a:rPr lang="en-IN" b="0" i="1" smtClean="0">
                            <a:latin typeface="Cambria Math" panose="02040503050406030204" pitchFamily="18" charset="0"/>
                          </a:rPr>
                          <m:t>𝑛</m:t>
                        </m:r>
                      </m:sup>
                    </m:sSup>
                    <m:r>
                      <a:rPr lang="en-IN" b="0" i="1" smtClean="0">
                        <a:latin typeface="Cambria Math" panose="02040503050406030204" pitchFamily="18" charset="0"/>
                      </a:rPr>
                      <m:t> </m:t>
                    </m:r>
                    <m:r>
                      <a:rPr lang="en-IN" b="0" i="1" smtClean="0">
                        <a:latin typeface="Cambria Math" panose="02040503050406030204" pitchFamily="18" charset="0"/>
                      </a:rPr>
                      <m:t>𝑡𝑖𝑚𝑖𝑛𝑔</m:t>
                    </m:r>
                    <m:r>
                      <a:rPr lang="en-IN" b="0" i="1" smtClean="0">
                        <a:latin typeface="Cambria Math" panose="02040503050406030204" pitchFamily="18" charset="0"/>
                      </a:rPr>
                      <m:t> </m:t>
                    </m:r>
                    <m:r>
                      <a:rPr lang="en-IN" b="0" i="1" smtClean="0">
                        <a:latin typeface="Cambria Math" panose="02040503050406030204" pitchFamily="18" charset="0"/>
                      </a:rPr>
                      <m:t>𝑠𝑖𝑔𝑛𝑎𝑙𝑠</m:t>
                    </m:r>
                  </m:oMath>
                </a14:m>
                <a:r>
                  <a:rPr lang="en-IN" dirty="0"/>
                  <a:t>: shift register with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2</m:t>
                        </m:r>
                      </m:e>
                      <m:sup>
                        <m:r>
                          <a:rPr lang="en-IN" i="1">
                            <a:latin typeface="Cambria Math" panose="02040503050406030204" pitchFamily="18" charset="0"/>
                          </a:rPr>
                          <m:t>𝑛</m:t>
                        </m:r>
                      </m:sup>
                    </m:sSup>
                  </m:oMath>
                </a14:m>
                <a:r>
                  <a:rPr lang="en-IN" dirty="0"/>
                  <a:t> flipflops or </a:t>
                </a:r>
                <a:r>
                  <a:rPr lang="en-US" dirty="0"/>
                  <a:t>an </a:t>
                </a:r>
                <a14:m>
                  <m:oMath xmlns:m="http://schemas.openxmlformats.org/officeDocument/2006/math">
                    <m:r>
                      <a:rPr lang="en-IN" b="0" i="1" smtClean="0">
                        <a:latin typeface="Cambria Math" panose="02040503050406030204" pitchFamily="18" charset="0"/>
                      </a:rPr>
                      <m:t>𝑛</m:t>
                    </m:r>
                    <m:r>
                      <a:rPr lang="en-IN" i="1">
                        <a:latin typeface="Cambria Math" panose="02040503050406030204" pitchFamily="18" charset="0"/>
                      </a:rPr>
                      <m:t> </m:t>
                    </m:r>
                  </m:oMath>
                </a14:m>
                <a:r>
                  <a:rPr lang="en-US" dirty="0"/>
                  <a:t>-bit binary counter together with an </a:t>
                </a:r>
                <a14:m>
                  <m:oMath xmlns:m="http://schemas.openxmlformats.org/officeDocument/2006/math">
                    <m:sSup>
                      <m:sSupPr>
                        <m:ctrlPr>
                          <a:rPr lang="en-IN" i="1">
                            <a:latin typeface="Cambria Math" panose="02040503050406030204" pitchFamily="18" charset="0"/>
                          </a:rPr>
                        </m:ctrlPr>
                      </m:sSupPr>
                      <m:e>
                        <m:r>
                          <a:rPr lang="en-IN" b="0" i="1" smtClean="0">
                            <a:latin typeface="Cambria Math" panose="02040503050406030204" pitchFamily="18" charset="0"/>
                          </a:rPr>
                          <m:t>𝑛</m:t>
                        </m:r>
                        <m:r>
                          <a:rPr lang="en-IN" b="0" i="1" smtClean="0">
                            <a:latin typeface="Cambria Math" panose="02040503050406030204" pitchFamily="18" charset="0"/>
                          </a:rPr>
                          <m:t>−</m:t>
                        </m:r>
                        <m:r>
                          <a:rPr lang="en-IN" b="0" i="1" smtClean="0">
                            <a:latin typeface="Cambria Math" panose="02040503050406030204" pitchFamily="18" charset="0"/>
                          </a:rPr>
                          <m:t>𝑡𝑜</m:t>
                        </m:r>
                        <m:r>
                          <a:rPr lang="en-IN" b="0" i="1" smtClean="0">
                            <a:latin typeface="Cambria Math" panose="02040503050406030204" pitchFamily="18" charset="0"/>
                          </a:rPr>
                          <m:t>− 2</m:t>
                        </m:r>
                      </m:e>
                      <m:sup>
                        <m:r>
                          <a:rPr lang="en-IN" i="1">
                            <a:latin typeface="Cambria Math" panose="02040503050406030204" pitchFamily="18" charset="0"/>
                          </a:rPr>
                          <m:t>𝑛</m:t>
                        </m:r>
                      </m:sup>
                    </m:sSup>
                    <m:r>
                      <a:rPr lang="en-IN" i="1">
                        <a:latin typeface="Cambria Math" panose="02040503050406030204" pitchFamily="18" charset="0"/>
                      </a:rPr>
                      <m:t> </m:t>
                    </m:r>
                  </m:oMath>
                </a14:m>
                <a:r>
                  <a:rPr lang="en-US" dirty="0"/>
                  <a:t>line decoder</a:t>
                </a:r>
                <a:r>
                  <a:rPr lang="en-IN" dirty="0"/>
                  <a:t> </a:t>
                </a:r>
              </a:p>
            </p:txBody>
          </p:sp>
        </mc:Choice>
        <mc:Fallback xmlns="">
          <p:sp>
            <p:nvSpPr>
              <p:cNvPr id="4" name="TextBox 3">
                <a:extLst>
                  <a:ext uri="{FF2B5EF4-FFF2-40B4-BE49-F238E27FC236}">
                    <a16:creationId xmlns:a16="http://schemas.microsoft.com/office/drawing/2014/main" id="{26A4275B-012C-B46E-AAF7-322D1A3A3A5C}"/>
                  </a:ext>
                </a:extLst>
              </p:cNvPr>
              <p:cNvSpPr txBox="1">
                <a:spLocks noRot="1" noChangeAspect="1" noMove="1" noResize="1" noEditPoints="1" noAdjustHandles="1" noChangeArrowheads="1" noChangeShapeType="1" noTextEdit="1"/>
              </p:cNvSpPr>
              <p:nvPr/>
            </p:nvSpPr>
            <p:spPr>
              <a:xfrm>
                <a:off x="737999" y="5569545"/>
                <a:ext cx="5358001" cy="923330"/>
              </a:xfrm>
              <a:prstGeom prst="rect">
                <a:avLst/>
              </a:prstGeom>
              <a:blipFill>
                <a:blip r:embed="rId5"/>
                <a:stretch>
                  <a:fillRect l="-910" t="-3311" b="-10596"/>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EA245584-5506-9C22-DC3B-423F6061DA7B}"/>
              </a:ext>
            </a:extLst>
          </p:cNvPr>
          <p:cNvSpPr txBox="1"/>
          <p:nvPr/>
        </p:nvSpPr>
        <p:spPr>
          <a:xfrm>
            <a:off x="7429501" y="2508254"/>
            <a:ext cx="4903470" cy="1200329"/>
          </a:xfrm>
          <a:prstGeom prst="rect">
            <a:avLst/>
          </a:prstGeom>
          <a:noFill/>
        </p:spPr>
        <p:txBody>
          <a:bodyPr wrap="square" rtlCol="0">
            <a:spAutoFit/>
          </a:bodyPr>
          <a:lstStyle/>
          <a:p>
            <a:r>
              <a:rPr lang="en-IN" dirty="0"/>
              <a:t>Example: 16 timing signals </a:t>
            </a:r>
          </a:p>
          <a:p>
            <a:r>
              <a:rPr lang="en-IN" dirty="0"/>
              <a:t>16-bit shift register </a:t>
            </a:r>
            <a:r>
              <a:rPr lang="en-US" dirty="0"/>
              <a:t>connected as a ring counter</a:t>
            </a:r>
          </a:p>
          <a:p>
            <a:pPr algn="ctr"/>
            <a:r>
              <a:rPr lang="en-US" dirty="0"/>
              <a:t>Or</a:t>
            </a:r>
          </a:p>
          <a:p>
            <a:r>
              <a:rPr lang="en-US" dirty="0"/>
              <a:t>4-bit binary counter and a 4-to-16-line decoder </a:t>
            </a:r>
            <a:endParaRPr lang="en-IN" dirty="0"/>
          </a:p>
        </p:txBody>
      </p:sp>
    </p:spTree>
    <p:extLst>
      <p:ext uri="{BB962C8B-B14F-4D97-AF65-F5344CB8AC3E}">
        <p14:creationId xmlns:p14="http://schemas.microsoft.com/office/powerpoint/2010/main" val="414916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1D83-C0EE-F3E6-EC26-54F61B6B1B94}"/>
              </a:ext>
            </a:extLst>
          </p:cNvPr>
          <p:cNvSpPr>
            <a:spLocks noGrp="1"/>
          </p:cNvSpPr>
          <p:nvPr>
            <p:ph type="title"/>
          </p:nvPr>
        </p:nvSpPr>
        <p:spPr/>
        <p:txBody>
          <a:bodyPr/>
          <a:lstStyle/>
          <a:p>
            <a:r>
              <a:rPr lang="en-IN" dirty="0"/>
              <a:t>Johnson Counter</a:t>
            </a:r>
          </a:p>
        </p:txBody>
      </p:sp>
      <p:pic>
        <p:nvPicPr>
          <p:cNvPr id="5" name="Picture 4">
            <a:extLst>
              <a:ext uri="{FF2B5EF4-FFF2-40B4-BE49-F238E27FC236}">
                <a16:creationId xmlns:a16="http://schemas.microsoft.com/office/drawing/2014/main" id="{48402EBF-6450-1B1B-1643-ED7C14B0B895}"/>
              </a:ext>
            </a:extLst>
          </p:cNvPr>
          <p:cNvPicPr>
            <a:picLocks noChangeAspect="1"/>
          </p:cNvPicPr>
          <p:nvPr/>
        </p:nvPicPr>
        <p:blipFill>
          <a:blip r:embed="rId2"/>
          <a:stretch>
            <a:fillRect/>
          </a:stretch>
        </p:blipFill>
        <p:spPr>
          <a:xfrm>
            <a:off x="0" y="1690688"/>
            <a:ext cx="7541806" cy="3109912"/>
          </a:xfrm>
          <a:prstGeom prst="rect">
            <a:avLst/>
          </a:prstGeom>
        </p:spPr>
      </p:pic>
      <p:pic>
        <p:nvPicPr>
          <p:cNvPr id="7" name="Picture 6">
            <a:extLst>
              <a:ext uri="{FF2B5EF4-FFF2-40B4-BE49-F238E27FC236}">
                <a16:creationId xmlns:a16="http://schemas.microsoft.com/office/drawing/2014/main" id="{F73FDFD2-BE29-5689-0FF4-09B87A79A158}"/>
              </a:ext>
            </a:extLst>
          </p:cNvPr>
          <p:cNvPicPr>
            <a:picLocks noChangeAspect="1"/>
          </p:cNvPicPr>
          <p:nvPr/>
        </p:nvPicPr>
        <p:blipFill>
          <a:blip r:embed="rId3"/>
          <a:stretch>
            <a:fillRect/>
          </a:stretch>
        </p:blipFill>
        <p:spPr>
          <a:xfrm>
            <a:off x="6616700" y="4122411"/>
            <a:ext cx="5575300" cy="2735589"/>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2A8BE0CB-37D1-B55F-49F5-F7AE5BE77019}"/>
                  </a:ext>
                </a:extLst>
              </p:cNvPr>
              <p:cNvGraphicFramePr>
                <a:graphicFrameLocks noGrp="1"/>
              </p:cNvGraphicFramePr>
              <p:nvPr>
                <p:extLst>
                  <p:ext uri="{D42A27DB-BD31-4B8C-83A1-F6EECF244321}">
                    <p14:modId xmlns:p14="http://schemas.microsoft.com/office/powerpoint/2010/main" val="3765837017"/>
                  </p:ext>
                </p:extLst>
              </p:nvPr>
            </p:nvGraphicFramePr>
            <p:xfrm>
              <a:off x="9372600" y="149224"/>
              <a:ext cx="2502864" cy="3688080"/>
            </p:xfrm>
            <a:graphic>
              <a:graphicData uri="http://schemas.openxmlformats.org/drawingml/2006/table">
                <a:tbl>
                  <a:tblPr firstRow="1" bandRow="1">
                    <a:tableStyleId>{5C22544A-7EE6-4342-B048-85BDC9FD1C3A}</a:tableStyleId>
                  </a:tblPr>
                  <a:tblGrid>
                    <a:gridCol w="625716">
                      <a:extLst>
                        <a:ext uri="{9D8B030D-6E8A-4147-A177-3AD203B41FA5}">
                          <a16:colId xmlns:a16="http://schemas.microsoft.com/office/drawing/2014/main" val="1362851392"/>
                        </a:ext>
                      </a:extLst>
                    </a:gridCol>
                    <a:gridCol w="625716">
                      <a:extLst>
                        <a:ext uri="{9D8B030D-6E8A-4147-A177-3AD203B41FA5}">
                          <a16:colId xmlns:a16="http://schemas.microsoft.com/office/drawing/2014/main" val="3520427834"/>
                        </a:ext>
                      </a:extLst>
                    </a:gridCol>
                    <a:gridCol w="625716">
                      <a:extLst>
                        <a:ext uri="{9D8B030D-6E8A-4147-A177-3AD203B41FA5}">
                          <a16:colId xmlns:a16="http://schemas.microsoft.com/office/drawing/2014/main" val="3936153525"/>
                        </a:ext>
                      </a:extLst>
                    </a:gridCol>
                    <a:gridCol w="625716">
                      <a:extLst>
                        <a:ext uri="{9D8B030D-6E8A-4147-A177-3AD203B41FA5}">
                          <a16:colId xmlns:a16="http://schemas.microsoft.com/office/drawing/2014/main" val="2900291103"/>
                        </a:ext>
                      </a:extLst>
                    </a:gridCol>
                  </a:tblGrid>
                  <a:tr h="290044">
                    <a:tc>
                      <a:txBody>
                        <a:bodyPr/>
                        <a:lstStyle/>
                        <a:p>
                          <a:pPr algn="ct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panose="02040503050406030204" pitchFamily="18" charset="0"/>
                                      </a:rPr>
                                      <m:t>𝑨</m:t>
                                    </m:r>
                                  </m:e>
                                  <m:sub>
                                    <m:r>
                                      <a:rPr lang="en-IN" sz="1600" b="1" i="1" smtClean="0">
                                        <a:latin typeface="Cambria Math" panose="02040503050406030204" pitchFamily="18" charset="0"/>
                                      </a:rPr>
                                      <m:t>𝟎</m:t>
                                    </m:r>
                                  </m:sub>
                                </m:sSub>
                              </m:oMath>
                            </m:oMathPara>
                          </a14:m>
                          <a:endParaRPr lang="en-IN" sz="16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panose="02040503050406030204" pitchFamily="18" charset="0"/>
                                      </a:rPr>
                                      <m:t>𝑨</m:t>
                                    </m:r>
                                  </m:e>
                                  <m:sub>
                                    <m:r>
                                      <a:rPr lang="en-IN" sz="1600" b="1" i="1" smtClean="0">
                                        <a:latin typeface="Cambria Math" panose="02040503050406030204" pitchFamily="18" charset="0"/>
                                      </a:rPr>
                                      <m:t>𝟏</m:t>
                                    </m:r>
                                  </m:sub>
                                </m:sSub>
                              </m:oMath>
                            </m:oMathPara>
                          </a14:m>
                          <a:endParaRPr lang="en-IN" sz="16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panose="02040503050406030204" pitchFamily="18" charset="0"/>
                                      </a:rPr>
                                      <m:t>𝑨</m:t>
                                    </m:r>
                                  </m:e>
                                  <m:sub>
                                    <m:r>
                                      <a:rPr lang="en-IN" sz="1600" b="1" i="1" smtClean="0">
                                        <a:latin typeface="Cambria Math" panose="02040503050406030204" pitchFamily="18" charset="0"/>
                                      </a:rPr>
                                      <m:t>𝟐</m:t>
                                    </m:r>
                                  </m:sub>
                                </m:sSub>
                              </m:oMath>
                            </m:oMathPara>
                          </a14:m>
                          <a:endParaRPr lang="en-IN" sz="16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panose="02040503050406030204" pitchFamily="18" charset="0"/>
                                      </a:rPr>
                                      <m:t>𝑨</m:t>
                                    </m:r>
                                  </m:e>
                                  <m:sub>
                                    <m:r>
                                      <a:rPr lang="en-IN" sz="1600" b="1" i="1" smtClean="0">
                                        <a:latin typeface="Cambria Math" panose="02040503050406030204" pitchFamily="18" charset="0"/>
                                      </a:rPr>
                                      <m:t>𝟑</m:t>
                                    </m:r>
                                  </m:sub>
                                </m:sSub>
                              </m:oMath>
                            </m:oMathPara>
                          </a14:m>
                          <a:endParaRPr lang="en-IN" sz="1600" dirty="0"/>
                        </a:p>
                      </a:txBody>
                      <a:tcPr/>
                    </a:tc>
                    <a:extLst>
                      <a:ext uri="{0D108BD9-81ED-4DB2-BD59-A6C34878D82A}">
                        <a16:rowId xmlns:a16="http://schemas.microsoft.com/office/drawing/2014/main" val="3457455138"/>
                      </a:ext>
                    </a:extLst>
                  </a:tr>
                  <a:tr h="290044">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3125904117"/>
                      </a:ext>
                    </a:extLst>
                  </a:tr>
                  <a:tr h="0">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363074584"/>
                      </a:ext>
                    </a:extLst>
                  </a:tr>
                  <a:tr h="290044">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2167535888"/>
                      </a:ext>
                    </a:extLst>
                  </a:tr>
                  <a:tr h="290044">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0</a:t>
                          </a:r>
                        </a:p>
                      </a:txBody>
                      <a:tcPr/>
                    </a:tc>
                    <a:extLst>
                      <a:ext uri="{0D108BD9-81ED-4DB2-BD59-A6C34878D82A}">
                        <a16:rowId xmlns:a16="http://schemas.microsoft.com/office/drawing/2014/main" val="1483896211"/>
                      </a:ext>
                    </a:extLst>
                  </a:tr>
                  <a:tr h="290044">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4171354434"/>
                      </a:ext>
                    </a:extLst>
                  </a:tr>
                  <a:tr h="290044">
                    <a:tc>
                      <a:txBody>
                        <a:bodyPr/>
                        <a:lstStyle/>
                        <a:p>
                          <a:pPr algn="ctr"/>
                          <a:r>
                            <a:rPr lang="en-IN" sz="1600" dirty="0"/>
                            <a:t>0</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4119036768"/>
                      </a:ext>
                    </a:extLst>
                  </a:tr>
                  <a:tr h="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1097558247"/>
                      </a:ext>
                    </a:extLst>
                  </a:tr>
                  <a:tr h="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1</a:t>
                          </a:r>
                        </a:p>
                      </a:txBody>
                      <a:tcPr/>
                    </a:tc>
                    <a:extLst>
                      <a:ext uri="{0D108BD9-81ED-4DB2-BD59-A6C34878D82A}">
                        <a16:rowId xmlns:a16="http://schemas.microsoft.com/office/drawing/2014/main" val="1258525426"/>
                      </a:ext>
                    </a:extLst>
                  </a:tr>
                  <a:tr h="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2144489393"/>
                      </a:ext>
                    </a:extLst>
                  </a:tr>
                  <a:tr h="290044">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1153125747"/>
                      </a:ext>
                    </a:extLst>
                  </a:tr>
                </a:tbl>
              </a:graphicData>
            </a:graphic>
          </p:graphicFrame>
        </mc:Choice>
        <mc:Fallback xmlns="">
          <p:graphicFrame>
            <p:nvGraphicFramePr>
              <p:cNvPr id="8" name="Table 7">
                <a:extLst>
                  <a:ext uri="{FF2B5EF4-FFF2-40B4-BE49-F238E27FC236}">
                    <a16:creationId xmlns:a16="http://schemas.microsoft.com/office/drawing/2014/main" id="{2A8BE0CB-37D1-B55F-49F5-F7AE5BE77019}"/>
                  </a:ext>
                </a:extLst>
              </p:cNvPr>
              <p:cNvGraphicFramePr>
                <a:graphicFrameLocks noGrp="1"/>
              </p:cNvGraphicFramePr>
              <p:nvPr>
                <p:extLst>
                  <p:ext uri="{D42A27DB-BD31-4B8C-83A1-F6EECF244321}">
                    <p14:modId xmlns:p14="http://schemas.microsoft.com/office/powerpoint/2010/main" val="3765837017"/>
                  </p:ext>
                </p:extLst>
              </p:nvPr>
            </p:nvGraphicFramePr>
            <p:xfrm>
              <a:off x="9372600" y="149224"/>
              <a:ext cx="2502864" cy="3688080"/>
            </p:xfrm>
            <a:graphic>
              <a:graphicData uri="http://schemas.openxmlformats.org/drawingml/2006/table">
                <a:tbl>
                  <a:tblPr firstRow="1" bandRow="1">
                    <a:tableStyleId>{5C22544A-7EE6-4342-B048-85BDC9FD1C3A}</a:tableStyleId>
                  </a:tblPr>
                  <a:tblGrid>
                    <a:gridCol w="625716">
                      <a:extLst>
                        <a:ext uri="{9D8B030D-6E8A-4147-A177-3AD203B41FA5}">
                          <a16:colId xmlns:a16="http://schemas.microsoft.com/office/drawing/2014/main" val="1362851392"/>
                        </a:ext>
                      </a:extLst>
                    </a:gridCol>
                    <a:gridCol w="625716">
                      <a:extLst>
                        <a:ext uri="{9D8B030D-6E8A-4147-A177-3AD203B41FA5}">
                          <a16:colId xmlns:a16="http://schemas.microsoft.com/office/drawing/2014/main" val="3520427834"/>
                        </a:ext>
                      </a:extLst>
                    </a:gridCol>
                    <a:gridCol w="625716">
                      <a:extLst>
                        <a:ext uri="{9D8B030D-6E8A-4147-A177-3AD203B41FA5}">
                          <a16:colId xmlns:a16="http://schemas.microsoft.com/office/drawing/2014/main" val="3936153525"/>
                        </a:ext>
                      </a:extLst>
                    </a:gridCol>
                    <a:gridCol w="625716">
                      <a:extLst>
                        <a:ext uri="{9D8B030D-6E8A-4147-A177-3AD203B41FA5}">
                          <a16:colId xmlns:a16="http://schemas.microsoft.com/office/drawing/2014/main" val="2900291103"/>
                        </a:ext>
                      </a:extLst>
                    </a:gridCol>
                  </a:tblGrid>
                  <a:tr h="335280">
                    <a:tc>
                      <a:txBody>
                        <a:bodyPr/>
                        <a:lstStyle/>
                        <a:p>
                          <a:endParaRPr lang="en-US"/>
                        </a:p>
                      </a:txBody>
                      <a:tcPr>
                        <a:blipFill>
                          <a:blip r:embed="rId4"/>
                          <a:stretch>
                            <a:fillRect l="-971" t="-1818" r="-303883" b="-1023636"/>
                          </a:stretch>
                        </a:blipFill>
                      </a:tcPr>
                    </a:tc>
                    <a:tc>
                      <a:txBody>
                        <a:bodyPr/>
                        <a:lstStyle/>
                        <a:p>
                          <a:endParaRPr lang="en-US"/>
                        </a:p>
                      </a:txBody>
                      <a:tcPr>
                        <a:blipFill>
                          <a:blip r:embed="rId4"/>
                          <a:stretch>
                            <a:fillRect l="-100971" t="-1818" r="-203883" b="-1023636"/>
                          </a:stretch>
                        </a:blipFill>
                      </a:tcPr>
                    </a:tc>
                    <a:tc>
                      <a:txBody>
                        <a:bodyPr/>
                        <a:lstStyle/>
                        <a:p>
                          <a:endParaRPr lang="en-US"/>
                        </a:p>
                      </a:txBody>
                      <a:tcPr>
                        <a:blipFill>
                          <a:blip r:embed="rId4"/>
                          <a:stretch>
                            <a:fillRect l="-200971" t="-1818" r="-103883" b="-1023636"/>
                          </a:stretch>
                        </a:blipFill>
                      </a:tcPr>
                    </a:tc>
                    <a:tc>
                      <a:txBody>
                        <a:bodyPr/>
                        <a:lstStyle/>
                        <a:p>
                          <a:endParaRPr lang="en-US"/>
                        </a:p>
                      </a:txBody>
                      <a:tcPr>
                        <a:blipFill>
                          <a:blip r:embed="rId4"/>
                          <a:stretch>
                            <a:fillRect l="-300971" t="-1818" r="-3883" b="-1023636"/>
                          </a:stretch>
                        </a:blipFill>
                      </a:tcPr>
                    </a:tc>
                    <a:extLst>
                      <a:ext uri="{0D108BD9-81ED-4DB2-BD59-A6C34878D82A}">
                        <a16:rowId xmlns:a16="http://schemas.microsoft.com/office/drawing/2014/main" val="3457455138"/>
                      </a:ext>
                    </a:extLst>
                  </a:tr>
                  <a:tr h="33528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3125904117"/>
                      </a:ext>
                    </a:extLst>
                  </a:tr>
                  <a:tr h="335280">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363074584"/>
                      </a:ext>
                    </a:extLst>
                  </a:tr>
                  <a:tr h="335280">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2167535888"/>
                      </a:ext>
                    </a:extLst>
                  </a:tr>
                  <a:tr h="335280">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0</a:t>
                          </a:r>
                        </a:p>
                      </a:txBody>
                      <a:tcPr/>
                    </a:tc>
                    <a:extLst>
                      <a:ext uri="{0D108BD9-81ED-4DB2-BD59-A6C34878D82A}">
                        <a16:rowId xmlns:a16="http://schemas.microsoft.com/office/drawing/2014/main" val="1483896211"/>
                      </a:ext>
                    </a:extLst>
                  </a:tr>
                  <a:tr h="335280">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4171354434"/>
                      </a:ext>
                    </a:extLst>
                  </a:tr>
                  <a:tr h="335280">
                    <a:tc>
                      <a:txBody>
                        <a:bodyPr/>
                        <a:lstStyle/>
                        <a:p>
                          <a:pPr algn="ctr"/>
                          <a:r>
                            <a:rPr lang="en-IN" sz="1600" dirty="0"/>
                            <a:t>0</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4119036768"/>
                      </a:ext>
                    </a:extLst>
                  </a:tr>
                  <a:tr h="33528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1</a:t>
                          </a:r>
                        </a:p>
                      </a:txBody>
                      <a:tcPr/>
                    </a:tc>
                    <a:tc>
                      <a:txBody>
                        <a:bodyPr/>
                        <a:lstStyle/>
                        <a:p>
                          <a:pPr algn="ctr"/>
                          <a:r>
                            <a:rPr lang="en-IN" sz="1600" dirty="0"/>
                            <a:t>1</a:t>
                          </a:r>
                        </a:p>
                      </a:txBody>
                      <a:tcPr/>
                    </a:tc>
                    <a:extLst>
                      <a:ext uri="{0D108BD9-81ED-4DB2-BD59-A6C34878D82A}">
                        <a16:rowId xmlns:a16="http://schemas.microsoft.com/office/drawing/2014/main" val="1097558247"/>
                      </a:ext>
                    </a:extLst>
                  </a:tr>
                  <a:tr h="33528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1</a:t>
                          </a:r>
                        </a:p>
                      </a:txBody>
                      <a:tcPr/>
                    </a:tc>
                    <a:extLst>
                      <a:ext uri="{0D108BD9-81ED-4DB2-BD59-A6C34878D82A}">
                        <a16:rowId xmlns:a16="http://schemas.microsoft.com/office/drawing/2014/main" val="1258525426"/>
                      </a:ext>
                    </a:extLst>
                  </a:tr>
                  <a:tr h="335280">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2144489393"/>
                      </a:ext>
                    </a:extLst>
                  </a:tr>
                  <a:tr h="335280">
                    <a:tc>
                      <a:txBody>
                        <a:bodyPr/>
                        <a:lstStyle/>
                        <a:p>
                          <a:pPr algn="ctr"/>
                          <a:r>
                            <a:rPr lang="en-IN" sz="1600" dirty="0"/>
                            <a:t>1</a:t>
                          </a:r>
                        </a:p>
                      </a:txBody>
                      <a:tcPr/>
                    </a:tc>
                    <a:tc>
                      <a:txBody>
                        <a:bodyPr/>
                        <a:lstStyle/>
                        <a:p>
                          <a:pPr algn="ctr"/>
                          <a:r>
                            <a:rPr lang="en-IN" sz="1600" dirty="0"/>
                            <a:t>0</a:t>
                          </a:r>
                        </a:p>
                      </a:txBody>
                      <a:tcPr/>
                    </a:tc>
                    <a:tc>
                      <a:txBody>
                        <a:bodyPr/>
                        <a:lstStyle/>
                        <a:p>
                          <a:pPr algn="ctr"/>
                          <a:r>
                            <a:rPr lang="en-IN" sz="1600" dirty="0"/>
                            <a:t>0</a:t>
                          </a:r>
                        </a:p>
                      </a:txBody>
                      <a:tcPr/>
                    </a:tc>
                    <a:tc>
                      <a:txBody>
                        <a:bodyPr/>
                        <a:lstStyle/>
                        <a:p>
                          <a:pPr algn="ctr"/>
                          <a:r>
                            <a:rPr lang="en-IN" sz="1600" dirty="0"/>
                            <a:t>0</a:t>
                          </a:r>
                        </a:p>
                      </a:txBody>
                      <a:tcPr/>
                    </a:tc>
                    <a:extLst>
                      <a:ext uri="{0D108BD9-81ED-4DB2-BD59-A6C34878D82A}">
                        <a16:rowId xmlns:a16="http://schemas.microsoft.com/office/drawing/2014/main" val="1153125747"/>
                      </a:ext>
                    </a:extLst>
                  </a:tr>
                </a:tbl>
              </a:graphicData>
            </a:graphic>
          </p:graphicFrame>
        </mc:Fallback>
      </mc:AlternateContent>
      <p:sp>
        <p:nvSpPr>
          <p:cNvPr id="3" name="TextBox 2">
            <a:extLst>
              <a:ext uri="{FF2B5EF4-FFF2-40B4-BE49-F238E27FC236}">
                <a16:creationId xmlns:a16="http://schemas.microsoft.com/office/drawing/2014/main" id="{3A22D758-CE0C-182B-CE6E-94B10F7906BC}"/>
              </a:ext>
            </a:extLst>
          </p:cNvPr>
          <p:cNvSpPr txBox="1"/>
          <p:nvPr/>
        </p:nvSpPr>
        <p:spPr>
          <a:xfrm>
            <a:off x="0" y="5026709"/>
            <a:ext cx="5669279" cy="646331"/>
          </a:xfrm>
          <a:prstGeom prst="rect">
            <a:avLst/>
          </a:prstGeom>
          <a:noFill/>
        </p:spPr>
        <p:txBody>
          <a:bodyPr wrap="square" rtlCol="0">
            <a:spAutoFit/>
          </a:bodyPr>
          <a:lstStyle/>
          <a:p>
            <a:r>
              <a:rPr lang="en-US" dirty="0"/>
              <a:t>Number of flip-flops is less than that in a ring counter, and the decoder requires only two-input gates</a:t>
            </a:r>
            <a:endParaRPr lang="en-IN" dirty="0"/>
          </a:p>
        </p:txBody>
      </p:sp>
      <p:pic>
        <p:nvPicPr>
          <p:cNvPr id="6" name="Picture 5">
            <a:extLst>
              <a:ext uri="{FF2B5EF4-FFF2-40B4-BE49-F238E27FC236}">
                <a16:creationId xmlns:a16="http://schemas.microsoft.com/office/drawing/2014/main" id="{621F63F2-0938-E7EE-9DFF-C64DE2443E4C}"/>
              </a:ext>
            </a:extLst>
          </p:cNvPr>
          <p:cNvPicPr>
            <a:picLocks noChangeAspect="1"/>
          </p:cNvPicPr>
          <p:nvPr/>
        </p:nvPicPr>
        <p:blipFill>
          <a:blip r:embed="rId5"/>
          <a:stretch>
            <a:fillRect/>
          </a:stretch>
        </p:blipFill>
        <p:spPr>
          <a:xfrm>
            <a:off x="91441" y="6050222"/>
            <a:ext cx="1920240" cy="442653"/>
          </a:xfrm>
          <a:prstGeom prst="rect">
            <a:avLst/>
          </a:prstGeom>
        </p:spPr>
      </p:pic>
    </p:spTree>
    <p:extLst>
      <p:ext uri="{BB962C8B-B14F-4D97-AF65-F5344CB8AC3E}">
        <p14:creationId xmlns:p14="http://schemas.microsoft.com/office/powerpoint/2010/main" val="104321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5484</TotalTime>
  <Words>1569</Words>
  <Application>Microsoft Office PowerPoint</Application>
  <PresentationFormat>Widescreen</PresentationFormat>
  <Paragraphs>331</Paragraphs>
  <Slides>90</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90</vt:i4>
      </vt:variant>
    </vt:vector>
  </HeadingPairs>
  <TitlesOfParts>
    <vt:vector size="96" baseType="lpstr">
      <vt:lpstr>Aptos</vt:lpstr>
      <vt:lpstr>Aptos Display</vt:lpstr>
      <vt:lpstr>Arial</vt:lpstr>
      <vt:lpstr>Cambria Math</vt:lpstr>
      <vt:lpstr>Courier New</vt:lpstr>
      <vt:lpstr>Office Theme</vt:lpstr>
      <vt:lpstr>Digital Electronics</vt:lpstr>
      <vt:lpstr>Mechatronics</vt:lpstr>
      <vt:lpstr>Digital and Analog Quantities</vt:lpstr>
      <vt:lpstr>An Analog System</vt:lpstr>
      <vt:lpstr>A System Using Digital and Analog Methods</vt:lpstr>
      <vt:lpstr>Basic Terminology</vt:lpstr>
      <vt:lpstr>Waveform Characteristics</vt:lpstr>
      <vt:lpstr>The Clock</vt:lpstr>
      <vt:lpstr>Timing Diagrams</vt:lpstr>
      <vt:lpstr>Data Transfer</vt:lpstr>
      <vt:lpstr>PowerPoint Presentation</vt:lpstr>
      <vt:lpstr>PowerPoint Presentation</vt:lpstr>
      <vt:lpstr>PowerPoint Presentation</vt:lpstr>
      <vt:lpstr>PowerPoint Presentation</vt:lpstr>
      <vt:lpstr>PowerPoint Presentation</vt:lpstr>
      <vt:lpstr>Postulates and Theorems of Boolean Algebra </vt:lpstr>
      <vt:lpstr>Draw logic diagrams to implement the following Boolean expression</vt:lpstr>
      <vt:lpstr>Write Boolean Expression</vt:lpstr>
      <vt:lpstr>Write Boolean Expression</vt:lpstr>
      <vt:lpstr>Write Boolean Expression</vt:lpstr>
      <vt:lpstr>Write Boolean Expression</vt:lpstr>
      <vt:lpstr>PowerPoint Presentation</vt:lpstr>
      <vt:lpstr>PowerPoint Presentation</vt:lpstr>
      <vt:lpstr>PowerPoint Presentation</vt:lpstr>
      <vt:lpstr>Minterms and Maxterms</vt:lpstr>
      <vt:lpstr>Minterms and Maxterms</vt:lpstr>
      <vt:lpstr>Minterms and Maxterms</vt:lpstr>
      <vt:lpstr>PowerPoint Presentation</vt:lpstr>
      <vt:lpstr>PowerPoint Presentation</vt:lpstr>
      <vt:lpstr>Conversion between Canonical Forms</vt:lpstr>
      <vt:lpstr>PowerPoint Presentation</vt:lpstr>
      <vt:lpstr>Standard Forms</vt:lpstr>
      <vt:lpstr>PowerPoint Presentation</vt:lpstr>
      <vt:lpstr>PowerPoint Presentation</vt:lpstr>
      <vt:lpstr>PowerPoint Presentation</vt:lpstr>
      <vt:lpstr>PowerPoint Presentation</vt:lpstr>
      <vt:lpstr>PowerPoint Presentation</vt:lpstr>
      <vt:lpstr>Karnaugh map or K-map method</vt:lpstr>
      <vt:lpstr>PowerPoint Presentation</vt:lpstr>
      <vt:lpstr>NAND AND NOR IMPLEMENTATION</vt:lpstr>
      <vt:lpstr>Two-Level Implementation</vt:lpstr>
      <vt:lpstr>Multilevel NAND Circuits</vt:lpstr>
      <vt:lpstr>Multilevel NAND Circuits</vt:lpstr>
      <vt:lpstr>NOR Implementation</vt:lpstr>
      <vt:lpstr>NOR Implementation</vt:lpstr>
      <vt:lpstr>PowerPoint Presentation</vt:lpstr>
      <vt:lpstr>PowerPoint Presentation</vt:lpstr>
      <vt:lpstr>PowerPoint Presentation</vt:lpstr>
      <vt:lpstr>PowerPoint Presentation</vt:lpstr>
      <vt:lpstr>Combinational Circuit</vt:lpstr>
      <vt:lpstr>PowerPoint Presentation</vt:lpstr>
      <vt:lpstr>State Reduction</vt:lpstr>
      <vt:lpstr>PowerPoint Presentation</vt:lpstr>
      <vt:lpstr>PowerPoint Presentation</vt:lpstr>
      <vt:lpstr>State Assignment</vt:lpstr>
      <vt:lpstr>Designing synchronous sequential circuits</vt:lpstr>
      <vt:lpstr>PowerPoint Presentation</vt:lpstr>
      <vt:lpstr>PowerPoint Presentation</vt:lpstr>
      <vt:lpstr>Excitation Tables</vt:lpstr>
      <vt:lpstr>Synthesis Using JK Flip-Flops</vt:lpstr>
      <vt:lpstr>PowerPoint Presentation</vt:lpstr>
      <vt:lpstr>Synthesis Using T Flip-Flops</vt:lpstr>
      <vt:lpstr>PowerPoint Presentation</vt:lpstr>
      <vt:lpstr>Registers and Counters</vt:lpstr>
      <vt:lpstr>PowerPoint Presentation</vt:lpstr>
      <vt:lpstr>PowerPoint Presentation</vt:lpstr>
      <vt:lpstr>Serial Transfer</vt:lpstr>
      <vt:lpstr>Serial Addition</vt:lpstr>
      <vt:lpstr>Serial Addition</vt:lpstr>
      <vt:lpstr>Serial Addition</vt:lpstr>
      <vt:lpstr>Universal Shift Register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Counters</vt:lpstr>
      <vt:lpstr>PowerPoint Presentation</vt:lpstr>
      <vt:lpstr>BCD Ripple Counter</vt:lpstr>
      <vt:lpstr>PowerPoint Presentation</vt:lpstr>
      <vt:lpstr>Synchronous Counters</vt:lpstr>
      <vt:lpstr>Four-bit up–down binary counter</vt:lpstr>
      <vt:lpstr>BCD Counter</vt:lpstr>
      <vt:lpstr>Counter with Unused States</vt:lpstr>
      <vt:lpstr>Ring Counter</vt:lpstr>
      <vt:lpstr>Generation of timing signals</vt:lpstr>
      <vt:lpstr>Johnson Counter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Naresh Sharma</dc:creator>
  <cp:lastModifiedBy>Dr. Naresh Sharma</cp:lastModifiedBy>
  <cp:revision>31</cp:revision>
  <dcterms:created xsi:type="dcterms:W3CDTF">2025-12-31T10:40:06Z</dcterms:created>
  <dcterms:modified xsi:type="dcterms:W3CDTF">2026-04-09T13:46:43Z</dcterms:modified>
</cp:coreProperties>
</file>